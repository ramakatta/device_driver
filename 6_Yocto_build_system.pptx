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8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6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7.png" ContentType="image/png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4.xml.rels" ContentType="application/vnd.openxmlformats-package.relationships+xml"/>
  <Override PartName="/ppt/slides/_rels/slide32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5.xml.rels" ContentType="application/vnd.openxmlformats-package.relationships+xml"/>
  <Override PartName="/ppt/slides/_rels/slide22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27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1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25.xml" ContentType="application/vnd.openxmlformats-officedocument.presentationml.slide+xml"/>
  <Override PartName="/ppt/slides/slide30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</p:sldMasterIdLst>
  <p:sldIdLst>
    <p:sldId id="256" r:id="rId26"/>
    <p:sldId id="257" r:id="rId27"/>
    <p:sldId id="258" r:id="rId28"/>
    <p:sldId id="259" r:id="rId29"/>
    <p:sldId id="260" r:id="rId30"/>
    <p:sldId id="261" r:id="rId31"/>
    <p:sldId id="262" r:id="rId32"/>
    <p:sldId id="263" r:id="rId33"/>
    <p:sldId id="264" r:id="rId34"/>
    <p:sldId id="265" r:id="rId35"/>
    <p:sldId id="266" r:id="rId36"/>
    <p:sldId id="267" r:id="rId37"/>
    <p:sldId id="268" r:id="rId38"/>
    <p:sldId id="269" r:id="rId39"/>
    <p:sldId id="270" r:id="rId40"/>
    <p:sldId id="271" r:id="rId41"/>
    <p:sldId id="272" r:id="rId42"/>
    <p:sldId id="273" r:id="rId43"/>
    <p:sldId id="274" r:id="rId44"/>
    <p:sldId id="275" r:id="rId45"/>
    <p:sldId id="276" r:id="rId46"/>
    <p:sldId id="277" r:id="rId47"/>
    <p:sldId id="278" r:id="rId48"/>
    <p:sldId id="279" r:id="rId49"/>
    <p:sldId id="280" r:id="rId50"/>
    <p:sldId id="281" r:id="rId51"/>
    <p:sldId id="282" r:id="rId52"/>
    <p:sldId id="283" r:id="rId53"/>
    <p:sldId id="284" r:id="rId54"/>
    <p:sldId id="285" r:id="rId55"/>
    <p:sldId id="286" r:id="rId56"/>
    <p:sldId id="287" r:id="rId57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" Target="slides/slide1.xml"/><Relationship Id="rId27" Type="http://schemas.openxmlformats.org/officeDocument/2006/relationships/slide" Target="slides/slide2.xml"/><Relationship Id="rId28" Type="http://schemas.openxmlformats.org/officeDocument/2006/relationships/slide" Target="slides/slide3.xml"/><Relationship Id="rId29" Type="http://schemas.openxmlformats.org/officeDocument/2006/relationships/slide" Target="slides/slide4.xml"/><Relationship Id="rId30" Type="http://schemas.openxmlformats.org/officeDocument/2006/relationships/slide" Target="slides/slide5.xml"/><Relationship Id="rId31" Type="http://schemas.openxmlformats.org/officeDocument/2006/relationships/slide" Target="slides/slide6.xml"/><Relationship Id="rId32" Type="http://schemas.openxmlformats.org/officeDocument/2006/relationships/slide" Target="slides/slide7.xml"/><Relationship Id="rId33" Type="http://schemas.openxmlformats.org/officeDocument/2006/relationships/slide" Target="slides/slide8.xml"/><Relationship Id="rId34" Type="http://schemas.openxmlformats.org/officeDocument/2006/relationships/slide" Target="slides/slide9.xml"/><Relationship Id="rId35" Type="http://schemas.openxmlformats.org/officeDocument/2006/relationships/slide" Target="slides/slide10.xml"/><Relationship Id="rId36" Type="http://schemas.openxmlformats.org/officeDocument/2006/relationships/slide" Target="slides/slide11.xml"/><Relationship Id="rId37" Type="http://schemas.openxmlformats.org/officeDocument/2006/relationships/slide" Target="slides/slide12.xml"/><Relationship Id="rId38" Type="http://schemas.openxmlformats.org/officeDocument/2006/relationships/slide" Target="slides/slide13.xml"/><Relationship Id="rId39" Type="http://schemas.openxmlformats.org/officeDocument/2006/relationships/slide" Target="slides/slide14.xml"/><Relationship Id="rId40" Type="http://schemas.openxmlformats.org/officeDocument/2006/relationships/slide" Target="slides/slide15.xml"/><Relationship Id="rId41" Type="http://schemas.openxmlformats.org/officeDocument/2006/relationships/slide" Target="slides/slide16.xml"/><Relationship Id="rId42" Type="http://schemas.openxmlformats.org/officeDocument/2006/relationships/slide" Target="slides/slide17.xml"/><Relationship Id="rId43" Type="http://schemas.openxmlformats.org/officeDocument/2006/relationships/slide" Target="slides/slide18.xml"/><Relationship Id="rId44" Type="http://schemas.openxmlformats.org/officeDocument/2006/relationships/slide" Target="slides/slide19.xml"/><Relationship Id="rId45" Type="http://schemas.openxmlformats.org/officeDocument/2006/relationships/slide" Target="slides/slide20.xml"/><Relationship Id="rId46" Type="http://schemas.openxmlformats.org/officeDocument/2006/relationships/slide" Target="slides/slide21.xml"/><Relationship Id="rId47" Type="http://schemas.openxmlformats.org/officeDocument/2006/relationships/slide" Target="slides/slide22.xml"/><Relationship Id="rId48" Type="http://schemas.openxmlformats.org/officeDocument/2006/relationships/slide" Target="slides/slide23.xml"/><Relationship Id="rId49" Type="http://schemas.openxmlformats.org/officeDocument/2006/relationships/slide" Target="slides/slide24.xml"/><Relationship Id="rId50" Type="http://schemas.openxmlformats.org/officeDocument/2006/relationships/slide" Target="slides/slide25.xml"/><Relationship Id="rId51" Type="http://schemas.openxmlformats.org/officeDocument/2006/relationships/slide" Target="slides/slide26.xml"/><Relationship Id="rId52" Type="http://schemas.openxmlformats.org/officeDocument/2006/relationships/slide" Target="slides/slide27.xml"/><Relationship Id="rId53" Type="http://schemas.openxmlformats.org/officeDocument/2006/relationships/slide" Target="slides/slide28.xml"/><Relationship Id="rId54" Type="http://schemas.openxmlformats.org/officeDocument/2006/relationships/slide" Target="slides/slide29.xml"/><Relationship Id="rId55" Type="http://schemas.openxmlformats.org/officeDocument/2006/relationships/slide" Target="slides/slide30.xml"/><Relationship Id="rId56" Type="http://schemas.openxmlformats.org/officeDocument/2006/relationships/slide" Target="slides/slide31.xml"/><Relationship Id="rId57" Type="http://schemas.openxmlformats.org/officeDocument/2006/relationships/slide" Target="slides/slide32.xml"/><Relationship Id="rId5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/>
          <a:stretch/>
        </p:blipFill>
        <p:spPr>
          <a:xfrm>
            <a:off x="0" y="5806440"/>
            <a:ext cx="10077480" cy="175212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" descr=""/>
          <p:cNvPicPr/>
          <p:nvPr/>
        </p:nvPicPr>
        <p:blipFill>
          <a:blip r:embed="rId2"/>
          <a:stretch/>
        </p:blipFill>
        <p:spPr>
          <a:xfrm>
            <a:off x="0" y="5806440"/>
            <a:ext cx="10077480" cy="1752120"/>
          </a:xfrm>
          <a:prstGeom prst="rect">
            <a:avLst/>
          </a:prstGeom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" descr=""/>
          <p:cNvPicPr/>
          <p:nvPr/>
        </p:nvPicPr>
        <p:blipFill>
          <a:blip r:embed="rId2"/>
          <a:stretch/>
        </p:blipFill>
        <p:spPr>
          <a:xfrm>
            <a:off x="0" y="5806440"/>
            <a:ext cx="10077480" cy="1752120"/>
          </a:xfrm>
          <a:prstGeom prst="rect">
            <a:avLst/>
          </a:prstGeom>
          <a:ln w="0">
            <a:noFill/>
          </a:ln>
        </p:spPr>
      </p:pic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" descr=""/>
          <p:cNvPicPr/>
          <p:nvPr/>
        </p:nvPicPr>
        <p:blipFill>
          <a:blip r:embed="rId2"/>
          <a:stretch/>
        </p:blipFill>
        <p:spPr>
          <a:xfrm>
            <a:off x="0" y="5806440"/>
            <a:ext cx="10077480" cy="1752120"/>
          </a:xfrm>
          <a:prstGeom prst="rect">
            <a:avLst/>
          </a:prstGeom>
          <a:ln w="0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" descr=""/>
          <p:cNvPicPr/>
          <p:nvPr/>
        </p:nvPicPr>
        <p:blipFill>
          <a:blip r:embed="rId2"/>
          <a:stretch/>
        </p:blipFill>
        <p:spPr>
          <a:xfrm>
            <a:off x="0" y="5806440"/>
            <a:ext cx="10077480" cy="1752120"/>
          </a:xfrm>
          <a:prstGeom prst="rect">
            <a:avLst/>
          </a:prstGeom>
          <a:ln w="0">
            <a:noFill/>
          </a:ln>
        </p:spPr>
      </p:pic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3571560" y="176868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6639120" y="176868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504000" y="405864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body"/>
          </p:nvPr>
        </p:nvSpPr>
        <p:spPr>
          <a:xfrm>
            <a:off x="3571560" y="405864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body"/>
          </p:nvPr>
        </p:nvSpPr>
        <p:spPr>
          <a:xfrm>
            <a:off x="6639120" y="405864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" descr=""/>
          <p:cNvPicPr/>
          <p:nvPr/>
        </p:nvPicPr>
        <p:blipFill>
          <a:blip r:embed="rId2"/>
          <a:stretch/>
        </p:blipFill>
        <p:spPr>
          <a:xfrm>
            <a:off x="0" y="5806440"/>
            <a:ext cx="10077480" cy="175212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" descr=""/>
          <p:cNvPicPr/>
          <p:nvPr/>
        </p:nvPicPr>
        <p:blipFill>
          <a:blip r:embed="rId2"/>
          <a:stretch/>
        </p:blipFill>
        <p:spPr>
          <a:xfrm>
            <a:off x="0" y="5806440"/>
            <a:ext cx="10077480" cy="1752120"/>
          </a:xfrm>
          <a:prstGeom prst="rect">
            <a:avLst/>
          </a:prstGeom>
          <a:ln w="0">
            <a:noFill/>
          </a:ln>
        </p:spPr>
      </p:pic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" descr=""/>
          <p:cNvPicPr/>
          <p:nvPr/>
        </p:nvPicPr>
        <p:blipFill>
          <a:blip r:embed="rId2"/>
          <a:stretch/>
        </p:blipFill>
        <p:spPr>
          <a:xfrm>
            <a:off x="0" y="5806440"/>
            <a:ext cx="10077480" cy="1752120"/>
          </a:xfrm>
          <a:prstGeom prst="rect">
            <a:avLst/>
          </a:prstGeom>
          <a:ln w="0">
            <a:noFill/>
          </a:ln>
        </p:spPr>
      </p:pic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" descr=""/>
          <p:cNvPicPr/>
          <p:nvPr/>
        </p:nvPicPr>
        <p:blipFill>
          <a:blip r:embed="rId2"/>
          <a:stretch/>
        </p:blipFill>
        <p:spPr>
          <a:xfrm>
            <a:off x="0" y="5806440"/>
            <a:ext cx="10077480" cy="1752120"/>
          </a:xfrm>
          <a:prstGeom prst="rect">
            <a:avLst/>
          </a:prstGeom>
          <a:ln w="0">
            <a:noFill/>
          </a:ln>
        </p:spPr>
      </p:pic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" descr=""/>
          <p:cNvPicPr/>
          <p:nvPr/>
        </p:nvPicPr>
        <p:blipFill>
          <a:blip r:embed="rId2"/>
          <a:stretch/>
        </p:blipFill>
        <p:spPr>
          <a:xfrm>
            <a:off x="0" y="5806440"/>
            <a:ext cx="10077480" cy="1752120"/>
          </a:xfrm>
          <a:prstGeom prst="rect">
            <a:avLst/>
          </a:prstGeom>
          <a:ln w="0">
            <a:noFill/>
          </a:ln>
        </p:spPr>
      </p:pic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" descr=""/>
          <p:cNvPicPr/>
          <p:nvPr/>
        </p:nvPicPr>
        <p:blipFill>
          <a:blip r:embed="rId2"/>
          <a:stretch/>
        </p:blipFill>
        <p:spPr>
          <a:xfrm>
            <a:off x="0" y="5806440"/>
            <a:ext cx="10077480" cy="175212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" descr=""/>
          <p:cNvPicPr/>
          <p:nvPr/>
        </p:nvPicPr>
        <p:blipFill>
          <a:blip r:embed="rId2"/>
          <a:stretch/>
        </p:blipFill>
        <p:spPr>
          <a:xfrm>
            <a:off x="0" y="5806440"/>
            <a:ext cx="10077480" cy="1752120"/>
          </a:xfrm>
          <a:prstGeom prst="rect">
            <a:avLst/>
          </a:prstGeom>
          <a:ln w="0">
            <a:noFill/>
          </a:ln>
        </p:spPr>
      </p:pic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CustomShape 1"/>
          <p:cNvSpPr/>
          <p:nvPr/>
        </p:nvSpPr>
        <p:spPr>
          <a:xfrm>
            <a:off x="0" y="0"/>
            <a:ext cx="10074600" cy="93960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CustomShape 2"/>
          <p:cNvSpPr/>
          <p:nvPr/>
        </p:nvSpPr>
        <p:spPr>
          <a:xfrm>
            <a:off x="0" y="6620400"/>
            <a:ext cx="10074600" cy="93960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ustomShape 1"/>
          <p:cNvSpPr/>
          <p:nvPr/>
        </p:nvSpPr>
        <p:spPr>
          <a:xfrm>
            <a:off x="0" y="0"/>
            <a:ext cx="10074600" cy="93960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CustomShape 2"/>
          <p:cNvSpPr/>
          <p:nvPr/>
        </p:nvSpPr>
        <p:spPr>
          <a:xfrm>
            <a:off x="0" y="6620400"/>
            <a:ext cx="10074600" cy="93960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CustomShape 1"/>
          <p:cNvSpPr/>
          <p:nvPr/>
        </p:nvSpPr>
        <p:spPr>
          <a:xfrm>
            <a:off x="0" y="0"/>
            <a:ext cx="10074600" cy="93960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CustomShape 2"/>
          <p:cNvSpPr/>
          <p:nvPr/>
        </p:nvSpPr>
        <p:spPr>
          <a:xfrm>
            <a:off x="0" y="6620400"/>
            <a:ext cx="10074600" cy="93960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CustomShape 1"/>
          <p:cNvSpPr/>
          <p:nvPr/>
        </p:nvSpPr>
        <p:spPr>
          <a:xfrm>
            <a:off x="0" y="0"/>
            <a:ext cx="10074600" cy="93960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CustomShape 2"/>
          <p:cNvSpPr/>
          <p:nvPr/>
        </p:nvSpPr>
        <p:spPr>
          <a:xfrm>
            <a:off x="0" y="6620400"/>
            <a:ext cx="10074600" cy="93960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3571560" y="176868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6639120" y="176868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body"/>
          </p:nvPr>
        </p:nvSpPr>
        <p:spPr>
          <a:xfrm>
            <a:off x="504000" y="405864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 type="body"/>
          </p:nvPr>
        </p:nvSpPr>
        <p:spPr>
          <a:xfrm>
            <a:off x="3571560" y="405864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7"/>
          <p:cNvSpPr>
            <a:spLocks noGrp="1"/>
          </p:cNvSpPr>
          <p:nvPr>
            <p:ph type="body"/>
          </p:nvPr>
        </p:nvSpPr>
        <p:spPr>
          <a:xfrm>
            <a:off x="6639120" y="405864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0" y="0"/>
            <a:ext cx="10074600" cy="93960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CustomShape 2"/>
          <p:cNvSpPr/>
          <p:nvPr/>
        </p:nvSpPr>
        <p:spPr>
          <a:xfrm>
            <a:off x="0" y="6620400"/>
            <a:ext cx="10074600" cy="93960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CustomShape 1"/>
          <p:cNvSpPr/>
          <p:nvPr/>
        </p:nvSpPr>
        <p:spPr>
          <a:xfrm>
            <a:off x="0" y="0"/>
            <a:ext cx="10074600" cy="93960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CustomShape 2"/>
          <p:cNvSpPr/>
          <p:nvPr/>
        </p:nvSpPr>
        <p:spPr>
          <a:xfrm>
            <a:off x="0" y="6620400"/>
            <a:ext cx="10074600" cy="93960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CustomShape 1"/>
          <p:cNvSpPr/>
          <p:nvPr/>
        </p:nvSpPr>
        <p:spPr>
          <a:xfrm>
            <a:off x="0" y="0"/>
            <a:ext cx="10074600" cy="93960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CustomShape 2"/>
          <p:cNvSpPr/>
          <p:nvPr/>
        </p:nvSpPr>
        <p:spPr>
          <a:xfrm>
            <a:off x="0" y="6620400"/>
            <a:ext cx="10074600" cy="93960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CustomShape 1"/>
          <p:cNvSpPr/>
          <p:nvPr/>
        </p:nvSpPr>
        <p:spPr>
          <a:xfrm>
            <a:off x="0" y="0"/>
            <a:ext cx="10074600" cy="93960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CustomShape 2"/>
          <p:cNvSpPr/>
          <p:nvPr/>
        </p:nvSpPr>
        <p:spPr>
          <a:xfrm>
            <a:off x="0" y="6620400"/>
            <a:ext cx="10074600" cy="93960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CustomShape 1"/>
          <p:cNvSpPr/>
          <p:nvPr/>
        </p:nvSpPr>
        <p:spPr>
          <a:xfrm>
            <a:off x="0" y="0"/>
            <a:ext cx="10074600" cy="93960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CustomShape 2"/>
          <p:cNvSpPr/>
          <p:nvPr/>
        </p:nvSpPr>
        <p:spPr>
          <a:xfrm>
            <a:off x="0" y="6620400"/>
            <a:ext cx="10074600" cy="93960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CustomShape 1"/>
          <p:cNvSpPr/>
          <p:nvPr/>
        </p:nvSpPr>
        <p:spPr>
          <a:xfrm>
            <a:off x="0" y="0"/>
            <a:ext cx="10074600" cy="93960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CustomShape 2"/>
          <p:cNvSpPr/>
          <p:nvPr/>
        </p:nvSpPr>
        <p:spPr>
          <a:xfrm>
            <a:off x="0" y="6620400"/>
            <a:ext cx="10074600" cy="93960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CustomShape 1"/>
          <p:cNvSpPr/>
          <p:nvPr/>
        </p:nvSpPr>
        <p:spPr>
          <a:xfrm>
            <a:off x="0" y="0"/>
            <a:ext cx="10074600" cy="93960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CustomShape 2"/>
          <p:cNvSpPr/>
          <p:nvPr/>
        </p:nvSpPr>
        <p:spPr>
          <a:xfrm>
            <a:off x="0" y="6620400"/>
            <a:ext cx="10074600" cy="93960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CustomShape 1"/>
          <p:cNvSpPr/>
          <p:nvPr/>
        </p:nvSpPr>
        <p:spPr>
          <a:xfrm>
            <a:off x="0" y="0"/>
            <a:ext cx="10074600" cy="93960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CustomShape 2"/>
          <p:cNvSpPr/>
          <p:nvPr/>
        </p:nvSpPr>
        <p:spPr>
          <a:xfrm>
            <a:off x="0" y="6620400"/>
            <a:ext cx="10074600" cy="93960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hyperlink" Target="https://en.wikipedia.org/wiki/Yocto_Project" TargetMode="External"/><Relationship Id="rId2" Type="http://schemas.openxmlformats.org/officeDocument/2006/relationships/slideLayout" Target="../slideLayouts/slideLayout1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7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CustomShape 1"/>
          <p:cNvSpPr/>
          <p:nvPr/>
        </p:nvSpPr>
        <p:spPr>
          <a:xfrm>
            <a:off x="0" y="2341080"/>
            <a:ext cx="9069480" cy="12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IN" sz="4400" spc="-1" strike="noStrike">
                <a:solidFill>
                  <a:srgbClr val="006699"/>
                </a:solidFill>
                <a:latin typeface="Arial"/>
                <a:ea typeface="DejaVu Sans"/>
              </a:rPr>
              <a:t>Yocto Build System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CustomShape 1"/>
          <p:cNvSpPr/>
          <p:nvPr/>
        </p:nvSpPr>
        <p:spPr>
          <a:xfrm>
            <a:off x="504000" y="301320"/>
            <a:ext cx="9069480" cy="63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CustomShape 2"/>
          <p:cNvSpPr/>
          <p:nvPr/>
        </p:nvSpPr>
        <p:spPr>
          <a:xfrm>
            <a:off x="169560" y="1136160"/>
            <a:ext cx="9335520" cy="46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15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1. Overview of an embedded linux system architecture.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2. Usefulness of a build system.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3. Yocto poky reference build system.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4. Organization of project source tree.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5. Configuring the build system.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6. Organization of the build output.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7. Building a system image.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8. Writing a minimal recipe.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9. Adding dependencies.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10. Development workflow with bitbake.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11. Adding the custom application.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12. Adding the custom library dependent application.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13. Adding custom kernel module.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CustomShape 1"/>
          <p:cNvSpPr/>
          <p:nvPr/>
        </p:nvSpPr>
        <p:spPr>
          <a:xfrm>
            <a:off x="504000" y="301320"/>
            <a:ext cx="9069480" cy="63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IN" sz="2600" spc="-1" strike="noStrike">
                <a:solidFill>
                  <a:srgbClr val="ffffff"/>
                </a:solidFill>
                <a:latin typeface="Arial"/>
                <a:ea typeface="DejaVu Sans"/>
              </a:rPr>
              <a:t>Overview of an Embedded Linux System Architecture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7" name="" descr=""/>
          <p:cNvPicPr/>
          <p:nvPr/>
        </p:nvPicPr>
        <p:blipFill>
          <a:blip r:embed="rId1"/>
          <a:stretch/>
        </p:blipFill>
        <p:spPr>
          <a:xfrm>
            <a:off x="2419560" y="934560"/>
            <a:ext cx="4491360" cy="5207400"/>
          </a:xfrm>
          <a:prstGeom prst="rect">
            <a:avLst/>
          </a:prstGeom>
          <a:ln w="0">
            <a:noFill/>
          </a:ln>
        </p:spPr>
      </p:pic>
      <p:sp>
        <p:nvSpPr>
          <p:cNvPr id="168" name="TextShape 2"/>
          <p:cNvSpPr/>
          <p:nvPr/>
        </p:nvSpPr>
        <p:spPr>
          <a:xfrm>
            <a:off x="-72000" y="6165720"/>
            <a:ext cx="10510920" cy="60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Mostly using ARM SoCs- which are cheap, low power, have lots of peripherals integrated into the chip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CustomShape 1"/>
          <p:cNvSpPr/>
          <p:nvPr/>
        </p:nvSpPr>
        <p:spPr>
          <a:xfrm>
            <a:off x="246240" y="352440"/>
            <a:ext cx="672192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Usefulness of a Build system.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CustomShape 2"/>
          <p:cNvSpPr/>
          <p:nvPr/>
        </p:nvSpPr>
        <p:spPr>
          <a:xfrm>
            <a:off x="222120" y="1302480"/>
            <a:ext cx="9007200" cy="31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2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●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Builds an embedded OS with a recent kernel along with a set of system commands  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2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and libraries suitable for open embedded environment.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2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●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Fully supports a wide range of hardware and device emulation through the QEMU.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2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●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Provides a layered mechanism which allows to extent the system.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2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●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Flexible to make customization and keep them organized.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2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Eg. yocto, buildroot etc.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ustomShape 1"/>
          <p:cNvSpPr/>
          <p:nvPr/>
        </p:nvSpPr>
        <p:spPr>
          <a:xfrm>
            <a:off x="504000" y="301320"/>
            <a:ext cx="9069480" cy="63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IN" sz="4400" spc="-1" strike="noStrike">
                <a:solidFill>
                  <a:srgbClr val="ffffff"/>
                </a:solidFill>
                <a:latin typeface="Arial"/>
                <a:ea typeface="DejaVu Sans"/>
              </a:rPr>
              <a:t>Common Aspects (Yocto/Build root)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CustomShape 2"/>
          <p:cNvSpPr/>
          <p:nvPr/>
        </p:nvSpPr>
        <p:spPr>
          <a:xfrm>
            <a:off x="203400" y="1162080"/>
            <a:ext cx="8874360" cy="46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2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OpenSymbol"/>
                <a:ea typeface="OpenSymbol"/>
              </a:rPr>
              <a:t>●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Embedded Linux build systems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2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-&gt; Goal is to build a complete, customized, embedded Linux system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2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-&gt; Root filesystem, toolchain, kernel, bootloaders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2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OpenSymbol"/>
                <a:ea typeface="OpenSymbol"/>
              </a:rPr>
              <a:t>●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Build from scratch from source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2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OpenSymbol"/>
                <a:ea typeface="OpenSymbol"/>
              </a:rPr>
              <a:t>●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Using cross-compilation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2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OpenSymbol"/>
                <a:ea typeface="OpenSymbol"/>
              </a:rPr>
              <a:t>●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Very actively maintained and developed projects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2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OpenSymbol"/>
                <a:ea typeface="OpenSymbol"/>
              </a:rPr>
              <a:t>●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Widely used in the industry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2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OpenSymbol"/>
                <a:ea typeface="OpenSymbol"/>
              </a:rPr>
              <a:t>●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Well documented, training courses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2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OpenSymbol"/>
                <a:ea typeface="OpenSymbol"/>
              </a:rPr>
              <a:t>●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Free software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CustomShape 1"/>
          <p:cNvSpPr/>
          <p:nvPr/>
        </p:nvSpPr>
        <p:spPr>
          <a:xfrm>
            <a:off x="504000" y="301320"/>
            <a:ext cx="9069480" cy="63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IN" sz="4400" spc="-1" strike="noStrike">
                <a:solidFill>
                  <a:srgbClr val="ffffff"/>
                </a:solidFill>
                <a:latin typeface="Arial"/>
                <a:ea typeface="DejaVu Sans"/>
              </a:rPr>
              <a:t>Build root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CustomShape 2"/>
          <p:cNvSpPr/>
          <p:nvPr/>
        </p:nvSpPr>
        <p:spPr>
          <a:xfrm>
            <a:off x="105120" y="803880"/>
            <a:ext cx="9675720" cy="584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5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OpenSymbol"/>
                <a:ea typeface="OpenSymbol"/>
              </a:rPr>
              <a:t>●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Strong focus on simplicity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OpenSymbol"/>
                <a:ea typeface="OpenSymbol"/>
              </a:rPr>
              <a:t>●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Simple to use, but also simple to understand/extend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OpenSymbol"/>
                <a:ea typeface="OpenSymbol"/>
              </a:rPr>
              <a:t>●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Special use cases handled via extension scripts, rather than in Buildroot itself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OpenSymbol"/>
                <a:ea typeface="OpenSymbol"/>
              </a:rPr>
              <a:t>●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Re-use of existing technologies/languages: kconfig, make.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OpenSymbol"/>
                <a:ea typeface="OpenSymbol"/>
              </a:rPr>
              <a:t>●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Learning effort worth the investment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OpenSymbol"/>
                <a:ea typeface="OpenSymbol"/>
              </a:rPr>
              <a:t>●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Minimalist: small by default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OpenSymbol"/>
                <a:ea typeface="OpenSymbol"/>
              </a:rPr>
              <a:t>●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Purpose-agnostic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OpenSymbol"/>
                <a:ea typeface="OpenSymbol"/>
              </a:rPr>
              <a:t>●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Open community, no vendor or bureaucratic/corporate management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OpenSymbol"/>
                <a:ea typeface="OpenSymbol"/>
              </a:rPr>
              <a:t>●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Buildroot main product is a root filesystem image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OpenSymbol"/>
                <a:ea typeface="OpenSymbol"/>
              </a:rPr>
              <a:t>●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But also: toolchain, kernel image, bootloaders, etc.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OpenSymbol"/>
                <a:ea typeface="OpenSymbol"/>
              </a:rPr>
              <a:t>●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Many formats supported: ext2/3/4, ubifs, iso9660, etc.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OpenSymbol"/>
                <a:ea typeface="OpenSymbol"/>
              </a:rPr>
              <a:t>●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No binary packages, no package management system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OpenSymbol"/>
                <a:ea typeface="OpenSymbol"/>
              </a:rPr>
              <a:t>●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Re-uses kconfig from the Linux kernel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OpenSymbol"/>
                <a:ea typeface="OpenSymbol"/>
              </a:rPr>
              <a:t>●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Simple {menu,x,n,g}config interface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OpenSymbol"/>
                <a:ea typeface="OpenSymbol"/>
              </a:rPr>
              <a:t>●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Entire configuration stored in a single .config/defconfig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CustomShape 1"/>
          <p:cNvSpPr/>
          <p:nvPr/>
        </p:nvSpPr>
        <p:spPr>
          <a:xfrm>
            <a:off x="504000" y="301320"/>
            <a:ext cx="9069480" cy="63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IN" sz="2600" spc="-1" strike="noStrike">
                <a:solidFill>
                  <a:srgbClr val="ffffff"/>
                </a:solidFill>
                <a:latin typeface="Arial"/>
                <a:ea typeface="DejaVu Sans"/>
              </a:rPr>
              <a:t>Yocto Project(https://www.yoctoproject.org)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CustomShape 2"/>
          <p:cNvSpPr/>
          <p:nvPr/>
        </p:nvSpPr>
        <p:spPr>
          <a:xfrm>
            <a:off x="142920" y="963720"/>
            <a:ext cx="9985320" cy="546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5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OpenSymbol"/>
                <a:ea typeface="OpenSymbol"/>
              </a:rPr>
              <a:t>●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Support for the major architectures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	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OpenEmbedded: only qemu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	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Yocto Project: adds support for a few machines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OpenSymbol"/>
                <a:ea typeface="OpenSymbol"/>
              </a:rPr>
              <a:t>●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Only provides core recipes, use layers to get support for more packages and more machines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OpenSymbol"/>
                <a:ea typeface="OpenSymbol"/>
              </a:rPr>
              <a:t>●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Custom modifications should stay in a separate layer. Allow uses to create own distros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OpenSymbol"/>
                <a:ea typeface="OpenSymbol"/>
              </a:rPr>
              <a:t>●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Versaale build system: tries to be as fexible as possible and to handle most use cases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OpenSymbol"/>
                <a:ea typeface="OpenSymbol"/>
              </a:rPr>
              <a:t>●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Open community but the project is still governed by the Yocto Project Advisory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OpenSymbol"/>
                <a:ea typeface="OpenSymbol"/>
              </a:rPr>
              <a:t>●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Board made up of its corporate sponsors.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OpenSymbol"/>
                <a:ea typeface="OpenSymbol"/>
              </a:rPr>
              <a:t>●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OpenEmbedded is an independent community driven project.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OpenSymbol"/>
                <a:ea typeface="OpenSymbol"/>
              </a:rPr>
              <a:t>●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Builds distributions, the main output is a package feed the package management system is  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optional on the target. it is possible to install or update only part of the system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●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Also generates root flesystem images by installing those packages. Supports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the usual ext2/3/4, ubifs, iso9660, etc.. but also VM images: vmdk, vdi, qcow2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●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Finally, images classes or a tool, wic, can be used to create disk images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CustomShape 1"/>
          <p:cNvSpPr/>
          <p:nvPr/>
        </p:nvSpPr>
        <p:spPr>
          <a:xfrm>
            <a:off x="504000" y="301320"/>
            <a:ext cx="9069480" cy="63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IN" sz="3200" spc="-1" strike="noStrike">
                <a:solidFill>
                  <a:srgbClr val="ffffff"/>
                </a:solidFill>
                <a:latin typeface="Arial"/>
                <a:ea typeface="DejaVu Sans"/>
              </a:rPr>
              <a:t>Yocto Project: number/variety of packages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CustomShape 2"/>
          <p:cNvSpPr/>
          <p:nvPr/>
        </p:nvSpPr>
        <p:spPr>
          <a:xfrm>
            <a:off x="310680" y="1133640"/>
            <a:ext cx="8385120" cy="46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●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Several thousand recipes: around 2200 for oe-core, meta-openembedded,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●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meta-qt5. More than 8400 known by the Metadata Index (includes duplicates).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●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Mostly the same packages as Buildroot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●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Has layers for more languages: Java, Go, Rust, smalltalk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●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Still has an active layer for Qt3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●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meta-virtualization (Docker, KVM, LXC, Xen) and meta-openstack layers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●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In the .core: ARM, MIPS, PowerPC, x86 and their 64-bit variants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●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Usually silicon vendors maintain their own BSP layers: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●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meta-intel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●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meta-altera (both ARM and NIOSII)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●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meta-atmel, meta-fsl, meta-ti, ...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●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meta-xilinx (both ARM and Microblaze)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" descr=""/>
          <p:cNvPicPr/>
          <p:nvPr/>
        </p:nvPicPr>
        <p:blipFill>
          <a:blip r:embed="rId1"/>
          <a:stretch/>
        </p:blipFill>
        <p:spPr>
          <a:xfrm>
            <a:off x="33840" y="1338120"/>
            <a:ext cx="10079280" cy="4906800"/>
          </a:xfrm>
          <a:prstGeom prst="rect">
            <a:avLst/>
          </a:prstGeom>
          <a:ln w="0">
            <a:noFill/>
          </a:ln>
        </p:spPr>
      </p:pic>
      <p:sp>
        <p:nvSpPr>
          <p:cNvPr id="180" name="TextShape 1"/>
          <p:cNvSpPr/>
          <p:nvPr/>
        </p:nvSpPr>
        <p:spPr>
          <a:xfrm>
            <a:off x="1872000" y="216000"/>
            <a:ext cx="4390920" cy="9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Who uses Yocto?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" descr=""/>
          <p:cNvPicPr/>
          <p:nvPr/>
        </p:nvPicPr>
        <p:blipFill>
          <a:blip r:embed="rId1"/>
          <a:stretch/>
        </p:blipFill>
        <p:spPr>
          <a:xfrm>
            <a:off x="33840" y="1224000"/>
            <a:ext cx="9757080" cy="5398920"/>
          </a:xfrm>
          <a:prstGeom prst="rect">
            <a:avLst/>
          </a:prstGeom>
          <a:ln w="0">
            <a:noFill/>
          </a:ln>
        </p:spPr>
      </p:pic>
      <p:sp>
        <p:nvSpPr>
          <p:cNvPr id="182" name="TextShape 1"/>
          <p:cNvSpPr/>
          <p:nvPr/>
        </p:nvSpPr>
        <p:spPr>
          <a:xfrm>
            <a:off x="360000" y="6912000"/>
            <a:ext cx="6838920" cy="60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100 millions of devices running on yocto based build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CustomShape 1"/>
          <p:cNvSpPr/>
          <p:nvPr/>
        </p:nvSpPr>
        <p:spPr>
          <a:xfrm>
            <a:off x="504000" y="301320"/>
            <a:ext cx="9069480" cy="63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IN" sz="4400" spc="-1" strike="noStrike">
                <a:solidFill>
                  <a:srgbClr val="ffffff"/>
                </a:solidFill>
                <a:latin typeface="Arial"/>
                <a:ea typeface="DejaVu Sans"/>
              </a:rPr>
              <a:t>Yocto poky reference build system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CustomShape 2"/>
          <p:cNvSpPr/>
          <p:nvPr/>
        </p:nvSpPr>
        <p:spPr>
          <a:xfrm>
            <a:off x="92880" y="1081800"/>
            <a:ext cx="9674640" cy="36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2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●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Poky is the directory that contains openembedded build system and the meta layers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2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required to build our own distribution.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200000"/>
              </a:lnSpc>
            </a:pPr>
            <a:r>
              <a:rPr b="0" lang="en-IN" sz="1800" spc="-1" strike="noStrike" u="sng">
                <a:solidFill>
                  <a:srgbClr val="0000ff"/>
                </a:solidFill>
                <a:uFillTx/>
                <a:latin typeface="Arial"/>
                <a:ea typeface="DejaVu Sans"/>
                <a:hlinkClick r:id="rId1"/>
              </a:rPr>
              <a:t>https://en.wikipedia.org/wiki/Yocto_Project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2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●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Poky reference build system can be downloaded in a working directory as given below,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2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$ git clone --branch=branch_name git://git.yoctoproject.org/poky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2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●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Where, branch_name: The poky branch to be cloned.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Releases every 6 months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2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●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Examples of poky branches are master, rocko, dunfell, zeus, warrior etc.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2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●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If you dont specify --branch= in the above command it will directly clones the master branch.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2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https://wiki.yoctoproject.org/wiki/Releases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CustomShape 1"/>
          <p:cNvSpPr/>
          <p:nvPr/>
        </p:nvSpPr>
        <p:spPr>
          <a:xfrm>
            <a:off x="504000" y="301320"/>
            <a:ext cx="9069480" cy="63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IN" sz="4400" spc="-1" strike="noStrike">
                <a:solidFill>
                  <a:srgbClr val="ffffff"/>
                </a:solidFill>
                <a:latin typeface="Arial"/>
                <a:ea typeface="DejaVu Sans"/>
              </a:rPr>
              <a:t>Organization of project source tree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6" name="" descr=""/>
          <p:cNvPicPr/>
          <p:nvPr/>
        </p:nvPicPr>
        <p:blipFill>
          <a:blip r:embed="rId1"/>
          <a:stretch/>
        </p:blipFill>
        <p:spPr>
          <a:xfrm>
            <a:off x="496800" y="1244520"/>
            <a:ext cx="8518680" cy="487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CustomShape 1"/>
          <p:cNvSpPr/>
          <p:nvPr/>
        </p:nvSpPr>
        <p:spPr>
          <a:xfrm>
            <a:off x="-53640" y="-5040"/>
            <a:ext cx="9968040" cy="12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IN" sz="3200" spc="-1" strike="noStrike">
                <a:solidFill>
                  <a:srgbClr val="ffffff"/>
                </a:solidFill>
                <a:latin typeface="Arial"/>
                <a:ea typeface="DejaVu Sans"/>
              </a:rPr>
              <a:t>Organization of project source tree contd..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CustomShape 2"/>
          <p:cNvSpPr/>
          <p:nvPr/>
        </p:nvSpPr>
        <p:spPr>
          <a:xfrm>
            <a:off x="201240" y="1069200"/>
            <a:ext cx="9214560" cy="36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Meta data is collection of – build instructions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Configuration files (.conf)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Recipes(.bb and .bbappend)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Classes(.bbclass)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Includes(.inc)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●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Main parts of poky are: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●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Bitbake: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This is a tool written in python programming language.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It interprets the metadata and decides what tasks are to be done.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It uses the recipe files in order to execute the tasks.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●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Layers: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Layers allow you to isolate different types of customization from each other.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Layers contain recipes, classess, configuration files, append files, patch files etc.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Creating separate layers helps in modularizing the project.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CustomShape 1"/>
          <p:cNvSpPr/>
          <p:nvPr/>
        </p:nvSpPr>
        <p:spPr>
          <a:xfrm>
            <a:off x="504000" y="301320"/>
            <a:ext cx="9069480" cy="63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IN" sz="3200" spc="-1" strike="noStrike">
                <a:solidFill>
                  <a:srgbClr val="ffffff"/>
                </a:solidFill>
                <a:latin typeface="Arial"/>
                <a:ea typeface="DejaVu Sans"/>
              </a:rPr>
              <a:t>Organization of project source tree contd.</a:t>
            </a:r>
            <a:r>
              <a:rPr b="0" lang="en-IN" sz="4400" spc="-1" strike="noStrike">
                <a:solidFill>
                  <a:srgbClr val="ffffff"/>
                </a:solidFill>
                <a:latin typeface="Arial"/>
                <a:ea typeface="DejaVu Sans"/>
              </a:rPr>
              <a:t>.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CustomShape 2"/>
          <p:cNvSpPr/>
          <p:nvPr/>
        </p:nvSpPr>
        <p:spPr>
          <a:xfrm>
            <a:off x="140040" y="974520"/>
            <a:ext cx="7860960" cy="354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Recipes: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Recipes are the files with .bb extension used by the bitbake.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It contains descriptive information about the package.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It contains version of the recipes.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Existing dependencies.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Path to source code.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Any patches needed by the source.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How to compile the source code.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Where to install the built images in the target machine.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CustomShape 3"/>
          <p:cNvSpPr/>
          <p:nvPr/>
        </p:nvSpPr>
        <p:spPr>
          <a:xfrm>
            <a:off x="142920" y="4783680"/>
            <a:ext cx="8720640" cy="162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Configuration files: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These files have an extension of .conf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Contains the various configuration variables that govern the project’s buildprocess.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Contains machine configuration options, user configuration options etc.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CustomShape 1"/>
          <p:cNvSpPr/>
          <p:nvPr/>
        </p:nvSpPr>
        <p:spPr>
          <a:xfrm>
            <a:off x="504000" y="301320"/>
            <a:ext cx="9069480" cy="63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CustomShape 2"/>
          <p:cNvSpPr/>
          <p:nvPr/>
        </p:nvSpPr>
        <p:spPr>
          <a:xfrm>
            <a:off x="110160" y="1150920"/>
            <a:ext cx="9587880" cy="239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●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Classes: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Contains information that is useful to share between metadata files.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These files have an extension of .bbclass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base.bbclass is the special file included in all the recipes.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Class file contains standard basic tasks such as fetching, unpacking, configuring, compiling,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installing and packaging.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CustomShape 3"/>
          <p:cNvSpPr/>
          <p:nvPr/>
        </p:nvSpPr>
        <p:spPr>
          <a:xfrm>
            <a:off x="119880" y="3874680"/>
            <a:ext cx="9141120" cy="239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●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Append files: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Append files have an extension of .bbappend, which extends the build information of an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existing recipe.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Bitbake expects every append file to have a corresponding recipe file and must use the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same root file name and it’s also version specific.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eg. linux-yocto_1.0.bbappend file must have a linux-yocto_1.0.bb file.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"/>
          <p:cNvSpPr/>
          <p:nvPr/>
        </p:nvSpPr>
        <p:spPr>
          <a:xfrm>
            <a:off x="1368000" y="216000"/>
            <a:ext cx="7786440" cy="71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OpenEmbedded Project vs Yocto project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492840" y="1152000"/>
            <a:ext cx="7786440" cy="71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OpenEmbedded Project vs Yocto project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1143000" y="1600200"/>
            <a:ext cx="3803400" cy="858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Yocto Project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   └──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Uses OpenEmbedded-Core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          └──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Uses BitBake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685800" y="2739240"/>
            <a:ext cx="8686800" cy="54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OpenEmbedded (OE) is a build framework for creating embedded Linux distributions.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707760" y="3281040"/>
            <a:ext cx="9122040" cy="48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The Yocto Project is a complete ecosystem and collaboration project built around OpenEmbedded.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245880" y="3771000"/>
            <a:ext cx="3868920" cy="464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Arial"/>
              </a:rPr>
              <a:t>It provides:</a:t>
            </a:r>
            <a:br>
              <a:rPr sz="1600"/>
            </a:br>
            <a:r>
              <a:rPr b="1" lang="en-US" sz="1600" spc="-1" strike="noStrike">
                <a:solidFill>
                  <a:srgbClr val="000000"/>
                </a:solidFill>
                <a:latin typeface="Arial"/>
              </a:rPr>
              <a:t>  </a:t>
            </a:r>
            <a:br>
              <a:rPr sz="1600"/>
            </a:b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1, Build tools</a:t>
            </a:r>
            <a:br>
              <a:rPr sz="1600"/>
            </a:b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2. Documentation</a:t>
            </a:r>
            <a:br>
              <a:rPr sz="1600"/>
            </a:b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3. Tested configurations</a:t>
            </a:r>
            <a:br>
              <a:rPr sz="1600"/>
            </a:b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4. Reference distribution (Poky)</a:t>
            </a:r>
            <a:br>
              <a:rPr sz="1600"/>
            </a:b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5. Release management</a:t>
            </a:r>
            <a:br>
              <a:rPr sz="1600"/>
            </a:b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6. Long-term support versions</a:t>
            </a:r>
            <a:endParaRPr b="0" lang="en-US" sz="16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endParaRPr b="0" lang="en-US" sz="1600" spc="-1" strike="noStrike">
              <a:solidFill>
                <a:srgbClr val="000000"/>
              </a:solidFill>
              <a:latin typeface="Arial"/>
              <a:ea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CustomShape 1"/>
          <p:cNvSpPr/>
          <p:nvPr/>
        </p:nvSpPr>
        <p:spPr>
          <a:xfrm>
            <a:off x="504000" y="301320"/>
            <a:ext cx="9069480" cy="63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IN" sz="4400" spc="-1" strike="noStrike">
                <a:solidFill>
                  <a:srgbClr val="ffffff"/>
                </a:solidFill>
                <a:latin typeface="Arial"/>
                <a:ea typeface="DejaVu Sans"/>
              </a:rPr>
              <a:t>Configuring the build system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CustomShape 2"/>
          <p:cNvSpPr/>
          <p:nvPr/>
        </p:nvSpPr>
        <p:spPr>
          <a:xfrm>
            <a:off x="156600" y="1073520"/>
            <a:ext cx="9369720" cy="200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Run the oe-init-build-env script in the poky directory which will set the environment required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for the build in a build directoy.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$ source oe-init-build-env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●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The above will create a build directory in poky by creating sub directory and setting up the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environment variables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3" name="" descr=""/>
          <p:cNvPicPr/>
          <p:nvPr/>
        </p:nvPicPr>
        <p:blipFill>
          <a:blip r:embed="rId1"/>
          <a:stretch/>
        </p:blipFill>
        <p:spPr>
          <a:xfrm>
            <a:off x="238680" y="3222720"/>
            <a:ext cx="9586800" cy="3309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CustomShape 1"/>
          <p:cNvSpPr/>
          <p:nvPr/>
        </p:nvSpPr>
        <p:spPr>
          <a:xfrm>
            <a:off x="504000" y="301320"/>
            <a:ext cx="9069480" cy="63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  <a:ea typeface="DejaVu Sans"/>
              </a:rPr>
              <a:t>Board Support Packages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CustomShape 2"/>
          <p:cNvSpPr/>
          <p:nvPr/>
        </p:nvSpPr>
        <p:spPr>
          <a:xfrm>
            <a:off x="109440" y="1093680"/>
            <a:ext cx="9574200" cy="41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-&gt; In Yocto project, a Board Support Package (BSP) is the meta layer which contains all the configuration specific to a particular board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-&gt; Every project needs a BSP layer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-&gt; The BSP is provided by either: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The company that sells the board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You, if you work for the company that makes the board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Local configuration: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-&gt; it is in [build dir]/conf/local.conf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6" name="" descr=""/>
          <p:cNvPicPr/>
          <p:nvPr/>
        </p:nvPicPr>
        <p:blipFill>
          <a:blip r:embed="rId1"/>
          <a:stretch/>
        </p:blipFill>
        <p:spPr>
          <a:xfrm>
            <a:off x="360000" y="4330080"/>
            <a:ext cx="8294400" cy="2436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CustomShape 1"/>
          <p:cNvSpPr/>
          <p:nvPr/>
        </p:nvSpPr>
        <p:spPr>
          <a:xfrm>
            <a:off x="504000" y="301320"/>
            <a:ext cx="9069480" cy="63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IN" sz="4400" spc="-1" strike="noStrike">
                <a:solidFill>
                  <a:srgbClr val="ffffff"/>
                </a:solidFill>
                <a:latin typeface="Arial"/>
                <a:ea typeface="DejaVu Sans"/>
              </a:rPr>
              <a:t>Configuring the build system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CustomShape 2"/>
          <p:cNvSpPr/>
          <p:nvPr/>
        </p:nvSpPr>
        <p:spPr>
          <a:xfrm>
            <a:off x="62280" y="1033560"/>
            <a:ext cx="9905760" cy="613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OpenSymbol"/>
                <a:ea typeface="OpenSymbol"/>
              </a:rPr>
              <a:t>●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The conf directory in the above image contains two required files i.e. local.conf and bblayer.conf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OpenSymbol"/>
                <a:ea typeface="OpenSymbol"/>
              </a:rPr>
              <a:t>●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The local.conf file will consists of the user configurations such as to which machine the user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wants to build the images for, what all the additional packages to be installed in the target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image while building.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OpenSymbol"/>
                <a:ea typeface="OpenSymbol"/>
              </a:rPr>
              <a:t>●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For configuring all the stuff user needs to use the configuration variables in the local.conf file.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●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Bblayer.conf file consists of what all the layers the bitbake should parse during build.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●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If any new layer is created that must be added to bblayer.conf file so that bitbake will consider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that file.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/poky/build/downloads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* The above directory contains all the source code fetched from the internet. Which will be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further used for build.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/poky/build/sstate-cache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* Bitbake stores the output of each task in directory in sstate-cache directory, Its location is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controlled by the SSTATE_DIR variable.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OpenSymbol"/>
              </a:rPr>
              <a:t>* Bitbake checks any recipes need not to be re compiled.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CustomShape 1"/>
          <p:cNvSpPr/>
          <p:nvPr/>
        </p:nvSpPr>
        <p:spPr>
          <a:xfrm>
            <a:off x="504000" y="301320"/>
            <a:ext cx="9069480" cy="63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IN" sz="4400" spc="-1" strike="noStrike">
                <a:solidFill>
                  <a:srgbClr val="ffffff"/>
                </a:solidFill>
                <a:latin typeface="Arial"/>
                <a:ea typeface="DejaVu Sans"/>
              </a:rPr>
              <a:t>Organization of build output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CustomShape 2"/>
          <p:cNvSpPr/>
          <p:nvPr/>
        </p:nvSpPr>
        <p:spPr>
          <a:xfrm>
            <a:off x="71280" y="1033560"/>
            <a:ext cx="9273600" cy="443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The tmp directory in the build directory holds all the build system output.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/poky/build/tmp/buildstats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Holds the build statistics for all built packages(CPU usage, timestamps etc).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●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/poky/build/tmp/deploy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Holds final output of the build.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●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/poky/build/tmp/deploy/images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Contains the embedded os images which can be flashed on the board.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●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/poky/build/tmp/work: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Set of specific work directories split by architecture.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They are used to unpack, configure and build the package.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Contains the patched sources, generated objects and logs.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●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/poky/build/tmp/sysroots: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Contains shared libraries and headers used to compile applications for the target.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CustomShape 1"/>
          <p:cNvSpPr/>
          <p:nvPr/>
        </p:nvSpPr>
        <p:spPr>
          <a:xfrm>
            <a:off x="504000" y="301320"/>
            <a:ext cx="9069480" cy="63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IN" sz="4400" spc="-1" strike="noStrike">
                <a:solidFill>
                  <a:srgbClr val="ffffff"/>
                </a:solidFill>
                <a:latin typeface="Arial"/>
                <a:ea typeface="DejaVu Sans"/>
              </a:rPr>
              <a:t>Build a system image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CustomShape 2"/>
          <p:cNvSpPr/>
          <p:nvPr/>
        </p:nvSpPr>
        <p:spPr>
          <a:xfrm>
            <a:off x="207360" y="1097280"/>
            <a:ext cx="9644760" cy="277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Execute the following .command in order to build the system image,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$ bitbake .core-image-&lt;target image variant&gt;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Where target image variants are,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.core-image-minimal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.core-image-sato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.core-image-base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.core-image-x11 et.c.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CustomShape 1"/>
          <p:cNvSpPr/>
          <p:nvPr/>
        </p:nvSpPr>
        <p:spPr>
          <a:xfrm>
            <a:off x="504000" y="301320"/>
            <a:ext cx="9069480" cy="63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IN" sz="4400" spc="-1" strike="noStrike">
                <a:solidFill>
                  <a:srgbClr val="ffffff"/>
                </a:solidFill>
                <a:latin typeface="Arial"/>
                <a:ea typeface="DejaVu Sans"/>
              </a:rPr>
              <a:t>Writing a minimal recipe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CustomShape 2"/>
          <p:cNvSpPr/>
          <p:nvPr/>
        </p:nvSpPr>
        <p:spPr>
          <a:xfrm>
            <a:off x="46800" y="938880"/>
            <a:ext cx="9983520" cy="623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●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The below recipe is written for a simple helloworld.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●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Many applications may have more than one recipes, to support different versions.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●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In that case the common meta data is included in each version specific recipe and is in     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a .inc file.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Example: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linux-yocto_5.4.bb, linux-yocto_5.7.bb files needs a linux-yocto.inc file.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●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We can divide the recipe in main three parts: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●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Header: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header contains the configuration variables that describe the application.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DESCRIPTION: Describe what application does.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HOMEPAGE: URL to the project’s homepage.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LICENSE: The applications license.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Source location: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The source location contains the path to the source that need to be fetched.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SRC_URI defines where and how to retrieve needed elements.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The URI syntax : scheme://url;param1;param2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The scheme might be a local or remote location.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Local locations means the files present in working machine which are represented with file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scheme.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Eg. file://defconfig, Where defconfig is the local file.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Remote locations can be added using git, svn, http etc schemes.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Eg. git://git.yoctoproject.org/linux-yocto.git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CustomShape 1"/>
          <p:cNvSpPr/>
          <p:nvPr/>
        </p:nvSpPr>
        <p:spPr>
          <a:xfrm>
            <a:off x="504000" y="301320"/>
            <a:ext cx="9069480" cy="63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IN" sz="4400" spc="-1" strike="noStrike">
                <a:solidFill>
                  <a:srgbClr val="ffffff"/>
                </a:solidFill>
                <a:latin typeface="Arial"/>
                <a:ea typeface="DejaVu Sans"/>
              </a:rPr>
              <a:t>Development workflow with bitbake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CustomShape 2"/>
          <p:cNvSpPr/>
          <p:nvPr/>
        </p:nvSpPr>
        <p:spPr>
          <a:xfrm>
            <a:off x="185400" y="1185120"/>
            <a:ext cx="9276840" cy="39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Parsing the base configuration metadata: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First bitbake parses the bblayer.conf in order to what all the layer to be recognized, all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necessary layer.conf files and bitbake.conf files.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layer.conf file contains BBPATH and BBFILES variables which will give information about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the conf, class directory and the location of recipes respectively.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The bitbake.conf file contains the metadata such as files specific to the architecture, the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machine, local environment and so forth.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To know the configuration files and class files used in the execution environment, run the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below command,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$ </a:t>
            </a:r>
            <a:r>
              <a:rPr b="1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bitbake -e &gt; env_details.log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CustomShape 1"/>
          <p:cNvSpPr/>
          <p:nvPr/>
        </p:nvSpPr>
        <p:spPr>
          <a:xfrm>
            <a:off x="504000" y="301320"/>
            <a:ext cx="9069480" cy="63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CustomShape 2"/>
          <p:cNvSpPr/>
          <p:nvPr/>
        </p:nvSpPr>
        <p:spPr>
          <a:xfrm>
            <a:off x="66600" y="1015920"/>
            <a:ext cx="9474120" cy="57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Tasks: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Tasks define what to do with the source code.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Packages are written in the form do_ format. Eg. do_fetch() etc.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syntax of a task: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do_task() {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action 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action 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...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Existing tasks can be extended using _append and _prepend.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do_compile() {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oe_runmake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do_install() {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install -d ${D}${bindir}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install -m 0755 hello ${D}${bindir}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=&gt; Execute program in custom-app folder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(/home/XXX/yocto/poky/meta-yocto-experiments/recipes-experiments/custom-app)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CustomShape 1"/>
          <p:cNvSpPr/>
          <p:nvPr/>
        </p:nvSpPr>
        <p:spPr>
          <a:xfrm>
            <a:off x="504000" y="301320"/>
            <a:ext cx="9069480" cy="63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IN" sz="4400" spc="-1" strike="noStrike">
                <a:solidFill>
                  <a:srgbClr val="ffffff"/>
                </a:solidFill>
                <a:latin typeface="Arial"/>
                <a:ea typeface="DejaVu Sans"/>
              </a:rPr>
              <a:t>Adding the custom application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CustomShape 2"/>
          <p:cNvSpPr/>
          <p:nvPr/>
        </p:nvSpPr>
        <p:spPr>
          <a:xfrm>
            <a:off x="247320" y="1179360"/>
            <a:ext cx="9723240" cy="277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●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Here we are adding a simple calculator application as a bin utility.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●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First Download the meta-yocto-experiments layer and add it to the poky source tree.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●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Now source oe-init-build-env and inside the build/conf/bblayers.conf add absolute path of the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meta-yocto-experiments.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●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Build the image using bitbake core-image-minimal command.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Now launch the qemu using runqemu command for more information follow the yocto-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experiments document.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CustomShape 1"/>
          <p:cNvSpPr/>
          <p:nvPr/>
        </p:nvSpPr>
        <p:spPr>
          <a:xfrm>
            <a:off x="504000" y="301320"/>
            <a:ext cx="9069480" cy="63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IN" sz="4400" spc="-1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CustomShape 2"/>
          <p:cNvSpPr/>
          <p:nvPr/>
        </p:nvSpPr>
        <p:spPr>
          <a:xfrm>
            <a:off x="84960" y="1107360"/>
            <a:ext cx="9334800" cy="46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Adding dependencies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●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A recipe can have dependencies at build or run time. To reflect these requirements in the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recipe two variables are used.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DEPENDS: List of recipe build time dependencies.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RDEPENDS: List of the package runtime dependencies. Must be package specific.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●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Examples: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DEPENDS=”recipe-b” : The local do_configure task depends on the do_populate_sysroot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task of recipe-b.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 RDEPENDS_${PN}=”recipe-b” : The local do_build task depends on the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do_package_write_&lt;archive-format&gt; task of recipe-b.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CustomShape 1"/>
          <p:cNvSpPr/>
          <p:nvPr/>
        </p:nvSpPr>
        <p:spPr>
          <a:xfrm>
            <a:off x="504000" y="301320"/>
            <a:ext cx="9069480" cy="63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IN" sz="2400" spc="-1" strike="noStrike">
                <a:solidFill>
                  <a:srgbClr val="ffffff"/>
                </a:solidFill>
                <a:latin typeface="Arial"/>
                <a:ea typeface="DejaVu Sans"/>
              </a:rPr>
              <a:t>Adding the custom library dependent application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CustomShape 2"/>
          <p:cNvSpPr/>
          <p:nvPr/>
        </p:nvSpPr>
        <p:spPr>
          <a:xfrm>
            <a:off x="-37800" y="1113840"/>
            <a:ext cx="9723240" cy="39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Here we are adding a simple shared library with two functions and a dependent binary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application(hello) using those two functions.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●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First Download the meta-yocto-experiments layer and add it to the poky source tree.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●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Now source oe-init-build-env and inside the build/conf/bblayers.conf add absolute path of the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meta-yocto-experiments.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●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Build the image using bitbake core-image-minimal command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Now launch the qemu using runqemu command for more information follow the yocto-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experiments document.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Execute program : yocto/poky/meta-yocto-experiments/recipes-experiments/custom-lib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CustomShape 1"/>
          <p:cNvSpPr/>
          <p:nvPr/>
        </p:nvSpPr>
        <p:spPr>
          <a:xfrm>
            <a:off x="1217160" y="173880"/>
            <a:ext cx="6115680" cy="7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Adding the custom kernel module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CustomShape 2"/>
          <p:cNvSpPr/>
          <p:nvPr/>
        </p:nvSpPr>
        <p:spPr>
          <a:xfrm>
            <a:off x="176040" y="1069200"/>
            <a:ext cx="9723240" cy="39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●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Here we are adding a simple hello-mod.ko to the yocto build.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●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First Download the meta-yocto-experiments layer and add it to the poky source tree.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●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Now source oe-init-build-env and inside the build/conf/bblayers.conf add absolute path of the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Meta-yocto-experiments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MACHINE_ESSENTIAL_EXTRA_RRECOMMENDS += "hello-mod"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●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Build the image using bitbake core-image-sato command.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Now launch the qemu using runqemu command for more information follow the yocto-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experiments document.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Execute program: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/home/rama/yocto/poky/meta-yocto-experiments/recipes-experiments/custom-mod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CustomShape 1"/>
          <p:cNvSpPr/>
          <p:nvPr/>
        </p:nvSpPr>
        <p:spPr>
          <a:xfrm>
            <a:off x="504000" y="301320"/>
            <a:ext cx="9069480" cy="63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IN" sz="2200" spc="-1" strike="noStrike">
                <a:solidFill>
                  <a:srgbClr val="ffffff"/>
                </a:solidFill>
                <a:latin typeface="Arial"/>
                <a:ea typeface="DejaVu Sans"/>
              </a:rPr>
              <a:t>Procedure to change kernel configuration with menuconfig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CustomShape 2"/>
          <p:cNvSpPr/>
          <p:nvPr/>
        </p:nvSpPr>
        <p:spPr>
          <a:xfrm>
            <a:off x="145440" y="1116000"/>
            <a:ext cx="9324000" cy="39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50000"/>
              </a:lnSpc>
            </a:pPr>
            <a:r>
              <a:rPr b="1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$sudo apt-get install screen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$bitbake linux-yocto -c menuconfig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Where,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linux-yocto: is the name of kernel recipes(.bb) files which you can find them in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/opt/yocto/poky/meta/recipes-kernel/linux directory. In my case it is linux-yocto.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$bitbake core-image-sato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$runqemu qemux86-64 nographic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Verify new entry in the qemu build in following file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/lib/modules/5.4.228-yocto-standard/modules.builtin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CustomShape 1"/>
          <p:cNvSpPr/>
          <p:nvPr/>
        </p:nvSpPr>
        <p:spPr>
          <a:xfrm>
            <a:off x="504000" y="301320"/>
            <a:ext cx="9069480" cy="63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IN" sz="2800" spc="-1" strike="noStrike">
                <a:solidFill>
                  <a:srgbClr val="ffffff"/>
                </a:solidFill>
                <a:latin typeface="Arial"/>
                <a:ea typeface="DejaVu Sans"/>
              </a:rPr>
              <a:t>Procedure to apply the kernel patch to existing kernel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CustomShape 2"/>
          <p:cNvSpPr/>
          <p:nvPr/>
        </p:nvSpPr>
        <p:spPr>
          <a:xfrm>
            <a:off x="37800" y="1128600"/>
            <a:ext cx="9999360" cy="46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In order to change the existing kernel recipes, first we need to create a new layer as given below,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1. go to poky directory in the yocto project and create the following directories and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subdirectories,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poky$ mkdir meta-mylayer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poky$ mkdir meta-mylayer/conf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poky$ mkdir meta-mylayer/recipes-kernel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poky$ mkdir meta-mylayer/recipes-kernel/linux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poky$ mkdir meta-mylayer/recipes-kernel/linux/linux-yocto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Where,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meta-mylayer -&gt; The new layer created.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Just after creating the new layer (i.e. meta-mylayer in my case), add the new layer in bblayer.conf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2. Create layer.conf in the meta-mylayer/conf directory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In order to modify the existing kernel we have to follow the below steps: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1. Create the append file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2. Apply patches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3. Changing the configuration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CustomShape 1"/>
          <p:cNvSpPr/>
          <p:nvPr/>
        </p:nvSpPr>
        <p:spPr>
          <a:xfrm>
            <a:off x="504000" y="301320"/>
            <a:ext cx="9069480" cy="63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CustomShape 2"/>
          <p:cNvSpPr/>
          <p:nvPr/>
        </p:nvSpPr>
        <p:spPr>
          <a:xfrm>
            <a:off x="54000" y="1275480"/>
            <a:ext cx="9664920" cy="46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1. Create the append file: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*We have to create a file with .bbappend extension in the meta-mylayer/recipes-kernel/linux/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directory with the name of the recipe you are using from meta/recipes-kernel/linux direcory.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Eg. In my case the recipe I am using is linux-yocto_5.4.bb, So I have created a file with a name of linux-yocto_5.4.bbappend in meta-mylayer/recipes-kernel/linux/ directory with the following content,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FILESEXTRAPATHS_prepend:="${THISDIR}/${PN}:"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SRC_URI_append += "0001-block-patches.patch"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Where,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The append file should initially extend the FILESPATH search path by prepending the directory that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contains your files to the FILESEXTRAPATHS.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For FILESPATH see base.bbclass in meta/classes directory.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${THISDIR}/${PN} - &gt; expands to linux-yocto in the working directory.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0001-block-patches.patch is a patch file which I have created in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meta-mylayer/recipes-kernel/linux/linux-yocto directory.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CustomShape 1"/>
          <p:cNvSpPr/>
          <p:nvPr/>
        </p:nvSpPr>
        <p:spPr>
          <a:xfrm>
            <a:off x="504000" y="301320"/>
            <a:ext cx="9069480" cy="63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CustomShape 2"/>
          <p:cNvSpPr/>
          <p:nvPr/>
        </p:nvSpPr>
        <p:spPr>
          <a:xfrm>
            <a:off x="104400" y="1022760"/>
            <a:ext cx="9563400" cy="57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2. Apply patches: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As explained above 0001-block-patches.patch is a patch file to be applied(In my case) to the existing kernel. You can apply any number of patches by creating patch files in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meta-mylayer/recipes-kernel/linux/linux-yocto directory and adding the file in </a:t>
            </a:r>
            <a:r>
              <a:rPr b="1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.bbappend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file as,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SRC_URI_append += “file://created_file.patch”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Where, created_file specifies the name of the patch file.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3. Changing the configuration: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execute find . -name .config command from ~/build directory to find the kernel configuration file.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Copy the file,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~/build/tmp/work/qemux86_64-poky-linux/linux-yocto/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5.8.18+gitAUTOINC+7883b60d32_3c5d210805-r0/linux-qemux86_64- standard-build/.config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to defconfig file created in the meta-mylayer/recipes-kernel/linux/linux-yocto directory.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Build the Kernel: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container@~ bitbake core-image-minimal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Now you can go to the ~/build/tmp/work-shared/qemux86-64/kernel- source/ directory and check wether the patches are applied or not based on to what source code of the kernel you applied the patches.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5823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2023-07-30T20:29:05Z</dcterms:created>
  <dc:creator/>
  <dc:description/>
  <dc:language>en-IN</dc:language>
  <cp:lastModifiedBy/>
  <dcterms:modified xsi:type="dcterms:W3CDTF">2026-03-04T16:52:41Z</dcterms:modified>
  <cp:revision>85</cp:revision>
  <dc:subject/>
  <dc:title>Blue Curve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