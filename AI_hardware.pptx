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14.png" ContentType="image/png"/>
  <Override PartName="/ppt/media/image18.png" ContentType="image/png"/>
  <Override PartName="/ppt/media/image9.png" ContentType="image/png"/>
  <Override PartName="/ppt/media/image20.png" ContentType="image/png"/>
  <Override PartName="/ppt/media/image12.png" ContentType="image/png"/>
  <Override PartName="/ppt/media/image35.png" ContentType="image/png"/>
  <Override PartName="/ppt/media/image3.png" ContentType="image/png"/>
  <Override PartName="/ppt/media/image13.png" ContentType="image/png"/>
  <Override PartName="/ppt/media/image36.png" ContentType="image/png"/>
  <Override PartName="/ppt/media/image4.png" ContentType="image/png"/>
  <Override PartName="/ppt/media/image30.png" ContentType="image/png"/>
  <Override PartName="/ppt/media/image31.png" ContentType="image/png"/>
  <Override PartName="/ppt/media/image32.png" ContentType="image/png"/>
  <Override PartName="/ppt/media/image40.png" ContentType="image/png"/>
  <Override PartName="/ppt/media/image8.png" ContentType="image/png"/>
  <Override PartName="/ppt/media/image17.png" ContentType="image/png"/>
  <Override PartName="/ppt/media/image11.png" ContentType="image/png"/>
  <Override PartName="/ppt/media/image2.png" ContentType="image/png"/>
  <Override PartName="/ppt/media/image34.png" ContentType="image/png"/>
  <Override PartName="/ppt/media/image39.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38.png" ContentType="image/png"/>
  <Override PartName="/ppt/media/image6.png" ContentType="image/png"/>
  <Override PartName="/ppt/media/image15.png" ContentType="image/png"/>
  <Override PartName="/ppt/media/image37.png" ContentType="image/png"/>
  <Override PartName="/ppt/media/image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
    <p:spTree>
      <p:nvGrpSpPr>
        <p:cNvPr id="1" name=""/>
        <p:cNvGrpSpPr/>
        <p:nvPr/>
      </p:nvGrpSpPr>
      <p:grpSpPr>
        <a:xfrm>
          <a:off x="0" y="0"/>
          <a:ext cx="0" cy="0"/>
          <a:chOff x="0" y="0"/>
          <a:chExt cx="0" cy="0"/>
        </a:xfrm>
      </p:grpSpPr>
      <p:sp>
        <p:nvSpPr>
          <p:cNvPr id="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US" sz="3300" spc="-1" strike="noStrike">
              <a:solidFill>
                <a:srgbClr val="ffffff"/>
              </a:solidFill>
              <a:latin typeface="Arial"/>
            </a:endParaRPr>
          </a:p>
        </p:txBody>
      </p:sp>
      <p:sp>
        <p:nvSpPr>
          <p:cNvPr id="7" name="PlaceHolder 2"/>
          <p:cNvSpPr>
            <a:spLocks noGrp="1"/>
          </p:cNvSpPr>
          <p:nvPr>
            <p:ph/>
          </p:nvPr>
        </p:nvSpPr>
        <p:spPr>
          <a:xfrm>
            <a:off x="360000" y="1080000"/>
            <a:ext cx="9360000" cy="3600000"/>
          </a:xfrm>
          <a:prstGeom prst="rect">
            <a:avLst/>
          </a:prstGeom>
          <a:noFill/>
          <a:ln w="0">
            <a:noFill/>
          </a:ln>
        </p:spPr>
        <p:txBody>
          <a:bodyPr lIns="0" rIns="0" tIns="0" bIns="0" anchor="t">
            <a:noAutofit/>
          </a:bodyPr>
          <a:p>
            <a:pPr indent="0">
              <a:spcBef>
                <a:spcPts val="1060"/>
              </a:spcBef>
              <a:buNone/>
            </a:pPr>
            <a:endParaRPr b="0" lang="en-US" sz="2400" spc="-1" strike="noStrike">
              <a:solidFill>
                <a:srgbClr val="009bdd"/>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F13F1EE-4695-4FAE-B13E-C52F175A107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spTree>
      <p:nvGrpSpPr>
        <p:cNvPr id="1" name=""/>
        <p:cNvGrpSpPr/>
        <p:nvPr/>
      </p:nvGrpSpPr>
      <p:grpSpPr>
        <a:xfrm>
          <a:off x="0" y="0"/>
          <a:ext cx="0" cy="0"/>
          <a:chOff x="0" y="0"/>
          <a:chExt cx="0" cy="0"/>
        </a:xfrm>
      </p:grpSpPr>
      <p:sp>
        <p:nvSpPr>
          <p:cNvPr id="8"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US" sz="3300" spc="-1" strike="noStrike">
              <a:solidFill>
                <a:srgbClr val="ffffff"/>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F20033D-4FCF-46CF-9753-75C214122B51}"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1">
    <p:spTree>
      <p:nvGrpSpPr>
        <p:cNvPr id="1" name=""/>
        <p:cNvGrpSpPr/>
        <p:nvPr/>
      </p:nvGrpSpPr>
      <p:grpSpPr>
        <a:xfrm>
          <a:off x="0" y="0"/>
          <a:ext cx="0" cy="0"/>
          <a:chOff x="0" y="0"/>
          <a:chExt cx="0" cy="0"/>
        </a:xfrm>
      </p:grpSpPr>
      <p:sp>
        <p:nvSpPr>
          <p:cNvPr id="1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US" sz="3300" spc="-1" strike="noStrike">
              <a:solidFill>
                <a:srgbClr val="ffffff"/>
              </a:solidFill>
              <a:latin typeface="Arial"/>
            </a:endParaRPr>
          </a:p>
        </p:txBody>
      </p:sp>
      <p:sp>
        <p:nvSpPr>
          <p:cNvPr id="17" name="PlaceHolder 2"/>
          <p:cNvSpPr>
            <a:spLocks noGrp="1"/>
          </p:cNvSpPr>
          <p:nvPr>
            <p:ph/>
          </p:nvPr>
        </p:nvSpPr>
        <p:spPr>
          <a:xfrm>
            <a:off x="360000" y="1080000"/>
            <a:ext cx="9360000" cy="3600000"/>
          </a:xfrm>
          <a:prstGeom prst="rect">
            <a:avLst/>
          </a:prstGeom>
          <a:noFill/>
          <a:ln w="0">
            <a:noFill/>
          </a:ln>
        </p:spPr>
        <p:txBody>
          <a:bodyPr lIns="0" rIns="0" tIns="0" bIns="0" anchor="t">
            <a:noAutofit/>
          </a:bodyPr>
          <a:p>
            <a:pPr indent="0">
              <a:spcBef>
                <a:spcPts val="1060"/>
              </a:spcBef>
              <a:buNone/>
            </a:pPr>
            <a:endParaRPr b="0" lang="en-US" sz="2400" spc="-1" strike="noStrike">
              <a:solidFill>
                <a:srgbClr val="009bdd"/>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1E424E1-8651-492E-B206-70ECB0296190}" type="slidenum">
              <a:t>&lt;#&gt;</a:t>
            </a:fld>
          </a:p>
        </p:txBody>
      </p:sp>
      <p:sp>
        <p:nvSpPr>
          <p:cNvPr id="6" name="PlaceHolder 5"/>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flipH="1" flipV="1">
            <a:off x="0" y="4500000"/>
            <a:ext cx="10080000" cy="11700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US" sz="1800" spc="-1" strike="noStrike">
              <a:solidFill>
                <a:srgbClr val="ffffff"/>
              </a:solidFill>
              <a:latin typeface="Arial"/>
            </a:endParaRPr>
          </a:p>
        </p:txBody>
      </p:sp>
      <p:sp>
        <p:nvSpPr>
          <p:cNvPr id="1" name="PlaceHolder 1"/>
          <p:cNvSpPr>
            <a:spLocks noGrp="1"/>
          </p:cNvSpPr>
          <p:nvPr>
            <p:ph type="title"/>
          </p:nvPr>
        </p:nvSpPr>
        <p:spPr>
          <a:xfrm>
            <a:off x="0" y="1620000"/>
            <a:ext cx="9000000" cy="1080000"/>
          </a:xfrm>
          <a:prstGeom prst="rect">
            <a:avLst/>
          </a:prstGeom>
          <a:noFill/>
          <a:ln w="0">
            <a:noFill/>
          </a:ln>
        </p:spPr>
        <p:txBody>
          <a:bodyPr lIns="0" rIns="0" tIns="0" bIns="0" anchor="ctr">
            <a:noAutofit/>
          </a:bodyPr>
          <a:p>
            <a:pPr indent="0" algn="ctr">
              <a:buNone/>
            </a:pPr>
            <a:r>
              <a:rPr b="0" lang="en-US" sz="3300" spc="-1" strike="noStrike">
                <a:solidFill>
                  <a:srgbClr val="dd4100"/>
                </a:solidFill>
                <a:latin typeface="Arial"/>
              </a:rPr>
              <a:t>Click to edit the </a:t>
            </a:r>
            <a:r>
              <a:rPr b="0" lang="en-US" sz="3300" spc="-1" strike="noStrike">
                <a:solidFill>
                  <a:srgbClr val="dd4100"/>
                </a:solidFill>
                <a:latin typeface="Arial"/>
              </a:rPr>
              <a:t>title text format</a:t>
            </a:r>
            <a:endParaRPr b="0" lang="en-US" sz="3300" spc="-1" strike="noStrike">
              <a:solidFill>
                <a:srgbClr val="dd4100"/>
              </a:solidFill>
              <a:latin typeface="Arial"/>
            </a:endParaRPr>
          </a:p>
        </p:txBody>
      </p:sp>
      <p:sp>
        <p:nvSpPr>
          <p:cNvPr id="2" name="PlaceHolder 2"/>
          <p:cNvSpPr>
            <a:spLocks noGrp="1"/>
          </p:cNvSpPr>
          <p:nvPr>
            <p:ph type="body"/>
          </p:nvPr>
        </p:nvSpPr>
        <p:spPr>
          <a:xfrm>
            <a:off x="360000" y="2880000"/>
            <a:ext cx="9360000" cy="1620000"/>
          </a:xfrm>
          <a:prstGeom prst="rect">
            <a:avLst/>
          </a:prstGeom>
          <a:noFill/>
          <a:ln w="0">
            <a:noFill/>
          </a:ln>
        </p:spPr>
        <p:txBody>
          <a:bodyPr lIns="0" rIns="0" tIns="0" bIns="0" anchor="t">
            <a:normAutofit fontScale="76219"/>
          </a:bodyPr>
          <a:p>
            <a:pPr marL="432000" indent="-324000">
              <a:spcBef>
                <a:spcPts val="1060"/>
              </a:spcBef>
              <a:buClr>
                <a:srgbClr val="77caee"/>
              </a:buClr>
              <a:buSzPct val="45000"/>
              <a:buFont typeface="Wingdings" charset="2"/>
              <a:buChar char=""/>
            </a:pPr>
            <a:r>
              <a:rPr b="0" lang="en-US" sz="2400" spc="-1" strike="noStrike">
                <a:solidFill>
                  <a:srgbClr val="009bdd"/>
                </a:solidFill>
                <a:latin typeface="Arial"/>
              </a:rPr>
              <a:t>Click to edit the outline text format</a:t>
            </a:r>
            <a:endParaRPr b="0" lang="en-US"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US" sz="2100" spc="-1" strike="noStrike">
                <a:solidFill>
                  <a:srgbClr val="009bdd"/>
                </a:solidFill>
                <a:latin typeface="Arial"/>
              </a:rPr>
              <a:t>Second Outline Level</a:t>
            </a:r>
            <a:endParaRPr b="0" lang="en-US"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en-US" sz="1800" spc="-1" strike="noStrike">
                <a:solidFill>
                  <a:srgbClr val="009bdd"/>
                </a:solidFill>
                <a:latin typeface="Arial"/>
              </a:rPr>
              <a:t>Third Outline Level</a:t>
            </a:r>
            <a:endParaRPr b="0" lang="en-US"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en-US" sz="1500" spc="-1" strike="noStrike">
                <a:solidFill>
                  <a:srgbClr val="009bdd"/>
                </a:solidFill>
                <a:latin typeface="Arial"/>
              </a:rPr>
              <a:t>Fourth Outline Level</a:t>
            </a:r>
            <a:endParaRPr b="0" lang="en-US"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en-US" sz="1500" spc="-1" strike="noStrike">
                <a:solidFill>
                  <a:srgbClr val="009bdd"/>
                </a:solidFill>
                <a:latin typeface="Arial"/>
              </a:rPr>
              <a:t>Fifth Outline Level</a:t>
            </a:r>
            <a:endParaRPr b="0" lang="en-US"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en-US" sz="1500" spc="-1" strike="noStrike">
                <a:solidFill>
                  <a:srgbClr val="009bdd"/>
                </a:solidFill>
                <a:latin typeface="Arial"/>
              </a:rPr>
              <a:t>Sixth Outline Level</a:t>
            </a:r>
            <a:endParaRPr b="0" lang="en-US"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en-US" sz="1500" spc="-1" strike="noStrike">
                <a:solidFill>
                  <a:srgbClr val="009bdd"/>
                </a:solidFill>
                <a:latin typeface="Arial"/>
              </a:rPr>
              <a:t>Seventh Outline Level</a:t>
            </a:r>
            <a:endParaRPr b="0" lang="en-US" sz="1500" spc="-1" strike="noStrike">
              <a:solidFill>
                <a:srgbClr val="009bdd"/>
              </a:solidFill>
              <a:latin typeface="Arial"/>
            </a:endParaRPr>
          </a:p>
        </p:txBody>
      </p:sp>
      <p:sp>
        <p:nvSpPr>
          <p:cNvPr id="3" name="PlaceHolder 3"/>
          <p:cNvSpPr>
            <a:spLocks noGrp="1"/>
          </p:cNvSpPr>
          <p:nvPr>
            <p:ph type="dt" idx="1"/>
          </p:nvPr>
        </p:nvSpPr>
        <p:spPr>
          <a:xfrm>
            <a:off x="360000" y="5220000"/>
            <a:ext cx="2340000" cy="360000"/>
          </a:xfrm>
          <a:prstGeom prst="rect">
            <a:avLst/>
          </a:prstGeom>
          <a:noFill/>
          <a:ln w="0">
            <a:noFill/>
          </a:ln>
        </p:spPr>
        <p:txBody>
          <a:bodyPr lIns="0" rIns="0" tIns="0" bIns="0" anchor="t">
            <a:noAutofit/>
          </a:bodyPr>
          <a:lstStyle>
            <a:lvl1pPr indent="0">
              <a:buNone/>
              <a:defRPr b="0" lang="en-US" sz="1400" spc="-1" strike="noStrike">
                <a:solidFill>
                  <a:srgbClr val="ffffff"/>
                </a:solidFill>
                <a:latin typeface="Arial"/>
              </a:defRPr>
            </a:lvl1pPr>
          </a:lstStyle>
          <a:p>
            <a:pPr indent="0">
              <a:buNone/>
            </a:pPr>
            <a:r>
              <a:rPr b="0" lang="en-US" sz="1400" spc="-1" strike="noStrike">
                <a:solidFill>
                  <a:srgbClr val="ffffff"/>
                </a:solidFill>
                <a:latin typeface="Arial"/>
              </a:rPr>
              <a:t>&lt;date/time&gt;</a:t>
            </a:r>
            <a:endParaRPr b="0" lang="en-US" sz="1400" spc="-1" strike="noStrike">
              <a:solidFill>
                <a:srgbClr val="ffffff"/>
              </a:solidFill>
              <a:latin typeface="Arial"/>
            </a:endParaRPr>
          </a:p>
        </p:txBody>
      </p:sp>
      <p:sp>
        <p:nvSpPr>
          <p:cNvPr id="4" name="PlaceHolder 4"/>
          <p:cNvSpPr>
            <a:spLocks noGrp="1"/>
          </p:cNvSpPr>
          <p:nvPr>
            <p:ph type="ftr" idx="2"/>
          </p:nvPr>
        </p:nvSpPr>
        <p:spPr>
          <a:xfrm>
            <a:off x="3420000" y="5220000"/>
            <a:ext cx="3240000" cy="360000"/>
          </a:xfrm>
          <a:prstGeom prst="rect">
            <a:avLst/>
          </a:prstGeom>
          <a:noFill/>
          <a:ln w="0">
            <a:noFill/>
          </a:ln>
        </p:spPr>
        <p:txBody>
          <a:bodyPr lIns="0" rIns="0" tIns="0" bIns="0" anchor="t">
            <a:noAutofit/>
          </a:bodyPr>
          <a:lstStyle>
            <a:lvl1pPr indent="0" algn="ctr">
              <a:buNone/>
              <a:defRPr b="0" lang="en-US" sz="1400" spc="-1" strike="noStrike">
                <a:solidFill>
                  <a:srgbClr val="ffffff"/>
                </a:solidFill>
                <a:latin typeface="Arial"/>
              </a:defRPr>
            </a:lvl1pPr>
          </a:lstStyle>
          <a:p>
            <a:pPr indent="0" algn="ctr">
              <a:buNone/>
            </a:pPr>
            <a:r>
              <a:rPr b="0" lang="en-US" sz="1400" spc="-1" strike="noStrike">
                <a:solidFill>
                  <a:srgbClr val="ffffff"/>
                </a:solidFill>
                <a:latin typeface="Arial"/>
              </a:rPr>
              <a:t>&lt;footer&gt;</a:t>
            </a:r>
            <a:endParaRPr b="0" lang="en-US" sz="1400" spc="-1" strike="noStrike">
              <a:solidFill>
                <a:srgbClr val="ffffff"/>
              </a:solidFill>
              <a:latin typeface="Arial"/>
            </a:endParaRPr>
          </a:p>
        </p:txBody>
      </p:sp>
      <p:sp>
        <p:nvSpPr>
          <p:cNvPr id="5" name="PlaceHolder 5"/>
          <p:cNvSpPr>
            <a:spLocks noGrp="1"/>
          </p:cNvSpPr>
          <p:nvPr>
            <p:ph type="sldNum" idx="3"/>
          </p:nvPr>
        </p:nvSpPr>
        <p:spPr>
          <a:xfrm>
            <a:off x="7380000" y="5220000"/>
            <a:ext cx="2340000" cy="360000"/>
          </a:xfrm>
          <a:prstGeom prst="rect">
            <a:avLst/>
          </a:prstGeom>
          <a:noFill/>
          <a:ln w="0">
            <a:noFill/>
          </a:ln>
        </p:spPr>
        <p:txBody>
          <a:bodyPr lIns="0" rIns="0" tIns="0" bIns="0" anchor="t">
            <a:noAutofit/>
          </a:bodyPr>
          <a:lstStyle>
            <a:lvl1pPr indent="0" algn="r">
              <a:buNone/>
              <a:defRPr b="0" lang="en-US" sz="1400" spc="-1" strike="noStrike">
                <a:solidFill>
                  <a:srgbClr val="ffffff"/>
                </a:solidFill>
                <a:latin typeface="Arial"/>
              </a:defRPr>
            </a:lvl1pPr>
          </a:lstStyle>
          <a:p>
            <a:pPr indent="0" algn="r">
              <a:buNone/>
            </a:pPr>
            <a:fld id="{3726E5BE-A049-439A-9B9A-D949A1C94876}" type="slidenum">
              <a:rPr b="0" lang="en-US" sz="1400" spc="-1" strike="noStrike">
                <a:solidFill>
                  <a:srgbClr val="ffffff"/>
                </a:solidFill>
                <a:latin typeface="Arial"/>
              </a:rPr>
              <a:t>&lt;number&gt;</a:t>
            </a:fld>
            <a:endParaRPr b="0" lang="en-US"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
          <p:cNvSpPr/>
          <p:nvPr/>
        </p:nvSpPr>
        <p:spPr>
          <a:xfrm>
            <a:off x="0" y="0"/>
            <a:ext cx="10076760" cy="7200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US" sz="1800" spc="-1" strike="noStrike">
              <a:solidFill>
                <a:srgbClr val="ffffff"/>
              </a:solidFill>
              <a:latin typeface="Arial"/>
            </a:endParaRPr>
          </a:p>
        </p:txBody>
      </p:sp>
      <p:sp>
        <p:nvSpPr>
          <p:cNvPr id="10" name=""/>
          <p:cNvSpPr/>
          <p:nvPr/>
        </p:nvSpPr>
        <p:spPr>
          <a:xfrm>
            <a:off x="3240" y="5040000"/>
            <a:ext cx="10076760" cy="6314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US" sz="1800" spc="-1" strike="noStrike">
              <a:solidFill>
                <a:srgbClr val="ffffff"/>
              </a:solidFill>
              <a:latin typeface="Arial"/>
            </a:endParaRPr>
          </a:p>
        </p:txBody>
      </p:sp>
      <p:sp>
        <p:nvSpPr>
          <p:cNvPr id="1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US" sz="3300" spc="-1" strike="noStrike">
                <a:solidFill>
                  <a:srgbClr val="ffffff"/>
                </a:solidFill>
                <a:latin typeface="Arial"/>
              </a:rPr>
              <a:t>Click to </a:t>
            </a:r>
            <a:r>
              <a:rPr b="0" lang="en-US" sz="3300" spc="-1" strike="noStrike">
                <a:solidFill>
                  <a:srgbClr val="ffffff"/>
                </a:solidFill>
                <a:latin typeface="Arial"/>
              </a:rPr>
              <a:t>edit the </a:t>
            </a:r>
            <a:r>
              <a:rPr b="0" lang="en-US" sz="3300" spc="-1" strike="noStrike">
                <a:solidFill>
                  <a:srgbClr val="ffffff"/>
                </a:solidFill>
                <a:latin typeface="Arial"/>
              </a:rPr>
              <a:t>title text </a:t>
            </a:r>
            <a:r>
              <a:rPr b="0" lang="en-US" sz="3300" spc="-1" strike="noStrike">
                <a:solidFill>
                  <a:srgbClr val="ffffff"/>
                </a:solidFill>
                <a:latin typeface="Arial"/>
              </a:rPr>
              <a:t>format</a:t>
            </a:r>
            <a:endParaRPr b="0" lang="en-US" sz="3300" spc="-1" strike="noStrike">
              <a:solidFill>
                <a:srgbClr val="ffffff"/>
              </a:solidFill>
              <a:latin typeface="Arial"/>
            </a:endParaRPr>
          </a:p>
        </p:txBody>
      </p:sp>
      <p:sp>
        <p:nvSpPr>
          <p:cNvPr id="12" name="PlaceHolder 2"/>
          <p:cNvSpPr>
            <a:spLocks noGrp="1"/>
          </p:cNvSpPr>
          <p:nvPr>
            <p:ph type="body"/>
          </p:nvPr>
        </p:nvSpPr>
        <p:spPr>
          <a:xfrm>
            <a:off x="360000" y="1080000"/>
            <a:ext cx="9360000" cy="3600000"/>
          </a:xfrm>
          <a:prstGeom prst="rect">
            <a:avLst/>
          </a:prstGeom>
          <a:noFill/>
          <a:ln w="0">
            <a:noFill/>
          </a:ln>
        </p:spPr>
        <p:txBody>
          <a:bodyPr lIns="0" rIns="0" tIns="0" bIns="0" anchor="t">
            <a:noAutofit/>
          </a:bodyPr>
          <a:p>
            <a:pPr marL="432000" indent="-324000">
              <a:spcBef>
                <a:spcPts val="1060"/>
              </a:spcBef>
              <a:buClr>
                <a:srgbClr val="77caee"/>
              </a:buClr>
              <a:buSzPct val="45000"/>
              <a:buFont typeface="Wingdings" charset="2"/>
              <a:buChar char=""/>
            </a:pPr>
            <a:r>
              <a:rPr b="0" lang="en-US" sz="2400" spc="-1" strike="noStrike">
                <a:solidFill>
                  <a:srgbClr val="009bdd"/>
                </a:solidFill>
                <a:latin typeface="Arial"/>
              </a:rPr>
              <a:t>Click to edit the outline text format</a:t>
            </a:r>
            <a:endParaRPr b="0" lang="en-US"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US" sz="2100" spc="-1" strike="noStrike">
                <a:solidFill>
                  <a:srgbClr val="009bdd"/>
                </a:solidFill>
                <a:latin typeface="Arial"/>
              </a:rPr>
              <a:t>Second Outline Level</a:t>
            </a:r>
            <a:endParaRPr b="0" lang="en-US"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en-US" sz="1800" spc="-1" strike="noStrike">
                <a:solidFill>
                  <a:srgbClr val="009bdd"/>
                </a:solidFill>
                <a:latin typeface="Arial"/>
              </a:rPr>
              <a:t>Third Outline Level</a:t>
            </a:r>
            <a:endParaRPr b="0" lang="en-US"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en-US" sz="1500" spc="-1" strike="noStrike">
                <a:solidFill>
                  <a:srgbClr val="009bdd"/>
                </a:solidFill>
                <a:latin typeface="Arial"/>
              </a:rPr>
              <a:t>Fourth Outline Level</a:t>
            </a:r>
            <a:endParaRPr b="0" lang="en-US"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en-US" sz="1500" spc="-1" strike="noStrike">
                <a:solidFill>
                  <a:srgbClr val="009bdd"/>
                </a:solidFill>
                <a:latin typeface="Arial"/>
              </a:rPr>
              <a:t>Fifth Outline Level</a:t>
            </a:r>
            <a:endParaRPr b="0" lang="en-US"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en-US" sz="1500" spc="-1" strike="noStrike">
                <a:solidFill>
                  <a:srgbClr val="009bdd"/>
                </a:solidFill>
                <a:latin typeface="Arial"/>
              </a:rPr>
              <a:t>Sixth Outline Level</a:t>
            </a:r>
            <a:endParaRPr b="0" lang="en-US"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en-US" sz="1500" spc="-1" strike="noStrike">
                <a:solidFill>
                  <a:srgbClr val="009bdd"/>
                </a:solidFill>
                <a:latin typeface="Arial"/>
              </a:rPr>
              <a:t>Seventh Outline Level</a:t>
            </a:r>
            <a:endParaRPr b="0" lang="en-US" sz="1500" spc="-1" strike="noStrike">
              <a:solidFill>
                <a:srgbClr val="009bdd"/>
              </a:solidFill>
              <a:latin typeface="Arial"/>
            </a:endParaRPr>
          </a:p>
        </p:txBody>
      </p:sp>
      <p:sp>
        <p:nvSpPr>
          <p:cNvPr id="13" name="PlaceHolder 3"/>
          <p:cNvSpPr>
            <a:spLocks noGrp="1"/>
          </p:cNvSpPr>
          <p:nvPr>
            <p:ph type="dt" idx="4"/>
          </p:nvPr>
        </p:nvSpPr>
        <p:spPr>
          <a:xfrm>
            <a:off x="360000" y="5220000"/>
            <a:ext cx="2340000" cy="360000"/>
          </a:xfrm>
          <a:prstGeom prst="rect">
            <a:avLst/>
          </a:prstGeom>
          <a:noFill/>
          <a:ln w="0">
            <a:noFill/>
          </a:ln>
        </p:spPr>
        <p:txBody>
          <a:bodyPr lIns="0" rIns="0" tIns="0" bIns="0" anchor="t">
            <a:noAutofit/>
          </a:bodyPr>
          <a:lstStyle>
            <a:lvl1pPr indent="0">
              <a:buNone/>
              <a:defRPr b="0" lang="en-US" sz="1400" spc="-1" strike="noStrike">
                <a:solidFill>
                  <a:srgbClr val="ffffff"/>
                </a:solidFill>
                <a:latin typeface="Arial"/>
              </a:defRPr>
            </a:lvl1pPr>
          </a:lstStyle>
          <a:p>
            <a:pPr indent="0">
              <a:buNone/>
            </a:pPr>
            <a:r>
              <a:rPr b="0" lang="en-US" sz="1400" spc="-1" strike="noStrike">
                <a:solidFill>
                  <a:srgbClr val="ffffff"/>
                </a:solidFill>
                <a:latin typeface="Arial"/>
              </a:rPr>
              <a:t>&lt;date/time&gt;</a:t>
            </a:r>
            <a:endParaRPr b="0" lang="en-US" sz="1400" spc="-1" strike="noStrike">
              <a:solidFill>
                <a:srgbClr val="ffffff"/>
              </a:solidFill>
              <a:latin typeface="Arial"/>
            </a:endParaRPr>
          </a:p>
        </p:txBody>
      </p:sp>
      <p:sp>
        <p:nvSpPr>
          <p:cNvPr id="14" name="PlaceHolder 4"/>
          <p:cNvSpPr>
            <a:spLocks noGrp="1"/>
          </p:cNvSpPr>
          <p:nvPr>
            <p:ph type="ftr" idx="5"/>
          </p:nvPr>
        </p:nvSpPr>
        <p:spPr>
          <a:xfrm>
            <a:off x="3420000" y="5220000"/>
            <a:ext cx="3240000" cy="360000"/>
          </a:xfrm>
          <a:prstGeom prst="rect">
            <a:avLst/>
          </a:prstGeom>
          <a:noFill/>
          <a:ln w="0">
            <a:noFill/>
          </a:ln>
        </p:spPr>
        <p:txBody>
          <a:bodyPr lIns="0" rIns="0" tIns="0" bIns="0" anchor="t">
            <a:noAutofit/>
          </a:bodyPr>
          <a:lstStyle>
            <a:lvl1pPr indent="0" algn="ctr">
              <a:buNone/>
              <a:defRPr b="0" lang="en-US" sz="1400" spc="-1" strike="noStrike">
                <a:solidFill>
                  <a:srgbClr val="ffffff"/>
                </a:solidFill>
                <a:latin typeface="Arial"/>
              </a:defRPr>
            </a:lvl1pPr>
          </a:lstStyle>
          <a:p>
            <a:pPr indent="0" algn="ctr">
              <a:buNone/>
            </a:pPr>
            <a:r>
              <a:rPr b="0" lang="en-US" sz="1400" spc="-1" strike="noStrike">
                <a:solidFill>
                  <a:srgbClr val="ffffff"/>
                </a:solidFill>
                <a:latin typeface="Arial"/>
              </a:rPr>
              <a:t>&lt;footer&gt;</a:t>
            </a:r>
            <a:endParaRPr b="0" lang="en-US" sz="1400" spc="-1" strike="noStrike">
              <a:solidFill>
                <a:srgbClr val="ffffff"/>
              </a:solidFill>
              <a:latin typeface="Arial"/>
            </a:endParaRPr>
          </a:p>
        </p:txBody>
      </p:sp>
      <p:sp>
        <p:nvSpPr>
          <p:cNvPr id="15" name="PlaceHolder 5"/>
          <p:cNvSpPr>
            <a:spLocks noGrp="1"/>
          </p:cNvSpPr>
          <p:nvPr>
            <p:ph type="sldNum" idx="6"/>
          </p:nvPr>
        </p:nvSpPr>
        <p:spPr>
          <a:xfrm>
            <a:off x="7380000" y="5220000"/>
            <a:ext cx="2340000" cy="360000"/>
          </a:xfrm>
          <a:prstGeom prst="rect">
            <a:avLst/>
          </a:prstGeom>
          <a:noFill/>
          <a:ln w="0">
            <a:noFill/>
          </a:ln>
        </p:spPr>
        <p:txBody>
          <a:bodyPr lIns="0" rIns="0" tIns="0" bIns="0" anchor="t">
            <a:noAutofit/>
          </a:bodyPr>
          <a:lstStyle>
            <a:lvl1pPr indent="0" algn="r">
              <a:buNone/>
              <a:defRPr b="0" lang="en-US" sz="1400" spc="-1" strike="noStrike">
                <a:solidFill>
                  <a:srgbClr val="ffffff"/>
                </a:solidFill>
                <a:latin typeface="Arial"/>
              </a:defRPr>
            </a:lvl1pPr>
          </a:lstStyle>
          <a:p>
            <a:pPr indent="0" algn="r">
              <a:buNone/>
            </a:pPr>
            <a:fld id="{1FD207F8-73F2-4152-A2D9-6A82DCC29199}" type="slidenum">
              <a:rPr b="0" lang="en-US" sz="1400" spc="-1" strike="noStrike">
                <a:solidFill>
                  <a:srgbClr val="ffffff"/>
                </a:solidFill>
                <a:latin typeface="Arial"/>
              </a:rPr>
              <a:t>&lt;number&gt;</a:t>
            </a:fld>
            <a:endParaRPr b="0" lang="en-US"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hyperlink" Target="https://aws.amazon.com/" TargetMode="External"/><Relationship Id="rId3"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hyperlink" Target="https://www.nvidia.com/en-us/autonomous-machines/embedded-systems/jetson-orin/" TargetMode="External"/><Relationship Id="rId5" Type="http://schemas.openxmlformats.org/officeDocument/2006/relationships/hyperlink" Target="https://coral.ai/products/dev-board/" TargetMode="External"/><Relationship Id="rId6" Type="http://schemas.openxmlformats.org/officeDocument/2006/relationships/image" Target="../media/image12.png"/><Relationship Id="rId7"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hyperlink" Target="https://www.amd.com/en/products/system-on-modules/kria/k26.html" TargetMode="External"/><Relationship Id="rId3" Type="http://schemas.openxmlformats.org/officeDocument/2006/relationships/hyperlink" Target="https://www.thundercomm.com/product/qualcomm-robotics-rb5-development-kit/#:~:text=%23%20On,AI%29%20Engine" TargetMode="External"/><Relationship Id="rId4" Type="http://schemas.openxmlformats.org/officeDocument/2006/relationships/image" Target="../media/image14.png"/><Relationship Id="rId5"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hyperlink" Target="https://www.google.com/search?ibp=oshop&amp;prds=pvt:hg,pvo:29,imageDocid:3881699956856072954,headlineOfferDocid:8449552074686971982,productDocid:8449552074686971982&amp;q=product&amp;sa=X&amp;ved=2ahUKEwiZ3eie1YORAxW6U0EAHVjwDiQQxa4PegYIAQgUEAQ" TargetMode="External"/><Relationship Id="rId2"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hyperlink" Target="https://www.rfc-editor.org/rfc/rfc5040" TargetMode="Externa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144000" y="228600"/>
            <a:ext cx="9000000" cy="1404360"/>
          </a:xfrm>
          <a:prstGeom prst="rect">
            <a:avLst/>
          </a:prstGeom>
          <a:noFill/>
          <a:ln w="0">
            <a:noFill/>
          </a:ln>
        </p:spPr>
        <p:txBody>
          <a:bodyPr lIns="0" rIns="0" tIns="0" bIns="0" anchor="ctr">
            <a:noAutofit/>
          </a:bodyPr>
          <a:p>
            <a:pPr indent="0" algn="ctr">
              <a:buNone/>
            </a:pPr>
            <a:r>
              <a:rPr b="1" lang="en-US" sz="3300" spc="-1" strike="noStrike">
                <a:solidFill>
                  <a:srgbClr val="dd4100"/>
                </a:solidFill>
                <a:latin typeface="Arial"/>
              </a:rPr>
              <a:t>The Hidden Hardware of AI</a:t>
            </a:r>
            <a:br>
              <a:rPr sz="3300"/>
            </a:br>
            <a:r>
              <a:rPr b="1" lang="en-US" sz="3300" spc="-1" strike="noStrike">
                <a:solidFill>
                  <a:srgbClr val="81d41a"/>
                </a:solidFill>
                <a:latin typeface="Arial"/>
              </a:rPr>
              <a:t>From Embedded Systems to Data center networking and storage</a:t>
            </a:r>
            <a:endParaRPr b="0" lang="en-US" sz="3300" spc="-1" strike="noStrike">
              <a:solidFill>
                <a:srgbClr val="dd4100"/>
              </a:solidFill>
              <a:latin typeface="Arial"/>
            </a:endParaRPr>
          </a:p>
        </p:txBody>
      </p:sp>
      <p:pic>
        <p:nvPicPr>
          <p:cNvPr id="19" name="" descr=""/>
          <p:cNvPicPr/>
          <p:nvPr/>
        </p:nvPicPr>
        <p:blipFill>
          <a:blip r:embed="rId1"/>
          <a:stretch/>
        </p:blipFill>
        <p:spPr>
          <a:xfrm>
            <a:off x="457200" y="1866600"/>
            <a:ext cx="4114800" cy="2705400"/>
          </a:xfrm>
          <a:prstGeom prst="rect">
            <a:avLst/>
          </a:prstGeom>
          <a:ln w="18000">
            <a:noFill/>
          </a:ln>
        </p:spPr>
      </p:pic>
      <p:pic>
        <p:nvPicPr>
          <p:cNvPr id="20" name="" descr=""/>
          <p:cNvPicPr/>
          <p:nvPr/>
        </p:nvPicPr>
        <p:blipFill>
          <a:blip r:embed="rId2"/>
          <a:stretch/>
        </p:blipFill>
        <p:spPr>
          <a:xfrm>
            <a:off x="4800600" y="1828800"/>
            <a:ext cx="4572000" cy="2615040"/>
          </a:xfrm>
          <a:prstGeom prst="rect">
            <a:avLst/>
          </a:prstGeom>
          <a:ln w="1800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12600" y="46800"/>
            <a:ext cx="10045800" cy="707040"/>
          </a:xfrm>
          <a:prstGeom prst="rect">
            <a:avLst/>
          </a:prstGeom>
          <a:noFill/>
          <a:ln w="0">
            <a:noFill/>
          </a:ln>
        </p:spPr>
        <p:txBody>
          <a:bodyPr lIns="0" rIns="0" tIns="0" bIns="0" anchor="ctr">
            <a:noAutofit/>
          </a:bodyPr>
          <a:p>
            <a:pPr indent="0">
              <a:spcBef>
                <a:spcPts val="1060"/>
              </a:spcBef>
              <a:buNone/>
            </a:pPr>
            <a:r>
              <a:rPr b="1" lang="en-US" sz="1500" spc="-1" strike="noStrike">
                <a:solidFill>
                  <a:srgbClr val="ffffff"/>
                </a:solidFill>
                <a:latin typeface="Arial"/>
              </a:rPr>
              <a:t>The Hidden Hardware of AI :  </a:t>
            </a:r>
            <a:r>
              <a:rPr b="1" lang="en-US" sz="1500" spc="-1" strike="noStrike">
                <a:solidFill>
                  <a:srgbClr val="ffffff"/>
                </a:solidFill>
                <a:latin typeface="Arial"/>
              </a:rPr>
              <a:t>	</a:t>
            </a:r>
            <a:r>
              <a:rPr b="1" lang="en-US" sz="1500" spc="-1" strike="noStrike">
                <a:solidFill>
                  <a:srgbClr val="800080"/>
                </a:solidFill>
                <a:latin typeface="Arial"/>
              </a:rPr>
              <a:t>From Embedded Systems to Data center networking and storage</a:t>
            </a:r>
            <a:br>
              <a:rPr sz="1500"/>
            </a:br>
            <a:br>
              <a:rPr sz="1500"/>
            </a:br>
            <a:r>
              <a:rPr b="1" lang="en-US" sz="2000" spc="-1" strike="noStrike">
                <a:solidFill>
                  <a:srgbClr val="ff8000"/>
                </a:solidFill>
                <a:latin typeface="Arial"/>
              </a:rPr>
              <a:t>Understanding Hardware backbone of Modern AI</a:t>
            </a:r>
            <a:endParaRPr b="0" lang="en-US" sz="2000" spc="-1" strike="noStrike">
              <a:solidFill>
                <a:srgbClr val="ffffff"/>
              </a:solidFill>
              <a:latin typeface="Arial"/>
            </a:endParaRPr>
          </a:p>
        </p:txBody>
      </p:sp>
      <p:sp>
        <p:nvSpPr>
          <p:cNvPr id="22" name="PlaceHolder 2"/>
          <p:cNvSpPr>
            <a:spLocks noGrp="1"/>
          </p:cNvSpPr>
          <p:nvPr>
            <p:ph/>
          </p:nvPr>
        </p:nvSpPr>
        <p:spPr>
          <a:xfrm>
            <a:off x="432000" y="322200"/>
            <a:ext cx="9360000" cy="5164200"/>
          </a:xfrm>
          <a:prstGeom prst="rect">
            <a:avLst/>
          </a:prstGeom>
          <a:noFill/>
          <a:ln w="0">
            <a:noFill/>
          </a:ln>
        </p:spPr>
        <p:txBody>
          <a:bodyPr lIns="0" rIns="0" tIns="0" bIns="0" anchor="t">
            <a:noAutofit/>
          </a:bodyPr>
          <a:p>
            <a:pPr marL="432000" indent="0">
              <a:spcBef>
                <a:spcPts val="1060"/>
              </a:spcBef>
              <a:buNone/>
            </a:pPr>
            <a:endParaRPr b="0" lang="en-US" sz="2000" spc="-1" strike="noStrike">
              <a:solidFill>
                <a:srgbClr val="009bdd"/>
              </a:solidFill>
              <a:latin typeface="Arial"/>
            </a:endParaRPr>
          </a:p>
          <a:p>
            <a:pPr marL="432000" indent="0">
              <a:spcBef>
                <a:spcPts val="1060"/>
              </a:spcBef>
              <a:buNone/>
            </a:pPr>
            <a:r>
              <a:rPr b="1" lang="en-US" sz="2800" spc="-1" strike="noStrike">
                <a:solidFill>
                  <a:srgbClr val="009bdd"/>
                </a:solidFill>
                <a:latin typeface="Arial"/>
              </a:rPr>
              <a:t>Agenda</a:t>
            </a:r>
            <a:endParaRPr b="0" lang="en-US" sz="28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81d41a"/>
                </a:solidFill>
                <a:latin typeface="Arial"/>
              </a:rPr>
              <a:t> </a:t>
            </a:r>
            <a:r>
              <a:rPr b="0" lang="en-US" sz="2000" spc="-1" strike="noStrike">
                <a:solidFill>
                  <a:srgbClr val="81d41a"/>
                </a:solidFill>
                <a:latin typeface="Arial"/>
              </a:rPr>
              <a:t>AI Innovation Stack</a:t>
            </a:r>
            <a:endParaRPr b="0" lang="en-US" sz="20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81d41a"/>
                </a:solidFill>
                <a:latin typeface="Arial"/>
              </a:rPr>
              <a:t> </a:t>
            </a:r>
            <a:r>
              <a:rPr b="0" lang="en-US" sz="2000" spc="-1" strike="noStrike">
                <a:solidFill>
                  <a:srgbClr val="81d41a"/>
                </a:solidFill>
                <a:latin typeface="Arial"/>
              </a:rPr>
              <a:t>Embedded Systems and Edge AI</a:t>
            </a:r>
            <a:br>
              <a:rPr sz="2000"/>
            </a:br>
            <a:br>
              <a:rPr sz="2000"/>
            </a:br>
            <a:r>
              <a:rPr b="0" lang="en-US" sz="2000" spc="-1" strike="noStrike">
                <a:solidFill>
                  <a:srgbClr val="81d41a"/>
                </a:solidFill>
                <a:latin typeface="Arial"/>
              </a:rPr>
              <a:t> </a:t>
            </a:r>
            <a:endParaRPr b="0" lang="en-US" sz="20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81d41a"/>
                </a:solidFill>
                <a:latin typeface="Arial"/>
              </a:rPr>
              <a:t>Computer &amp; Accelerators (CPU &amp; GPU)</a:t>
            </a:r>
            <a:br>
              <a:rPr sz="2000"/>
            </a:br>
            <a:r>
              <a:rPr b="0" lang="en-US" sz="2000" spc="-1" strike="noStrike">
                <a:solidFill>
                  <a:srgbClr val="81d41a"/>
                </a:solidFill>
                <a:latin typeface="Arial"/>
              </a:rPr>
              <a:t> </a:t>
            </a:r>
            <a:endParaRPr b="0" lang="en-US" sz="20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81d41a"/>
                </a:solidFill>
                <a:latin typeface="Arial"/>
              </a:rPr>
              <a:t>Networking &amp; RDMA</a:t>
            </a:r>
            <a:br>
              <a:rPr sz="2000"/>
            </a:br>
            <a:br>
              <a:rPr sz="2000"/>
            </a:br>
            <a:r>
              <a:rPr b="0" lang="en-US" sz="2000" spc="-1" strike="noStrike">
                <a:solidFill>
                  <a:srgbClr val="81d41a"/>
                </a:solidFill>
                <a:latin typeface="Arial"/>
              </a:rPr>
              <a:t> </a:t>
            </a:r>
            <a:endParaRPr b="0" lang="en-US" sz="20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81d41a"/>
                </a:solidFill>
                <a:latin typeface="Arial"/>
              </a:rPr>
              <a:t>Storage (NVMe, NVMeOF)</a:t>
            </a:r>
            <a:endParaRPr b="0" lang="en-US" sz="2000" spc="-1" strike="noStrike">
              <a:solidFill>
                <a:srgbClr val="009bdd"/>
              </a:solidFill>
              <a:latin typeface="Arial"/>
            </a:endParaRPr>
          </a:p>
          <a:p>
            <a:pPr marL="432000" indent="0">
              <a:spcBef>
                <a:spcPts val="1060"/>
              </a:spcBef>
              <a:buNone/>
            </a:pPr>
            <a:endParaRPr b="0" lang="en-US" sz="20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81d41a"/>
                </a:solidFill>
                <a:latin typeface="Arial"/>
              </a:rPr>
              <a:t>Career Opportunities &amp; Learning Road map</a:t>
            </a:r>
            <a:endParaRPr b="0" lang="en-US" sz="2000" spc="-1" strike="noStrike">
              <a:solidFill>
                <a:srgbClr val="009bdd"/>
              </a:solidFill>
              <a:latin typeface="Arial"/>
            </a:endParaRPr>
          </a:p>
        </p:txBody>
      </p:sp>
      <p:pic>
        <p:nvPicPr>
          <p:cNvPr id="23" name="" descr=""/>
          <p:cNvPicPr/>
          <p:nvPr/>
        </p:nvPicPr>
        <p:blipFill>
          <a:blip r:embed="rId1"/>
          <a:stretch/>
        </p:blipFill>
        <p:spPr>
          <a:xfrm>
            <a:off x="5018400" y="774000"/>
            <a:ext cx="2199600" cy="1277280"/>
          </a:xfrm>
          <a:prstGeom prst="rect">
            <a:avLst/>
          </a:prstGeom>
          <a:ln w="18000">
            <a:noFill/>
          </a:ln>
        </p:spPr>
      </p:pic>
      <p:pic>
        <p:nvPicPr>
          <p:cNvPr id="24" name="" descr=""/>
          <p:cNvPicPr/>
          <p:nvPr/>
        </p:nvPicPr>
        <p:blipFill>
          <a:blip r:embed="rId2"/>
          <a:stretch/>
        </p:blipFill>
        <p:spPr>
          <a:xfrm>
            <a:off x="5817600" y="2442600"/>
            <a:ext cx="2181600" cy="898920"/>
          </a:xfrm>
          <a:prstGeom prst="rect">
            <a:avLst/>
          </a:prstGeom>
          <a:ln w="18000">
            <a:noFill/>
          </a:ln>
        </p:spPr>
      </p:pic>
      <p:pic>
        <p:nvPicPr>
          <p:cNvPr id="25" name="" descr=""/>
          <p:cNvPicPr/>
          <p:nvPr/>
        </p:nvPicPr>
        <p:blipFill>
          <a:blip r:embed="rId3"/>
          <a:stretch/>
        </p:blipFill>
        <p:spPr>
          <a:xfrm>
            <a:off x="3513600" y="3067200"/>
            <a:ext cx="1600200" cy="1074960"/>
          </a:xfrm>
          <a:prstGeom prst="rect">
            <a:avLst/>
          </a:prstGeom>
          <a:ln w="18000">
            <a:noFill/>
          </a:ln>
        </p:spPr>
      </p:pic>
      <p:pic>
        <p:nvPicPr>
          <p:cNvPr id="26" name="" descr=""/>
          <p:cNvPicPr/>
          <p:nvPr/>
        </p:nvPicPr>
        <p:blipFill>
          <a:blip r:embed="rId4"/>
          <a:stretch/>
        </p:blipFill>
        <p:spPr>
          <a:xfrm>
            <a:off x="4284000" y="4199040"/>
            <a:ext cx="1143000" cy="673560"/>
          </a:xfrm>
          <a:prstGeom prst="rect">
            <a:avLst/>
          </a:prstGeom>
          <a:ln w="18000">
            <a:noFill/>
          </a:ln>
        </p:spPr>
      </p:pic>
      <p:pic>
        <p:nvPicPr>
          <p:cNvPr id="27" name="" descr=""/>
          <p:cNvPicPr/>
          <p:nvPr/>
        </p:nvPicPr>
        <p:blipFill>
          <a:blip r:embed="rId5"/>
          <a:stretch/>
        </p:blipFill>
        <p:spPr>
          <a:xfrm>
            <a:off x="5943600" y="4340520"/>
            <a:ext cx="1371600" cy="1148040"/>
          </a:xfrm>
          <a:prstGeom prst="rect">
            <a:avLst/>
          </a:prstGeom>
          <a:ln w="18000">
            <a:noFill/>
          </a:ln>
        </p:spPr>
      </p:pic>
      <p:sp>
        <p:nvSpPr>
          <p:cNvPr id="4" name="PlaceHolder 3"/>
          <p:cNvSpPr>
            <a:spLocks noGrp="1"/>
          </p:cNvSpPr>
          <p:nvPr>
            <p:ph type="sldNum" idx="6"/>
          </p:nvPr>
        </p:nvSpPr>
        <p:spPr/>
        <p:txBody>
          <a:bodyPr/>
          <a:p>
            <a:fld id="{2F524A48-04BA-4755-9B2E-0188392593C9}"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US" sz="3300" spc="-1" strike="noStrike">
                <a:solidFill>
                  <a:srgbClr val="ffffff"/>
                </a:solidFill>
                <a:latin typeface="Arial"/>
              </a:rPr>
              <a:t>The Shift in AI Innovation</a:t>
            </a:r>
            <a:endParaRPr b="0" lang="en-US" sz="3300" spc="-1" strike="noStrike">
              <a:solidFill>
                <a:srgbClr val="ffffff"/>
              </a:solidFill>
              <a:latin typeface="Arial"/>
            </a:endParaRPr>
          </a:p>
        </p:txBody>
      </p:sp>
      <p:pic>
        <p:nvPicPr>
          <p:cNvPr id="29" name="" descr=""/>
          <p:cNvPicPr/>
          <p:nvPr/>
        </p:nvPicPr>
        <p:blipFill>
          <a:blip r:embed="rId1"/>
          <a:stretch/>
        </p:blipFill>
        <p:spPr>
          <a:xfrm>
            <a:off x="7086600" y="1371600"/>
            <a:ext cx="2976480" cy="3632400"/>
          </a:xfrm>
          <a:prstGeom prst="rect">
            <a:avLst/>
          </a:prstGeom>
          <a:ln w="18000">
            <a:noFill/>
          </a:ln>
        </p:spPr>
      </p:pic>
      <p:sp>
        <p:nvSpPr>
          <p:cNvPr id="30" name=""/>
          <p:cNvSpPr txBox="1"/>
          <p:nvPr/>
        </p:nvSpPr>
        <p:spPr>
          <a:xfrm>
            <a:off x="-36000" y="734400"/>
            <a:ext cx="10094400" cy="4604760"/>
          </a:xfrm>
          <a:prstGeom prst="rect">
            <a:avLst/>
          </a:prstGeom>
          <a:noFill/>
          <a:ln w="18000">
            <a:noFill/>
          </a:ln>
        </p:spPr>
        <p:txBody>
          <a:bodyPr lIns="90000" rIns="90000" tIns="45000" bIns="45000" anchor="t">
            <a:noAutofit/>
          </a:bodyPr>
          <a:p>
            <a:r>
              <a:rPr b="1" lang="en-US" sz="1600" spc="-1" strike="noStrike">
                <a:solidFill>
                  <a:srgbClr val="000000"/>
                </a:solidFill>
                <a:latin typeface="Arial"/>
              </a:rPr>
              <a:t>AI powered applications:</a:t>
            </a:r>
            <a:br>
              <a:rPr sz="1600"/>
            </a:br>
            <a:r>
              <a:rPr b="0" lang="en-US" sz="1600" spc="-1" strike="noStrike">
                <a:solidFill>
                  <a:srgbClr val="000000"/>
                </a:solidFill>
                <a:latin typeface="Arial"/>
              </a:rPr>
              <a:t>Computer vision (Object detection, Facial Recognisation, Medical Imaging, Autonomous vehicle,</a:t>
            </a:r>
            <a:endParaRPr b="1" lang="en-US" sz="1600" spc="-1" strike="noStrike">
              <a:solidFill>
                <a:srgbClr val="000000"/>
              </a:solidFill>
              <a:latin typeface="Arial"/>
            </a:endParaRPr>
          </a:p>
          <a:p>
            <a:r>
              <a:rPr b="0" lang="en-US" sz="1600" spc="-1" strike="noStrike">
                <a:solidFill>
                  <a:srgbClr val="000000"/>
                </a:solidFill>
                <a:latin typeface="Arial"/>
              </a:rPr>
              <a:t>Industrial inspection, NLP (chatbots/Virtual Assistants, Machine translation), Speech recognition.</a:t>
            </a:r>
            <a:endParaRPr b="1" lang="en-US" sz="1600" spc="-1" strike="noStrike">
              <a:solidFill>
                <a:srgbClr val="000000"/>
              </a:solidFill>
              <a:latin typeface="Arial"/>
            </a:endParaRPr>
          </a:p>
          <a:p>
            <a:r>
              <a:rPr b="1" lang="en-US" sz="1600" spc="-1" strike="noStrike">
                <a:solidFill>
                  <a:srgbClr val="000000"/>
                </a:solidFill>
                <a:latin typeface="Arial"/>
              </a:rPr>
              <a:t>AI – machine learning frameworks (Algorithm):</a:t>
            </a:r>
            <a:endParaRPr b="1" lang="en-US" sz="1600" spc="-1" strike="noStrike">
              <a:solidFill>
                <a:srgbClr val="000000"/>
              </a:solidFill>
              <a:latin typeface="Arial"/>
            </a:endParaRPr>
          </a:p>
          <a:p>
            <a:r>
              <a:rPr b="0" lang="en-US" sz="1600" spc="-1" strike="noStrike">
                <a:solidFill>
                  <a:srgbClr val="000000"/>
                </a:solidFill>
                <a:latin typeface="Arial"/>
              </a:rPr>
              <a:t>These provide the tools and libraries necessary for developing, training </a:t>
            </a:r>
            <a:endParaRPr b="1" lang="en-US" sz="1600" spc="-1" strike="noStrike">
              <a:solidFill>
                <a:srgbClr val="000000"/>
              </a:solidFill>
              <a:latin typeface="Arial"/>
            </a:endParaRPr>
          </a:p>
          <a:p>
            <a:r>
              <a:rPr b="0" lang="en-US" sz="1600" spc="-1" strike="noStrike">
                <a:solidFill>
                  <a:srgbClr val="000000"/>
                </a:solidFill>
                <a:latin typeface="Arial"/>
              </a:rPr>
              <a:t>and deploying AI models.</a:t>
            </a:r>
            <a:endParaRPr b="1" lang="en-US" sz="1600" spc="-1" strike="noStrike">
              <a:solidFill>
                <a:srgbClr val="000000"/>
              </a:solidFill>
              <a:latin typeface="Arial"/>
            </a:endParaRPr>
          </a:p>
          <a:p>
            <a:r>
              <a:rPr b="0" lang="en-US" sz="1600" spc="-1" strike="noStrike">
                <a:solidFill>
                  <a:srgbClr val="000000"/>
                </a:solidFill>
                <a:latin typeface="Arial"/>
              </a:rPr>
              <a:t>Machine leaning algorithms (Regression/Classification)</a:t>
            </a:r>
            <a:endParaRPr b="1" lang="en-US" sz="1600" spc="-1" strike="noStrike">
              <a:solidFill>
                <a:srgbClr val="000000"/>
              </a:solidFill>
              <a:latin typeface="Arial"/>
            </a:endParaRPr>
          </a:p>
          <a:p>
            <a:r>
              <a:rPr b="0" lang="en-US" sz="1600" spc="-1" strike="noStrike">
                <a:solidFill>
                  <a:srgbClr val="000000"/>
                </a:solidFill>
                <a:latin typeface="Arial"/>
              </a:rPr>
              <a:t>Deep learning framework (Tensor Flow, PyTorch and Scikit)</a:t>
            </a:r>
            <a:endParaRPr b="1" lang="en-US" sz="1600" spc="-1" strike="noStrike">
              <a:solidFill>
                <a:srgbClr val="000000"/>
              </a:solidFill>
              <a:latin typeface="Arial"/>
            </a:endParaRPr>
          </a:p>
          <a:p>
            <a:r>
              <a:rPr b="1" lang="en-US" sz="1600" spc="-1" strike="noStrike">
                <a:solidFill>
                  <a:srgbClr val="000000"/>
                </a:solidFill>
                <a:latin typeface="Arial"/>
              </a:rPr>
              <a:t>Cloud computing (Data storage &amp; Management System) </a:t>
            </a:r>
            <a:br>
              <a:rPr sz="1600"/>
            </a:br>
            <a:r>
              <a:rPr b="0" lang="en-US" sz="1600" spc="-1" strike="noStrike">
                <a:solidFill>
                  <a:srgbClr val="000000"/>
                </a:solidFill>
                <a:latin typeface="Arial"/>
              </a:rPr>
              <a:t>The software and services that manage the underlying hardware,orchestrate </a:t>
            </a:r>
            <a:br>
              <a:rPr sz="1600"/>
            </a:br>
            <a:r>
              <a:rPr b="0" lang="en-US" sz="1600" spc="-1" strike="noStrike">
                <a:solidFill>
                  <a:srgbClr val="000000"/>
                </a:solidFill>
                <a:latin typeface="Arial"/>
              </a:rPr>
              <a:t>workflows Cloud platforms (</a:t>
            </a:r>
            <a:r>
              <a:rPr b="0" lang="en-US" sz="1600" spc="-1" strike="noStrike">
                <a:solidFill>
                  <a:srgbClr val="000000"/>
                </a:solidFill>
                <a:latin typeface="Arial"/>
                <a:hlinkClick r:id="rId2"/>
              </a:rPr>
              <a:t>AWS</a:t>
            </a:r>
            <a:r>
              <a:rPr b="0" lang="en-US" sz="1600" spc="-1" strike="noStrike">
                <a:solidFill>
                  <a:srgbClr val="000000"/>
                </a:solidFill>
                <a:latin typeface="Arial"/>
              </a:rPr>
              <a:t>, Azure, Google Cloud), container orchestration</a:t>
            </a:r>
            <a:br>
              <a:rPr sz="1600"/>
            </a:br>
            <a:r>
              <a:rPr b="0" lang="en-US" sz="1600" spc="-1" strike="noStrike">
                <a:solidFill>
                  <a:srgbClr val="000000"/>
                </a:solidFill>
                <a:latin typeface="Arial"/>
              </a:rPr>
              <a:t>(Kubernetes, Docker), MLOps tools (MLflow, Kubeflow), </a:t>
            </a:r>
            <a:endParaRPr b="1" lang="en-US" sz="1600" spc="-1" strike="noStrike">
              <a:solidFill>
                <a:srgbClr val="000000"/>
              </a:solidFill>
              <a:latin typeface="Arial"/>
            </a:endParaRPr>
          </a:p>
          <a:p>
            <a:r>
              <a:rPr b="1" lang="en-US" sz="1600" spc="-1" strike="noStrike">
                <a:solidFill>
                  <a:srgbClr val="000000"/>
                </a:solidFill>
                <a:latin typeface="Arial"/>
              </a:rPr>
              <a:t>Networking Capabilities:</a:t>
            </a:r>
            <a:br>
              <a:rPr sz="1600"/>
            </a:br>
            <a:r>
              <a:rPr b="0" lang="en-US" sz="1600" spc="-1" strike="noStrike">
                <a:solidFill>
                  <a:srgbClr val="000000"/>
                </a:solidFill>
                <a:latin typeface="Arial"/>
              </a:rPr>
              <a:t>In large-scale AI model training, data and model parameters are distributed across many </a:t>
            </a:r>
            <a:br>
              <a:rPr sz="1600"/>
            </a:br>
            <a:r>
              <a:rPr b="0" lang="en-US" sz="1600" spc="-1" strike="noStrike">
                <a:solidFill>
                  <a:srgbClr val="000000"/>
                </a:solidFill>
                <a:latin typeface="Arial"/>
              </a:rPr>
              <a:t>computing nodes. The CCL Collective Communications Library (CCL) efficiently manages</a:t>
            </a:r>
            <a:endParaRPr b="1" lang="en-US" sz="1600" spc="-1" strike="noStrike">
              <a:solidFill>
                <a:srgbClr val="000000"/>
              </a:solidFill>
              <a:latin typeface="Arial"/>
            </a:endParaRPr>
          </a:p>
          <a:p>
            <a:r>
              <a:rPr b="0" lang="en-US" sz="1600" spc="-1" strike="noStrike">
                <a:solidFill>
                  <a:srgbClr val="000000"/>
                </a:solidFill>
                <a:latin typeface="Arial"/>
              </a:rPr>
              <a:t>the synchronization and sharing of gradients and model updates between these nodes.</a:t>
            </a:r>
            <a:endParaRPr b="1" lang="en-US" sz="1600" spc="-1" strike="noStrike">
              <a:solidFill>
                <a:srgbClr val="000000"/>
              </a:solidFill>
              <a:latin typeface="Arial"/>
            </a:endParaRPr>
          </a:p>
          <a:p>
            <a:r>
              <a:rPr b="1" lang="en-US" sz="1600" spc="-1" strike="noStrike">
                <a:solidFill>
                  <a:srgbClr val="000000"/>
                </a:solidFill>
                <a:latin typeface="Arial"/>
              </a:rPr>
              <a:t>Hardware:</a:t>
            </a:r>
            <a:br>
              <a:rPr sz="1600"/>
            </a:br>
            <a:r>
              <a:rPr b="0" lang="en-US" sz="1600" spc="-1" strike="noStrike">
                <a:solidFill>
                  <a:srgbClr val="000000"/>
                </a:solidFill>
                <a:latin typeface="Arial"/>
              </a:rPr>
              <a:t>High performance computing resources are essential for training and running AI models.</a:t>
            </a:r>
            <a:br>
              <a:rPr sz="1600"/>
            </a:br>
            <a:r>
              <a:rPr b="0" lang="en-US" sz="1600" spc="-1" strike="noStrike">
                <a:solidFill>
                  <a:srgbClr val="000000"/>
                </a:solidFill>
                <a:latin typeface="Arial"/>
              </a:rPr>
              <a:t>This includes GPU (Graphics Processing Units) (NVIDIA A100, H100), TPUs (Google's Tensor Processing Units), and custom ASICs. Also includes high-speed memory and storage solutions.</a:t>
            </a:r>
            <a:endParaRPr b="1" lang="en-US" sz="1600" spc="-1" strike="noStrike">
              <a:solidFill>
                <a:srgbClr val="000000"/>
              </a:solidFill>
              <a:latin typeface="Arial"/>
            </a:endParaRPr>
          </a:p>
        </p:txBody>
      </p:sp>
      <p:sp>
        <p:nvSpPr>
          <p:cNvPr id="3" name="PlaceHolder 2"/>
          <p:cNvSpPr>
            <a:spLocks noGrp="1"/>
          </p:cNvSpPr>
          <p:nvPr>
            <p:ph type="sldNum" idx="6"/>
          </p:nvPr>
        </p:nvSpPr>
        <p:spPr/>
        <p:txBody>
          <a:bodyPr/>
          <a:p>
            <a:fld id="{8019C8AE-8B08-4820-A586-7ECF3235DDE0}"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US" sz="3300" spc="-1" strike="noStrike">
              <a:solidFill>
                <a:srgbClr val="ffffff"/>
              </a:solidFill>
              <a:latin typeface="Arial"/>
            </a:endParaRPr>
          </a:p>
        </p:txBody>
      </p:sp>
      <p:sp>
        <p:nvSpPr>
          <p:cNvPr id="32" name=""/>
          <p:cNvSpPr txBox="1"/>
          <p:nvPr/>
        </p:nvSpPr>
        <p:spPr>
          <a:xfrm>
            <a:off x="12600" y="743400"/>
            <a:ext cx="7074000" cy="1434600"/>
          </a:xfrm>
          <a:prstGeom prst="rect">
            <a:avLst/>
          </a:prstGeom>
          <a:noFill/>
          <a:ln w="0">
            <a:noFill/>
          </a:ln>
        </p:spPr>
        <p:txBody>
          <a:bodyPr lIns="0" rIns="0" tIns="0" bIns="0" anchor="t">
            <a:noAutofit/>
          </a:bodyPr>
          <a:p>
            <a:pPr marL="432000" indent="-324000">
              <a:spcBef>
                <a:spcPts val="1060"/>
              </a:spcBef>
              <a:buClr>
                <a:srgbClr val="77caee"/>
              </a:buClr>
              <a:buSzPct val="45000"/>
              <a:buFont typeface="Wingdings" charset="2"/>
              <a:buChar char=""/>
            </a:pPr>
            <a:r>
              <a:rPr b="0" lang="en-US" sz="2000" spc="-1" strike="noStrike">
                <a:solidFill>
                  <a:srgbClr val="009bdd"/>
                </a:solidFill>
                <a:latin typeface="Arial"/>
              </a:rPr>
              <a:t>AI innovation is now hardware-driven, not just algorithmic</a:t>
            </a:r>
            <a:endParaRPr b="0" lang="en-US" sz="20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009bdd"/>
                </a:solidFill>
                <a:latin typeface="Arial"/>
              </a:rPr>
              <a:t>Performance gains depend on hardware efficiency.</a:t>
            </a:r>
            <a:endParaRPr b="0" lang="en-US" sz="20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US" sz="2000" spc="-1" strike="noStrike">
                <a:solidFill>
                  <a:srgbClr val="009bdd"/>
                </a:solidFill>
                <a:latin typeface="Arial"/>
              </a:rPr>
              <a:t>Hardware = compute + network + storage synergy</a:t>
            </a:r>
            <a:endParaRPr b="0" lang="en-US" sz="2000" spc="-1" strike="noStrike">
              <a:solidFill>
                <a:srgbClr val="009bdd"/>
              </a:solidFill>
              <a:latin typeface="Arial"/>
            </a:endParaRPr>
          </a:p>
        </p:txBody>
      </p:sp>
      <p:sp>
        <p:nvSpPr>
          <p:cNvPr id="33" name=""/>
          <p:cNvSpPr txBox="1"/>
          <p:nvPr/>
        </p:nvSpPr>
        <p:spPr>
          <a:xfrm>
            <a:off x="35280" y="1963080"/>
            <a:ext cx="10047240" cy="1285920"/>
          </a:xfrm>
          <a:prstGeom prst="rect">
            <a:avLst/>
          </a:prstGeom>
          <a:noFill/>
          <a:ln w="18000">
            <a:noFill/>
          </a:ln>
        </p:spPr>
        <p:txBody>
          <a:bodyPr lIns="90000" rIns="90000" tIns="45000" bIns="45000" anchor="t">
            <a:noAutofit/>
          </a:bodyPr>
          <a:p>
            <a:r>
              <a:rPr b="1" lang="en-US" sz="1600" spc="-1" strike="noStrike">
                <a:solidFill>
                  <a:srgbClr val="000000"/>
                </a:solidFill>
                <a:latin typeface="Arial"/>
              </a:rPr>
              <a:t>Edge AI </a:t>
            </a:r>
            <a:r>
              <a:rPr b="0" lang="en-US" sz="1600" spc="-1" strike="noStrike">
                <a:solidFill>
                  <a:srgbClr val="000000"/>
                </a:solidFill>
                <a:latin typeface="Arial"/>
              </a:rPr>
              <a:t>is the combination of edge computing and edge intelligence to run machine learning tasks directly on end devices. It generally consists of an in-built microprocessor and sensors, while the data processing task is completed locally and stored at the edge node end. The implementation of machine learning models in edge AI will decrease the latency rate and improve the network bandwidth.</a:t>
            </a:r>
            <a:endParaRPr b="1" lang="en-US" sz="1600" spc="-1" strike="noStrike">
              <a:solidFill>
                <a:srgbClr val="000000"/>
              </a:solidFill>
              <a:latin typeface="Arial"/>
            </a:endParaRPr>
          </a:p>
          <a:p>
            <a:endParaRPr b="0" lang="en-US" sz="1000" spc="-1" strike="noStrike">
              <a:solidFill>
                <a:srgbClr val="000000"/>
              </a:solidFill>
              <a:latin typeface="Arial"/>
            </a:endParaRPr>
          </a:p>
        </p:txBody>
      </p:sp>
      <p:pic>
        <p:nvPicPr>
          <p:cNvPr id="34" name="" descr=""/>
          <p:cNvPicPr/>
          <p:nvPr/>
        </p:nvPicPr>
        <p:blipFill>
          <a:blip r:embed="rId1"/>
          <a:stretch/>
        </p:blipFill>
        <p:spPr>
          <a:xfrm>
            <a:off x="2286000" y="2971800"/>
            <a:ext cx="4800600" cy="2698200"/>
          </a:xfrm>
          <a:prstGeom prst="rect">
            <a:avLst/>
          </a:prstGeom>
          <a:ln w="18000">
            <a:noFill/>
          </a:ln>
        </p:spPr>
      </p:pic>
      <p:sp>
        <p:nvSpPr>
          <p:cNvPr id="3" name="PlaceHolder 2"/>
          <p:cNvSpPr>
            <a:spLocks noGrp="1"/>
          </p:cNvSpPr>
          <p:nvPr>
            <p:ph type="sldNum" idx="6"/>
          </p:nvPr>
        </p:nvSpPr>
        <p:spPr/>
        <p:txBody>
          <a:bodyPr/>
          <a:p>
            <a:fld id="{74D6AF3B-977D-4451-B99D-26546AADBBB6}"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00a933"/>
                </a:solidFill>
                <a:latin typeface="Arial"/>
              </a:rPr>
              <a:t>Edge AI</a:t>
            </a:r>
            <a:endParaRPr b="1" lang="en-US" sz="3300" spc="-1" strike="noStrike">
              <a:solidFill>
                <a:srgbClr val="00a933"/>
              </a:solidFill>
              <a:latin typeface="Arial"/>
            </a:endParaRPr>
          </a:p>
        </p:txBody>
      </p:sp>
      <p:pic>
        <p:nvPicPr>
          <p:cNvPr id="36" name="" descr=""/>
          <p:cNvPicPr/>
          <p:nvPr/>
        </p:nvPicPr>
        <p:blipFill>
          <a:blip r:embed="rId1"/>
          <a:stretch/>
        </p:blipFill>
        <p:spPr>
          <a:xfrm>
            <a:off x="5486400" y="843120"/>
            <a:ext cx="3429000" cy="1671480"/>
          </a:xfrm>
          <a:prstGeom prst="rect">
            <a:avLst/>
          </a:prstGeom>
          <a:ln w="18000">
            <a:noFill/>
          </a:ln>
        </p:spPr>
      </p:pic>
      <p:sp>
        <p:nvSpPr>
          <p:cNvPr id="37" name=""/>
          <p:cNvSpPr txBox="1"/>
          <p:nvPr/>
        </p:nvSpPr>
        <p:spPr>
          <a:xfrm>
            <a:off x="157680" y="2591640"/>
            <a:ext cx="6700320" cy="608760"/>
          </a:xfrm>
          <a:prstGeom prst="rect">
            <a:avLst/>
          </a:prstGeom>
          <a:noFill/>
          <a:ln w="18000">
            <a:noFill/>
          </a:ln>
        </p:spPr>
        <p:txBody>
          <a:bodyPr lIns="90000" rIns="90000" tIns="45000" bIns="45000" anchor="t">
            <a:noAutofit/>
          </a:bodyPr>
          <a:p>
            <a:r>
              <a:rPr b="1" lang="en-US" sz="1600" spc="-1" strike="noStrike">
                <a:solidFill>
                  <a:srgbClr val="000000"/>
                </a:solidFill>
                <a:latin typeface="Arial"/>
              </a:rPr>
              <a:t>1. NVIDIA Jetson AGX Orin – High-End Edge AI Module for Robotics</a:t>
            </a:r>
            <a:endParaRPr b="1" lang="en-US" sz="1600" spc="-1" strike="noStrike">
              <a:solidFill>
                <a:srgbClr val="000000"/>
              </a:solidFill>
              <a:latin typeface="Arial"/>
            </a:endParaRPr>
          </a:p>
          <a:p>
            <a:endParaRPr b="0" lang="en-US" sz="1000" spc="-1" strike="noStrike">
              <a:solidFill>
                <a:srgbClr val="000000"/>
              </a:solidFill>
              <a:latin typeface="Arial"/>
            </a:endParaRPr>
          </a:p>
        </p:txBody>
      </p:sp>
      <p:pic>
        <p:nvPicPr>
          <p:cNvPr id="38" name="" descr=""/>
          <p:cNvPicPr/>
          <p:nvPr/>
        </p:nvPicPr>
        <p:blipFill>
          <a:blip r:embed="rId2"/>
          <a:stretch/>
        </p:blipFill>
        <p:spPr>
          <a:xfrm>
            <a:off x="7705440" y="2509560"/>
            <a:ext cx="1580760" cy="1339560"/>
          </a:xfrm>
          <a:prstGeom prst="rect">
            <a:avLst/>
          </a:prstGeom>
          <a:ln w="18000">
            <a:noFill/>
          </a:ln>
        </p:spPr>
      </p:pic>
      <p:pic>
        <p:nvPicPr>
          <p:cNvPr id="39" name="" descr=""/>
          <p:cNvPicPr/>
          <p:nvPr/>
        </p:nvPicPr>
        <p:blipFill>
          <a:blip r:embed="rId3"/>
          <a:stretch/>
        </p:blipFill>
        <p:spPr>
          <a:xfrm>
            <a:off x="685800" y="795600"/>
            <a:ext cx="4114800" cy="1719000"/>
          </a:xfrm>
          <a:prstGeom prst="rect">
            <a:avLst/>
          </a:prstGeom>
          <a:ln w="18000">
            <a:noFill/>
          </a:ln>
        </p:spPr>
      </p:pic>
      <p:sp>
        <p:nvSpPr>
          <p:cNvPr id="40" name=""/>
          <p:cNvSpPr txBox="1"/>
          <p:nvPr/>
        </p:nvSpPr>
        <p:spPr>
          <a:xfrm>
            <a:off x="284760" y="2922840"/>
            <a:ext cx="7487640" cy="373680"/>
          </a:xfrm>
          <a:prstGeom prst="rect">
            <a:avLst/>
          </a:prstGeom>
          <a:noFill/>
          <a:ln w="18000">
            <a:noFill/>
          </a:ln>
        </p:spPr>
        <p:txBody>
          <a:bodyPr lIns="90000" rIns="90000" tIns="45000" bIns="45000" anchor="t">
            <a:noAutofit/>
          </a:bodyPr>
          <a:p>
            <a:r>
              <a:rPr b="0" lang="en-US" sz="1000" spc="-1" strike="noStrike">
                <a:solidFill>
                  <a:srgbClr val="000000"/>
                </a:solidFill>
                <a:latin typeface="Arial"/>
                <a:hlinkClick r:id="rId4"/>
              </a:rPr>
              <a:t>NVIDIA’s Jetson AGX Orin</a:t>
            </a:r>
            <a:r>
              <a:rPr b="0" lang="en-US" sz="1000" spc="-1" strike="noStrike">
                <a:solidFill>
                  <a:srgbClr val="000000"/>
                </a:solidFill>
                <a:latin typeface="Arial"/>
              </a:rPr>
              <a:t> is a flagship edge AI computer delivering up to 275 TOPS (trillions of operations per second) of AI performance. It packs a 12-core Arm Cortex-A78AE CPU alongside a 2048-core NVIDIA Ampere GPU with 64 Tensor Cores and up to 64 GB of LPDDR5 memory. The Jetson AGX Orin is built for demanding edge applications like autonomous robots, drones, and advanced computer vision systems.</a:t>
            </a:r>
            <a:endParaRPr b="0" lang="en-US" sz="1000" spc="-1" strike="noStrike">
              <a:solidFill>
                <a:srgbClr val="000000"/>
              </a:solidFill>
              <a:latin typeface="Arial"/>
            </a:endParaRPr>
          </a:p>
        </p:txBody>
      </p:sp>
      <p:sp>
        <p:nvSpPr>
          <p:cNvPr id="41" name=""/>
          <p:cNvSpPr txBox="1"/>
          <p:nvPr/>
        </p:nvSpPr>
        <p:spPr>
          <a:xfrm>
            <a:off x="145800" y="3655080"/>
            <a:ext cx="6945840" cy="608760"/>
          </a:xfrm>
          <a:prstGeom prst="rect">
            <a:avLst/>
          </a:prstGeom>
          <a:noFill/>
          <a:ln w="18000">
            <a:noFill/>
          </a:ln>
        </p:spPr>
        <p:txBody>
          <a:bodyPr lIns="90000" rIns="90000" tIns="45000" bIns="45000" anchor="t">
            <a:noAutofit/>
          </a:bodyPr>
          <a:p>
            <a:r>
              <a:rPr b="1" lang="en-US" sz="1600" spc="-1" strike="noStrike">
                <a:solidFill>
                  <a:srgbClr val="000000"/>
                </a:solidFill>
                <a:latin typeface="Arial"/>
              </a:rPr>
              <a:t>2. Google Coral Dev Board – Low-Power AI Accelerator with Edge TPU</a:t>
            </a:r>
            <a:endParaRPr b="1" lang="en-US" sz="1600" spc="-1" strike="noStrike">
              <a:solidFill>
                <a:srgbClr val="000000"/>
              </a:solidFill>
              <a:latin typeface="Arial"/>
            </a:endParaRPr>
          </a:p>
          <a:p>
            <a:endParaRPr b="0" lang="en-US" sz="1000" spc="-1" strike="noStrike">
              <a:solidFill>
                <a:srgbClr val="000000"/>
              </a:solidFill>
              <a:latin typeface="Arial"/>
            </a:endParaRPr>
          </a:p>
        </p:txBody>
      </p:sp>
      <p:sp>
        <p:nvSpPr>
          <p:cNvPr id="42" name=""/>
          <p:cNvSpPr txBox="1"/>
          <p:nvPr/>
        </p:nvSpPr>
        <p:spPr>
          <a:xfrm>
            <a:off x="302400" y="3954600"/>
            <a:ext cx="7927200" cy="65736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The </a:t>
            </a:r>
            <a:r>
              <a:rPr b="0" lang="en-US" sz="1000" spc="-1" strike="noStrike">
                <a:solidFill>
                  <a:srgbClr val="000000"/>
                </a:solidFill>
                <a:latin typeface="Arial"/>
                <a:hlinkClick r:id="rId5"/>
              </a:rPr>
              <a:t>Google Coral Dev Board</a:t>
            </a:r>
            <a:r>
              <a:rPr b="0" lang="en-US" sz="1000" spc="-1" strike="noStrike">
                <a:solidFill>
                  <a:srgbClr val="000000"/>
                </a:solidFill>
                <a:latin typeface="Arial"/>
              </a:rPr>
              <a:t> features Google’s custom Edge TPU ASIC as a co-processor for on-device ML inferencing. The Edge TPU delivers 4 TOPS (tera-operations per second) of int8 performance at about 2 Watts (2 TOPS/W efficiency). This enables the Coral to execute state-of-the-art vision models like MobileNet V2 at nearly 400 frames per second in real time. The Dev Board’s system-on-module also includes an NXP i.MX 8M SoC (quad Cortex-A53 CPU, 1 GB or 4 GB RAM) to run a full Linux OS (Mendel Debian) for general control and networking tasks. . It’s popular for vision-based IoT applications such as smart security cameras, image recognition sensors, and portable ML devices. For example, the Coral can perform object detection or image classification locally on a camera feed with minimal latency, </a:t>
            </a:r>
            <a:endParaRPr b="0" lang="en-US" sz="1000" spc="-1" strike="noStrike">
              <a:solidFill>
                <a:srgbClr val="000000"/>
              </a:solidFill>
              <a:latin typeface="Arial"/>
            </a:endParaRPr>
          </a:p>
        </p:txBody>
      </p:sp>
      <p:pic>
        <p:nvPicPr>
          <p:cNvPr id="43" name="" descr=""/>
          <p:cNvPicPr/>
          <p:nvPr/>
        </p:nvPicPr>
        <p:blipFill>
          <a:blip r:embed="rId6"/>
          <a:stretch/>
        </p:blipFill>
        <p:spPr>
          <a:xfrm>
            <a:off x="8265600" y="3873600"/>
            <a:ext cx="1868760" cy="1384560"/>
          </a:xfrm>
          <a:prstGeom prst="rect">
            <a:avLst/>
          </a:prstGeom>
          <a:ln w="18000">
            <a:noFill/>
          </a:ln>
        </p:spPr>
      </p:pic>
      <p:sp>
        <p:nvSpPr>
          <p:cNvPr id="3" name="PlaceHolder 2"/>
          <p:cNvSpPr>
            <a:spLocks noGrp="1"/>
          </p:cNvSpPr>
          <p:nvPr>
            <p:ph type="sldNum" idx="6"/>
          </p:nvPr>
        </p:nvSpPr>
        <p:spPr/>
        <p:txBody>
          <a:bodyPr/>
          <a:p>
            <a:fld id="{B4B1B8F5-639A-46DB-9B3D-4430744EB7DA}"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US" sz="3300" spc="-1" strike="noStrike">
              <a:solidFill>
                <a:srgbClr val="ffffff"/>
              </a:solidFill>
              <a:latin typeface="Arial"/>
            </a:endParaRPr>
          </a:p>
        </p:txBody>
      </p:sp>
      <p:sp>
        <p:nvSpPr>
          <p:cNvPr id="45" name=""/>
          <p:cNvSpPr txBox="1"/>
          <p:nvPr/>
        </p:nvSpPr>
        <p:spPr>
          <a:xfrm>
            <a:off x="104760" y="847440"/>
            <a:ext cx="7403040" cy="608760"/>
          </a:xfrm>
          <a:prstGeom prst="rect">
            <a:avLst/>
          </a:prstGeom>
          <a:noFill/>
          <a:ln w="18000">
            <a:noFill/>
          </a:ln>
        </p:spPr>
        <p:txBody>
          <a:bodyPr lIns="90000" rIns="90000" tIns="45000" bIns="45000" anchor="t">
            <a:noAutofit/>
          </a:bodyPr>
          <a:p>
            <a:r>
              <a:rPr b="1" lang="en-US" sz="1600" spc="-1" strike="noStrike">
                <a:solidFill>
                  <a:srgbClr val="000000"/>
                </a:solidFill>
                <a:latin typeface="Arial"/>
              </a:rPr>
              <a:t>AMD Xilinx Kria K26 SOM – Adaptive Edge AI Module for Vision (KV260 Kit)</a:t>
            </a:r>
            <a:endParaRPr b="1" lang="en-US" sz="1600" spc="-1" strike="noStrike">
              <a:solidFill>
                <a:srgbClr val="000000"/>
              </a:solidFill>
              <a:latin typeface="Arial"/>
            </a:endParaRPr>
          </a:p>
          <a:p>
            <a:endParaRPr b="0" lang="en-US" sz="1000" spc="-1" strike="noStrike">
              <a:solidFill>
                <a:srgbClr val="000000"/>
              </a:solidFill>
              <a:latin typeface="Arial"/>
            </a:endParaRPr>
          </a:p>
        </p:txBody>
      </p:sp>
      <p:pic>
        <p:nvPicPr>
          <p:cNvPr id="46" name="" descr=""/>
          <p:cNvPicPr/>
          <p:nvPr/>
        </p:nvPicPr>
        <p:blipFill>
          <a:blip r:embed="rId1"/>
          <a:stretch/>
        </p:blipFill>
        <p:spPr>
          <a:xfrm>
            <a:off x="7772400" y="744480"/>
            <a:ext cx="2062080" cy="1541520"/>
          </a:xfrm>
          <a:prstGeom prst="rect">
            <a:avLst/>
          </a:prstGeom>
          <a:ln w="18000">
            <a:noFill/>
          </a:ln>
        </p:spPr>
      </p:pic>
      <p:sp>
        <p:nvSpPr>
          <p:cNvPr id="47" name=""/>
          <p:cNvSpPr txBox="1"/>
          <p:nvPr/>
        </p:nvSpPr>
        <p:spPr>
          <a:xfrm>
            <a:off x="50760" y="1143000"/>
            <a:ext cx="7457040" cy="37368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The </a:t>
            </a:r>
            <a:r>
              <a:rPr b="0" lang="en-US" sz="1000" spc="-1" strike="noStrike">
                <a:solidFill>
                  <a:srgbClr val="000000"/>
                </a:solidFill>
                <a:latin typeface="Arial"/>
                <a:hlinkClick r:id="rId2"/>
              </a:rPr>
              <a:t>Kria K26</a:t>
            </a:r>
            <a:r>
              <a:rPr b="0" lang="en-US" sz="1000" spc="-1" strike="noStrike">
                <a:solidFill>
                  <a:srgbClr val="000000"/>
                </a:solidFill>
                <a:latin typeface="Arial"/>
              </a:rPr>
              <a:t> is a system-on-module (SOM) by Xilinx (now part of AMD) targeting vision AI and robotics. It is built around a Xilinx Zynq UltraScale+ MPSoC which combines a quad-core Arm Cortex-A53 CPU with programmable FPGA logic and AI engines. </a:t>
            </a:r>
            <a:r>
              <a:rPr b="0" lang="en-US" sz="1000" spc="-1" strike="noStrike">
                <a:solidFill>
                  <a:srgbClr val="000000"/>
                </a:solidFill>
                <a:latin typeface="Arial"/>
              </a:rPr>
              <a:t>The Kria K26 is optimized for </a:t>
            </a:r>
            <a:r>
              <a:rPr b="1" lang="en-US" sz="1000" spc="-1" strike="noStrike">
                <a:solidFill>
                  <a:srgbClr val="000000"/>
                </a:solidFill>
                <a:latin typeface="Arial"/>
              </a:rPr>
              <a:t>computer vision at the edge, especially in industrial and smart city contexts.</a:t>
            </a:r>
            <a:r>
              <a:rPr b="0" lang="en-US" sz="1000" spc="-1" strike="noStrike">
                <a:solidFill>
                  <a:srgbClr val="000000"/>
                </a:solidFill>
                <a:latin typeface="Arial"/>
              </a:rPr>
              <a:t> Typical applications include </a:t>
            </a:r>
            <a:r>
              <a:rPr b="1" lang="en-US" sz="1000" spc="-1" strike="noStrike">
                <a:solidFill>
                  <a:srgbClr val="000000"/>
                </a:solidFill>
                <a:latin typeface="Arial"/>
              </a:rPr>
              <a:t>smart security cameras, automated optical inspection systems, vision-guided robots, and other embedded AI</a:t>
            </a:r>
            <a:r>
              <a:rPr b="0" lang="en-US" sz="1000" spc="-1" strike="noStrike">
                <a:solidFill>
                  <a:srgbClr val="000000"/>
                </a:solidFill>
                <a:latin typeface="Arial"/>
              </a:rPr>
              <a:t> systems that need flexibility and low latency. </a:t>
            </a:r>
            <a:endParaRPr b="0" lang="en-US" sz="1000" spc="-1" strike="noStrike">
              <a:solidFill>
                <a:srgbClr val="000000"/>
              </a:solidFill>
              <a:latin typeface="Arial"/>
            </a:endParaRPr>
          </a:p>
        </p:txBody>
      </p:sp>
      <p:sp>
        <p:nvSpPr>
          <p:cNvPr id="48" name=""/>
          <p:cNvSpPr txBox="1"/>
          <p:nvPr/>
        </p:nvSpPr>
        <p:spPr>
          <a:xfrm>
            <a:off x="127080" y="1985400"/>
            <a:ext cx="7188120" cy="608760"/>
          </a:xfrm>
          <a:prstGeom prst="rect">
            <a:avLst/>
          </a:prstGeom>
          <a:noFill/>
          <a:ln w="18000">
            <a:noFill/>
          </a:ln>
        </p:spPr>
        <p:txBody>
          <a:bodyPr lIns="90000" rIns="90000" tIns="45000" bIns="45000" anchor="t">
            <a:noAutofit/>
          </a:bodyPr>
          <a:p>
            <a:r>
              <a:rPr b="1" lang="en-US" sz="1600" spc="-1" strike="noStrike">
                <a:solidFill>
                  <a:srgbClr val="000000"/>
                </a:solidFill>
                <a:latin typeface="Arial"/>
              </a:rPr>
              <a:t>Qualcomm Robotics RB5 Platform – 5G-Enabled SoC for Edge AI Robots</a:t>
            </a:r>
            <a:endParaRPr b="1" lang="en-US" sz="1600" spc="-1" strike="noStrike">
              <a:solidFill>
                <a:srgbClr val="000000"/>
              </a:solidFill>
              <a:latin typeface="Arial"/>
            </a:endParaRPr>
          </a:p>
          <a:p>
            <a:endParaRPr b="0" lang="en-US" sz="1000" spc="-1" strike="noStrike">
              <a:solidFill>
                <a:srgbClr val="000000"/>
              </a:solidFill>
              <a:latin typeface="Arial"/>
            </a:endParaRPr>
          </a:p>
        </p:txBody>
      </p:sp>
      <p:sp>
        <p:nvSpPr>
          <p:cNvPr id="49" name=""/>
          <p:cNvSpPr txBox="1"/>
          <p:nvPr/>
        </p:nvSpPr>
        <p:spPr>
          <a:xfrm>
            <a:off x="134640" y="2370600"/>
            <a:ext cx="7180560" cy="799200"/>
          </a:xfrm>
          <a:prstGeom prst="rect">
            <a:avLst/>
          </a:prstGeom>
          <a:noFill/>
          <a:ln w="18000">
            <a:noFill/>
          </a:ln>
        </p:spPr>
        <p:txBody>
          <a:bodyPr lIns="90000" rIns="90000" tIns="45000" bIns="45000" anchor="t">
            <a:noAutofit/>
          </a:bodyPr>
          <a:p>
            <a:r>
              <a:rPr b="0" lang="en-US" sz="1000" spc="-1" strike="noStrike">
                <a:solidFill>
                  <a:srgbClr val="000000"/>
                </a:solidFill>
                <a:latin typeface="Arial"/>
                <a:hlinkClick r:id="rId3"/>
              </a:rPr>
              <a:t>Qualcomm’s Robotics RB5</a:t>
            </a:r>
            <a:r>
              <a:rPr b="0" lang="en-US" sz="1000" spc="-1" strike="noStrike">
                <a:solidFill>
                  <a:srgbClr val="000000"/>
                </a:solidFill>
                <a:latin typeface="Arial"/>
              </a:rPr>
              <a:t> is a cutting-edge platform combining high-performance AI computing with advanced connectivity. At its heart is the Qualcomm QRB5165 SoC (derived from the Snapdragon series), featuring an octa-core Kryo 585 CPU, an Adreno 650 GPU, and Qualcomm’s 5th-generation AI Engine. The AI Engine – which includes the Hexagon Tensor Accelerator (HTA) – delivers 15 TOPS of on-device AI performance for deep learning and computer vision tasks. Notably, the RB5’s image signal processor (Spectra 480 ISP) supports up to 7 concurrent cameras, enabling multi-camera setups for 360° sensing or stereo vision. The platform also supports 5G connectivity (via a companion modem module), allowing low-latency communication and teleoperation for robots.</a:t>
            </a:r>
            <a:br>
              <a:rPr sz="1000"/>
            </a:br>
            <a:r>
              <a:rPr b="0" lang="en-US" sz="1000" spc="-1" strike="noStrike">
                <a:solidFill>
                  <a:srgbClr val="000000"/>
                </a:solidFill>
                <a:latin typeface="Arial"/>
              </a:rPr>
              <a:t>The RB5 is purpose-built for next-gen robots, drones, and autonomous machines. Its powerful heterogeneous computing (CPU, GPU, DSPs, ISP) and dedicated AI cores make it ideal for mobile robots performing sensor fusion, real-time object detection, SLAM (simultaneous localization and mapping), and path planning on-device. </a:t>
            </a:r>
            <a:endParaRPr b="0" lang="en-US" sz="1000" spc="-1" strike="noStrike">
              <a:solidFill>
                <a:srgbClr val="000000"/>
              </a:solidFill>
              <a:latin typeface="Arial"/>
            </a:endParaRPr>
          </a:p>
        </p:txBody>
      </p:sp>
      <p:pic>
        <p:nvPicPr>
          <p:cNvPr id="50" name="" descr=""/>
          <p:cNvPicPr/>
          <p:nvPr/>
        </p:nvPicPr>
        <p:blipFill>
          <a:blip r:embed="rId4"/>
          <a:stretch/>
        </p:blipFill>
        <p:spPr>
          <a:xfrm>
            <a:off x="7543800" y="2286000"/>
            <a:ext cx="2225880" cy="1828800"/>
          </a:xfrm>
          <a:prstGeom prst="rect">
            <a:avLst/>
          </a:prstGeom>
          <a:ln w="18000">
            <a:noFill/>
          </a:ln>
        </p:spPr>
      </p:pic>
      <p:sp>
        <p:nvSpPr>
          <p:cNvPr id="51" name=""/>
          <p:cNvSpPr txBox="1"/>
          <p:nvPr/>
        </p:nvSpPr>
        <p:spPr>
          <a:xfrm>
            <a:off x="64800" y="3886200"/>
            <a:ext cx="3364200" cy="969840"/>
          </a:xfrm>
          <a:prstGeom prst="rect">
            <a:avLst/>
          </a:prstGeom>
          <a:noFill/>
          <a:ln w="18000">
            <a:noFill/>
          </a:ln>
        </p:spPr>
        <p:txBody>
          <a:bodyPr lIns="90000" rIns="90000" tIns="45000" bIns="45000" anchor="t">
            <a:noAutofit/>
          </a:bodyPr>
          <a:p>
            <a:r>
              <a:rPr b="1" lang="en-US" sz="1200" spc="-1" strike="noStrike">
                <a:solidFill>
                  <a:srgbClr val="000000"/>
                </a:solidFill>
                <a:latin typeface="Arial"/>
              </a:rPr>
              <a:t>Benefits of Using Machine Learning at Edge</a:t>
            </a:r>
            <a:endParaRPr b="0" lang="en-US" sz="1200" spc="-1" strike="noStrike">
              <a:solidFill>
                <a:srgbClr val="000000"/>
              </a:solidFill>
              <a:latin typeface="Arial"/>
            </a:endParaRPr>
          </a:p>
          <a:p>
            <a:r>
              <a:rPr b="0" lang="en-US" sz="1000" spc="-1" strike="noStrike">
                <a:solidFill>
                  <a:srgbClr val="000000"/>
                </a:solidFill>
                <a:latin typeface="Arial"/>
              </a:rPr>
              <a:t>Higher Scalability  </a:t>
            </a:r>
            <a:endParaRPr b="0" lang="en-US" sz="1000" spc="-1" strike="noStrike">
              <a:solidFill>
                <a:srgbClr val="000000"/>
              </a:solidFill>
              <a:latin typeface="Arial"/>
            </a:endParaRPr>
          </a:p>
          <a:p>
            <a:r>
              <a:rPr b="0" lang="en-US" sz="1000" spc="-1" strike="noStrike">
                <a:solidFill>
                  <a:srgbClr val="000000"/>
                </a:solidFill>
                <a:latin typeface="Arial"/>
              </a:rPr>
              <a:t>Data Protection &amp; Security  </a:t>
            </a:r>
            <a:endParaRPr b="0" lang="en-US" sz="1000" spc="-1" strike="noStrike">
              <a:solidFill>
                <a:srgbClr val="000000"/>
              </a:solidFill>
              <a:latin typeface="Arial"/>
            </a:endParaRPr>
          </a:p>
          <a:p>
            <a:r>
              <a:rPr b="0" lang="en-US" sz="1000" spc="-1" strike="noStrike">
                <a:solidFill>
                  <a:srgbClr val="000000"/>
                </a:solidFill>
                <a:latin typeface="Arial"/>
              </a:rPr>
              <a:t>Low Operational Risks  </a:t>
            </a:r>
            <a:endParaRPr b="0" lang="en-US" sz="1000" spc="-1" strike="noStrike">
              <a:solidFill>
                <a:srgbClr val="000000"/>
              </a:solidFill>
              <a:latin typeface="Arial"/>
            </a:endParaRPr>
          </a:p>
          <a:p>
            <a:r>
              <a:rPr b="0" lang="en-US" sz="1000" spc="-1" strike="noStrike">
                <a:solidFill>
                  <a:srgbClr val="000000"/>
                </a:solidFill>
                <a:latin typeface="Arial"/>
              </a:rPr>
              <a:t>Reduced Latency Rate  </a:t>
            </a:r>
            <a:endParaRPr b="0" lang="en-US" sz="1000" spc="-1" strike="noStrike">
              <a:solidFill>
                <a:srgbClr val="000000"/>
              </a:solidFill>
              <a:latin typeface="Arial"/>
            </a:endParaRPr>
          </a:p>
          <a:p>
            <a:r>
              <a:rPr b="0" lang="en-US" sz="1000" spc="-1" strike="noStrike">
                <a:solidFill>
                  <a:srgbClr val="000000"/>
                </a:solidFill>
                <a:latin typeface="Arial"/>
              </a:rPr>
              <a:t>Cost-Effectiveness</a:t>
            </a:r>
            <a:endParaRPr b="0" lang="en-US" sz="1000" spc="-1" strike="noStrike">
              <a:solidFill>
                <a:srgbClr val="000000"/>
              </a:solidFill>
              <a:latin typeface="Arial"/>
            </a:endParaRPr>
          </a:p>
        </p:txBody>
      </p:sp>
      <p:sp>
        <p:nvSpPr>
          <p:cNvPr id="52" name=""/>
          <p:cNvSpPr txBox="1"/>
          <p:nvPr/>
        </p:nvSpPr>
        <p:spPr>
          <a:xfrm>
            <a:off x="228600" y="5146560"/>
            <a:ext cx="7772400" cy="231840"/>
          </a:xfrm>
          <a:prstGeom prst="rect">
            <a:avLst/>
          </a:prstGeom>
          <a:noFill/>
          <a:ln w="18000">
            <a:noFill/>
          </a:ln>
        </p:spPr>
        <p:txBody>
          <a:bodyPr lIns="90000" rIns="90000" tIns="45000" bIns="45000" anchor="t">
            <a:noAutofit/>
          </a:bodyPr>
          <a:p>
            <a:r>
              <a:rPr b="1" lang="en-US" sz="2000" spc="-1" strike="noStrike">
                <a:solidFill>
                  <a:srgbClr val="069a2e"/>
                </a:solidFill>
                <a:latin typeface="Arial"/>
              </a:rPr>
              <a:t>Question</a:t>
            </a:r>
            <a:r>
              <a:rPr b="0" lang="en-US" sz="2000" spc="-1" strike="noStrike">
                <a:solidFill>
                  <a:srgbClr val="069a2e"/>
                </a:solidFill>
                <a:latin typeface="Arial"/>
              </a:rPr>
              <a:t>: </a:t>
            </a:r>
            <a:r>
              <a:rPr b="0" lang="en-US" sz="2000" spc="-1" strike="noStrike">
                <a:solidFill>
                  <a:srgbClr val="ff0000"/>
                </a:solidFill>
                <a:latin typeface="Arial"/>
              </a:rPr>
              <a:t>Will edge computing replace cloud computing ?</a:t>
            </a:r>
            <a:endParaRPr b="0" lang="en-US" sz="2000" spc="-1" strike="noStrike">
              <a:solidFill>
                <a:srgbClr val="069a2e"/>
              </a:solidFill>
              <a:latin typeface="Arial"/>
            </a:endParaRPr>
          </a:p>
        </p:txBody>
      </p:sp>
      <p:sp>
        <p:nvSpPr>
          <p:cNvPr id="3" name="PlaceHolder 2"/>
          <p:cNvSpPr>
            <a:spLocks noGrp="1"/>
          </p:cNvSpPr>
          <p:nvPr>
            <p:ph type="sldNum" idx="6"/>
          </p:nvPr>
        </p:nvSpPr>
        <p:spPr/>
        <p:txBody>
          <a:bodyPr/>
          <a:p>
            <a:fld id="{CB9DB391-E8D0-4A72-8EF7-759403848579}"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US" sz="3300" spc="-1" strike="noStrike">
                <a:solidFill>
                  <a:srgbClr val="ffffff"/>
                </a:solidFill>
                <a:latin typeface="Arial"/>
              </a:rPr>
              <a:t>Edge vs Cloud</a:t>
            </a:r>
            <a:endParaRPr b="0" lang="en-US" sz="3300" spc="-1" strike="noStrike">
              <a:solidFill>
                <a:srgbClr val="ffffff"/>
              </a:solidFill>
              <a:latin typeface="Arial"/>
            </a:endParaRPr>
          </a:p>
        </p:txBody>
      </p:sp>
      <p:sp>
        <p:nvSpPr>
          <p:cNvPr id="54" name=""/>
          <p:cNvSpPr txBox="1"/>
          <p:nvPr/>
        </p:nvSpPr>
        <p:spPr>
          <a:xfrm>
            <a:off x="30960" y="756000"/>
            <a:ext cx="3626640" cy="615600"/>
          </a:xfrm>
          <a:prstGeom prst="rect">
            <a:avLst/>
          </a:prstGeom>
          <a:noFill/>
          <a:ln w="18000">
            <a:noFill/>
          </a:ln>
        </p:spPr>
        <p:txBody>
          <a:bodyPr lIns="90000" rIns="90000" tIns="45000" bIns="45000" anchor="t">
            <a:noAutofit/>
          </a:bodyPr>
          <a:p>
            <a:endParaRPr b="1" lang="en-US" sz="1200" spc="-1" strike="noStrike">
              <a:solidFill>
                <a:srgbClr val="000000"/>
              </a:solidFill>
              <a:latin typeface="Arial"/>
            </a:endParaRPr>
          </a:p>
          <a:p>
            <a:endParaRPr b="0" lang="en-US" sz="1000" spc="-1" strike="noStrike">
              <a:solidFill>
                <a:srgbClr val="000000"/>
              </a:solidFill>
              <a:latin typeface="Arial"/>
            </a:endParaRPr>
          </a:p>
          <a:p>
            <a:endParaRPr b="0" lang="en-US" sz="1000" spc="-1" strike="noStrike">
              <a:solidFill>
                <a:srgbClr val="000000"/>
              </a:solidFill>
              <a:latin typeface="Arial"/>
            </a:endParaRPr>
          </a:p>
        </p:txBody>
      </p:sp>
      <p:sp>
        <p:nvSpPr>
          <p:cNvPr id="55" name=""/>
          <p:cNvSpPr txBox="1"/>
          <p:nvPr/>
        </p:nvSpPr>
        <p:spPr>
          <a:xfrm>
            <a:off x="0" y="819000"/>
            <a:ext cx="10058400" cy="1725840"/>
          </a:xfrm>
          <a:prstGeom prst="rect">
            <a:avLst/>
          </a:prstGeom>
          <a:noFill/>
          <a:ln w="18000">
            <a:noFill/>
          </a:ln>
        </p:spPr>
        <p:txBody>
          <a:bodyPr lIns="90000" rIns="90000" tIns="45000" bIns="45000" anchor="t">
            <a:noAutofit/>
          </a:bodyPr>
          <a:p>
            <a:r>
              <a:rPr b="1" lang="en-US" sz="1200" spc="-1" strike="noStrike">
                <a:solidFill>
                  <a:srgbClr val="000000"/>
                </a:solidFill>
                <a:latin typeface="Arial"/>
              </a:rPr>
              <a:t>1. They solve different problems</a:t>
            </a:r>
            <a:endParaRPr b="1" lang="en-US" sz="1200" spc="-1" strike="noStrike">
              <a:solidFill>
                <a:srgbClr val="000000"/>
              </a:solidFill>
              <a:latin typeface="Arial"/>
            </a:endParaRPr>
          </a:p>
          <a:p>
            <a:r>
              <a:rPr b="0" lang="en-US" sz="1000" spc="-1" strike="noStrike">
                <a:solidFill>
                  <a:srgbClr val="000000"/>
                </a:solidFill>
                <a:latin typeface="Arial"/>
              </a:rPr>
              <a:t>Edge computing handles real-time, low-latency, privacy-sensitive tasks close to where data is produced. Examples: autonomous cars, industrial robots, smart cameras.</a:t>
            </a:r>
            <a:endParaRPr b="0" lang="en-US" sz="1000" spc="-1" strike="noStrike">
              <a:solidFill>
                <a:srgbClr val="000000"/>
              </a:solidFill>
              <a:latin typeface="Arial"/>
            </a:endParaRPr>
          </a:p>
          <a:p>
            <a:r>
              <a:rPr b="0" lang="en-US" sz="1000" spc="-1" strike="noStrike">
                <a:solidFill>
                  <a:srgbClr val="000000"/>
                </a:solidFill>
                <a:latin typeface="Arial"/>
              </a:rPr>
              <a:t>Cloud computing handles large-scale computation, long-term storage, training big AI models, analytics, backups. Examples: training GPT models, global databases, business applications.</a:t>
            </a:r>
            <a:endParaRPr b="0" lang="en-US" sz="1000" spc="-1" strike="noStrike">
              <a:solidFill>
                <a:srgbClr val="000000"/>
              </a:solidFill>
              <a:latin typeface="Arial"/>
            </a:endParaRPr>
          </a:p>
          <a:p>
            <a:r>
              <a:rPr b="1" lang="en-US" sz="1000" spc="-1" strike="noStrike">
                <a:solidFill>
                  <a:srgbClr val="000000"/>
                </a:solidFill>
                <a:latin typeface="Arial"/>
              </a:rPr>
              <a:t>2. Data growth is so large that cloud becomes more necessary</a:t>
            </a:r>
            <a:endParaRPr b="0" lang="en-US" sz="1000" spc="-1" strike="noStrike">
              <a:solidFill>
                <a:srgbClr val="000000"/>
              </a:solidFill>
              <a:latin typeface="Arial"/>
            </a:endParaRPr>
          </a:p>
          <a:p>
            <a:r>
              <a:rPr b="1" lang="en-US" sz="1000" spc="-1" strike="noStrike">
                <a:solidFill>
                  <a:srgbClr val="000000"/>
                </a:solidFill>
                <a:latin typeface="Arial"/>
              </a:rPr>
              <a:t>3. Edge computing depends on the cloud</a:t>
            </a:r>
            <a:endParaRPr b="0" lang="en-US" sz="1000" spc="-1" strike="noStrike">
              <a:solidFill>
                <a:srgbClr val="000000"/>
              </a:solidFill>
              <a:latin typeface="Arial"/>
            </a:endParaRPr>
          </a:p>
          <a:p>
            <a:r>
              <a:rPr b="1" lang="en-US" sz="1000" spc="-1" strike="noStrike">
                <a:solidFill>
                  <a:srgbClr val="000000"/>
                </a:solidFill>
                <a:latin typeface="Arial"/>
              </a:rPr>
              <a:t>4. Industry is moving to “cloud on the edge” ,  </a:t>
            </a:r>
            <a:r>
              <a:rPr b="0" lang="en-US" sz="1000" spc="-1" strike="noStrike">
                <a:solidFill>
                  <a:srgbClr val="000000"/>
                </a:solidFill>
                <a:latin typeface="Arial"/>
              </a:rPr>
              <a:t>AWS Greengrass,  Azure IoT Edge, Google Distributed Cloud Edge</a:t>
            </a:r>
            <a:endParaRPr b="0" lang="en-US" sz="1000" spc="-1" strike="noStrike">
              <a:solidFill>
                <a:srgbClr val="000000"/>
              </a:solidFill>
              <a:latin typeface="Arial"/>
            </a:endParaRPr>
          </a:p>
          <a:p>
            <a:endParaRPr b="0" lang="en-US" sz="1000" spc="-1" strike="noStrike">
              <a:solidFill>
                <a:srgbClr val="000000"/>
              </a:solidFill>
              <a:latin typeface="Arial"/>
            </a:endParaRPr>
          </a:p>
          <a:p>
            <a:endParaRPr b="0" lang="en-US" sz="1000" spc="-1" strike="noStrike">
              <a:solidFill>
                <a:srgbClr val="000000"/>
              </a:solidFill>
              <a:latin typeface="Arial"/>
            </a:endParaRPr>
          </a:p>
        </p:txBody>
      </p:sp>
      <p:pic>
        <p:nvPicPr>
          <p:cNvPr id="56" name="" descr=""/>
          <p:cNvPicPr/>
          <p:nvPr/>
        </p:nvPicPr>
        <p:blipFill>
          <a:blip r:embed="rId1"/>
          <a:stretch/>
        </p:blipFill>
        <p:spPr>
          <a:xfrm>
            <a:off x="228600" y="2967120"/>
            <a:ext cx="3200400" cy="2049480"/>
          </a:xfrm>
          <a:prstGeom prst="rect">
            <a:avLst/>
          </a:prstGeom>
          <a:ln w="18000">
            <a:noFill/>
          </a:ln>
        </p:spPr>
      </p:pic>
      <p:pic>
        <p:nvPicPr>
          <p:cNvPr id="57" name="" descr=""/>
          <p:cNvPicPr/>
          <p:nvPr/>
        </p:nvPicPr>
        <p:blipFill>
          <a:blip r:embed="rId2"/>
          <a:stretch/>
        </p:blipFill>
        <p:spPr>
          <a:xfrm>
            <a:off x="3886200" y="2743200"/>
            <a:ext cx="4514400" cy="2286000"/>
          </a:xfrm>
          <a:prstGeom prst="rect">
            <a:avLst/>
          </a:prstGeom>
          <a:ln w="18000">
            <a:noFill/>
          </a:ln>
        </p:spPr>
      </p:pic>
      <p:sp>
        <p:nvSpPr>
          <p:cNvPr id="3" name="PlaceHolder 2"/>
          <p:cNvSpPr>
            <a:spLocks noGrp="1"/>
          </p:cNvSpPr>
          <p:nvPr>
            <p:ph type="sldNum" idx="6"/>
          </p:nvPr>
        </p:nvSpPr>
        <p:spPr/>
        <p:txBody>
          <a:bodyPr/>
          <a:p>
            <a:fld id="{16C5EBB0-8341-44FE-85CE-324DB622D301}"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US" sz="3300" spc="-1" strike="noStrike">
                <a:solidFill>
                  <a:srgbClr val="ffffff"/>
                </a:solidFill>
                <a:latin typeface="Arial"/>
              </a:rPr>
              <a:t>Data center – AI accelerators</a:t>
            </a:r>
            <a:endParaRPr b="0" lang="en-US" sz="3300" spc="-1" strike="noStrike">
              <a:solidFill>
                <a:srgbClr val="ffffff"/>
              </a:solidFill>
              <a:latin typeface="Arial"/>
            </a:endParaRPr>
          </a:p>
        </p:txBody>
      </p:sp>
      <p:sp>
        <p:nvSpPr>
          <p:cNvPr id="59" name=""/>
          <p:cNvSpPr txBox="1"/>
          <p:nvPr/>
        </p:nvSpPr>
        <p:spPr>
          <a:xfrm>
            <a:off x="64800" y="797040"/>
            <a:ext cx="9428400" cy="959760"/>
          </a:xfrm>
          <a:prstGeom prst="rect">
            <a:avLst/>
          </a:prstGeom>
          <a:noFill/>
          <a:ln w="18000">
            <a:noFill/>
          </a:ln>
        </p:spPr>
        <p:txBody>
          <a:bodyPr lIns="90000" rIns="90000" tIns="45000" bIns="45000" anchor="t">
            <a:noAutofit/>
          </a:bodyPr>
          <a:p>
            <a:r>
              <a:rPr b="1" lang="en-US" sz="1000" spc="-1" strike="noStrike">
                <a:solidFill>
                  <a:srgbClr val="000000"/>
                </a:solidFill>
                <a:latin typeface="Arial"/>
              </a:rPr>
              <a:t>Cloud:</a:t>
            </a:r>
            <a:r>
              <a:rPr b="0" lang="en-US" sz="1000" spc="-1" strike="noStrike">
                <a:solidFill>
                  <a:srgbClr val="000000"/>
                </a:solidFill>
                <a:latin typeface="Arial"/>
              </a:rPr>
              <a:t> Computing resources (servers, storage, databases, networking) delivered over the internet and owned and managed by providers like AWS, Google Cloud (GCP), and Microsoft Azure. </a:t>
            </a:r>
            <a:br>
              <a:rPr sz="1000"/>
            </a:br>
            <a:r>
              <a:rPr b="1" lang="en-US" sz="1000" spc="-1" strike="noStrike">
                <a:solidFill>
                  <a:srgbClr val="000000"/>
                </a:solidFill>
                <a:latin typeface="Arial"/>
              </a:rPr>
              <a:t>Data center:</a:t>
            </a:r>
            <a:r>
              <a:rPr b="0" lang="en-US" sz="1000" spc="-1" strike="noStrike">
                <a:solidFill>
                  <a:srgbClr val="000000"/>
                </a:solidFill>
                <a:latin typeface="Arial"/>
              </a:rPr>
              <a:t> A physical facility with servers, storage, networking, cooling, and security that is usually owned and managed on-premises by a company itself.</a:t>
            </a:r>
            <a:endParaRPr b="0" lang="en-US" sz="1000" spc="-1" strike="noStrike">
              <a:solidFill>
                <a:srgbClr val="000000"/>
              </a:solidFill>
              <a:latin typeface="Arial"/>
            </a:endParaRPr>
          </a:p>
          <a:p>
            <a:r>
              <a:rPr b="0" lang="en-US" sz="1000" spc="-1" strike="noStrike">
                <a:solidFill>
                  <a:srgbClr val="000000"/>
                </a:solidFill>
                <a:latin typeface="Arial"/>
              </a:rPr>
              <a:t>AI data centers are specialized facilities designed to run artificial intelligence workloads, equipped with high-performance hardware (GPUs, TPUs, AI accelerators), massive storage systems, and advanced cooling and power infrastructure to train, deploy, and scale large AI models efficiently.</a:t>
            </a:r>
            <a:endParaRPr b="0" lang="en-US" sz="1000" spc="-1" strike="noStrike">
              <a:solidFill>
                <a:srgbClr val="000000"/>
              </a:solidFill>
              <a:latin typeface="Arial"/>
            </a:endParaRPr>
          </a:p>
          <a:p>
            <a:endParaRPr b="0" lang="en-US" sz="1000" spc="-1" strike="noStrike">
              <a:solidFill>
                <a:srgbClr val="000000"/>
              </a:solidFill>
              <a:latin typeface="Arial"/>
            </a:endParaRPr>
          </a:p>
        </p:txBody>
      </p:sp>
      <p:pic>
        <p:nvPicPr>
          <p:cNvPr id="60" name="" descr=""/>
          <p:cNvPicPr/>
          <p:nvPr/>
        </p:nvPicPr>
        <p:blipFill>
          <a:blip r:embed="rId1"/>
          <a:stretch/>
        </p:blipFill>
        <p:spPr>
          <a:xfrm>
            <a:off x="457200" y="2286000"/>
            <a:ext cx="4336200" cy="2471400"/>
          </a:xfrm>
          <a:prstGeom prst="rect">
            <a:avLst/>
          </a:prstGeom>
          <a:ln w="18000">
            <a:noFill/>
          </a:ln>
        </p:spPr>
      </p:pic>
      <p:sp>
        <p:nvSpPr>
          <p:cNvPr id="61" name=""/>
          <p:cNvSpPr txBox="1"/>
          <p:nvPr/>
        </p:nvSpPr>
        <p:spPr>
          <a:xfrm>
            <a:off x="5029200" y="2057400"/>
            <a:ext cx="4800600" cy="68580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Computer accelerators, or hardware accelerators, are specialized components designed to efficiently offload and speed up specific, computationally intensive tasks from the general-purpose Central Processing Unit (CPU).</a:t>
            </a:r>
            <a:br>
              <a:rPr sz="1000"/>
            </a:br>
            <a:br>
              <a:rPr sz="1000"/>
            </a:br>
            <a:r>
              <a:rPr b="0" lang="en-US" sz="1000" spc="-1" strike="noStrike">
                <a:solidFill>
                  <a:srgbClr val="000000"/>
                </a:solidFill>
                <a:latin typeface="Arial"/>
              </a:rPr>
              <a:t>GPU (Graphics Processing Unit) – Originally designed for graphics but well suited for parallel nature of AI computation.</a:t>
            </a:r>
            <a:endParaRPr b="0" lang="en-US" sz="1000" spc="-1" strike="noStrike">
              <a:solidFill>
                <a:srgbClr val="000000"/>
              </a:solidFill>
              <a:latin typeface="Arial"/>
            </a:endParaRPr>
          </a:p>
          <a:p>
            <a:r>
              <a:rPr b="0" lang="en-US" sz="1000" spc="-1" strike="noStrike">
                <a:solidFill>
                  <a:srgbClr val="000000"/>
                </a:solidFill>
                <a:latin typeface="Arial"/>
              </a:rPr>
              <a:t>TPU (Tensor Processing Unit) – Developed by Google for machine learning workloads.</a:t>
            </a:r>
            <a:endParaRPr b="0" lang="en-US" sz="1000" spc="-1" strike="noStrike">
              <a:solidFill>
                <a:srgbClr val="000000"/>
              </a:solidFill>
              <a:latin typeface="Arial"/>
            </a:endParaRPr>
          </a:p>
          <a:p>
            <a:r>
              <a:rPr b="0" lang="en-US" sz="1000" spc="-1" strike="noStrike">
                <a:solidFill>
                  <a:srgbClr val="000000"/>
                </a:solidFill>
                <a:latin typeface="Arial"/>
              </a:rPr>
              <a:t>ASIC (Application specific Integrated Circuits): Custom designed chips for a specific task, offering high performance and efficiency for AI tasks,</a:t>
            </a:r>
            <a:endParaRPr b="0" lang="en-US" sz="1000" spc="-1" strike="noStrike">
              <a:solidFill>
                <a:srgbClr val="000000"/>
              </a:solidFill>
              <a:latin typeface="Arial"/>
            </a:endParaRPr>
          </a:p>
          <a:p>
            <a:r>
              <a:rPr b="0" lang="en-US" sz="1000" spc="-1" strike="noStrike">
                <a:solidFill>
                  <a:srgbClr val="000000"/>
                </a:solidFill>
                <a:latin typeface="Arial"/>
              </a:rPr>
              <a:t>Field Programmable Gate Arrays (FPGAs): Programmable chips that can be reconfigured to act as a specialized AI accelerator.</a:t>
            </a:r>
            <a:endParaRPr b="0" lang="en-US" sz="1000" spc="-1" strike="noStrike">
              <a:solidFill>
                <a:srgbClr val="000000"/>
              </a:solidFill>
              <a:latin typeface="Arial"/>
            </a:endParaRPr>
          </a:p>
          <a:p>
            <a:r>
              <a:rPr b="0" lang="en-US" sz="1000" spc="-1" strike="noStrike">
                <a:solidFill>
                  <a:srgbClr val="000000"/>
                </a:solidFill>
                <a:latin typeface="Arial"/>
              </a:rPr>
              <a:t>Neural Processing Units (NPUs): A term often used for chips specifically designed to accelerate neural networks.</a:t>
            </a:r>
            <a:endParaRPr b="0" lang="en-US" sz="1000" spc="-1" strike="noStrike">
              <a:solidFill>
                <a:srgbClr val="000000"/>
              </a:solidFill>
              <a:latin typeface="Arial"/>
            </a:endParaRPr>
          </a:p>
          <a:p>
            <a:endParaRPr b="0" lang="en-US" sz="1000" spc="-1" strike="noStrike">
              <a:solidFill>
                <a:srgbClr val="000000"/>
              </a:solidFill>
              <a:latin typeface="Arial"/>
            </a:endParaRPr>
          </a:p>
        </p:txBody>
      </p:sp>
      <p:sp>
        <p:nvSpPr>
          <p:cNvPr id="3" name="PlaceHolder 2"/>
          <p:cNvSpPr>
            <a:spLocks noGrp="1"/>
          </p:cNvSpPr>
          <p:nvPr>
            <p:ph type="sldNum" idx="6"/>
          </p:nvPr>
        </p:nvSpPr>
        <p:spPr/>
        <p:txBody>
          <a:bodyPr/>
          <a:p>
            <a:fld id="{A580E2C4-39F5-4E78-A69A-DC9CF14D7AEF}"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US" sz="3300" spc="-1" strike="noStrike">
                <a:solidFill>
                  <a:srgbClr val="ffffff"/>
                </a:solidFill>
                <a:latin typeface="Arial"/>
              </a:rPr>
              <a:t>CPU vs GPU</a:t>
            </a:r>
            <a:endParaRPr b="0" lang="en-US" sz="3300" spc="-1" strike="noStrike">
              <a:solidFill>
                <a:srgbClr val="ffffff"/>
              </a:solidFill>
              <a:latin typeface="Arial"/>
            </a:endParaRPr>
          </a:p>
        </p:txBody>
      </p:sp>
      <p:pic>
        <p:nvPicPr>
          <p:cNvPr id="63" name="" descr=""/>
          <p:cNvPicPr/>
          <p:nvPr/>
        </p:nvPicPr>
        <p:blipFill>
          <a:blip r:embed="rId1"/>
          <a:stretch/>
        </p:blipFill>
        <p:spPr>
          <a:xfrm>
            <a:off x="36000" y="1805400"/>
            <a:ext cx="3393000" cy="2971800"/>
          </a:xfrm>
          <a:prstGeom prst="rect">
            <a:avLst/>
          </a:prstGeom>
          <a:ln w="18000">
            <a:noFill/>
          </a:ln>
        </p:spPr>
      </p:pic>
      <p:sp>
        <p:nvSpPr>
          <p:cNvPr id="64" name=""/>
          <p:cNvSpPr txBox="1"/>
          <p:nvPr/>
        </p:nvSpPr>
        <p:spPr>
          <a:xfrm>
            <a:off x="0" y="478080"/>
            <a:ext cx="3429000" cy="1370160"/>
          </a:xfrm>
          <a:prstGeom prst="rect">
            <a:avLst/>
          </a:prstGeom>
          <a:noFill/>
          <a:ln w="18000">
            <a:noFill/>
          </a:ln>
        </p:spPr>
        <p:txBody>
          <a:bodyPr lIns="90000" rIns="90000" tIns="45000" bIns="45000" anchor="t">
            <a:noAutofit/>
          </a:bodyPr>
          <a:p>
            <a:endParaRPr b="0" lang="en-US" sz="1800" spc="-1" strike="noStrike">
              <a:solidFill>
                <a:srgbClr val="000000"/>
              </a:solidFill>
              <a:latin typeface="Arial"/>
            </a:endParaRPr>
          </a:p>
          <a:p>
            <a:r>
              <a:rPr b="1" lang="en-US" sz="1800" spc="-1" strike="noStrike">
                <a:solidFill>
                  <a:srgbClr val="000000"/>
                </a:solidFill>
                <a:latin typeface="Arial"/>
              </a:rPr>
              <a:t>Multi – Core CPU</a:t>
            </a:r>
            <a:endParaRPr b="0" lang="en-US" sz="1800" spc="-1" strike="noStrike">
              <a:solidFill>
                <a:srgbClr val="000000"/>
              </a:solidFill>
              <a:latin typeface="Arial"/>
            </a:endParaRPr>
          </a:p>
          <a:p>
            <a:r>
              <a:rPr b="0" lang="en-US" sz="1800" spc="-1" strike="noStrike">
                <a:solidFill>
                  <a:srgbClr val="000000"/>
                </a:solidFill>
                <a:latin typeface="Arial"/>
              </a:rPr>
              <a:t>Core: Self-contained, independent, processing unit</a:t>
            </a:r>
            <a:endParaRPr b="0" lang="en-US" sz="1800" spc="-1" strike="noStrike">
              <a:solidFill>
                <a:srgbClr val="000000"/>
              </a:solidFill>
              <a:latin typeface="Arial"/>
            </a:endParaRPr>
          </a:p>
        </p:txBody>
      </p:sp>
      <p:pic>
        <p:nvPicPr>
          <p:cNvPr id="65" name="" descr=""/>
          <p:cNvPicPr/>
          <p:nvPr/>
        </p:nvPicPr>
        <p:blipFill>
          <a:blip r:embed="rId2"/>
          <a:stretch/>
        </p:blipFill>
        <p:spPr>
          <a:xfrm>
            <a:off x="3896640" y="914400"/>
            <a:ext cx="5933160" cy="3886200"/>
          </a:xfrm>
          <a:prstGeom prst="rect">
            <a:avLst/>
          </a:prstGeom>
          <a:ln w="18000">
            <a:noFill/>
          </a:ln>
        </p:spPr>
      </p:pic>
      <p:sp>
        <p:nvSpPr>
          <p:cNvPr id="3" name="PlaceHolder 2"/>
          <p:cNvSpPr>
            <a:spLocks noGrp="1"/>
          </p:cNvSpPr>
          <p:nvPr>
            <p:ph type="sldNum" idx="6"/>
          </p:nvPr>
        </p:nvSpPr>
        <p:spPr/>
        <p:txBody>
          <a:bodyPr/>
          <a:p>
            <a:fld id="{60D17147-B4E5-4FDF-B3C1-712947BD2DDF}"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ffffff"/>
                </a:solidFill>
                <a:latin typeface="Arial"/>
              </a:rPr>
              <a:t>CPU vs GPU</a:t>
            </a:r>
            <a:endParaRPr b="1" lang="en-US" sz="3300" spc="-1" strike="noStrike">
              <a:solidFill>
                <a:srgbClr val="ffffff"/>
              </a:solidFill>
              <a:latin typeface="Arial"/>
            </a:endParaRPr>
          </a:p>
        </p:txBody>
      </p:sp>
      <p:pic>
        <p:nvPicPr>
          <p:cNvPr id="67" name="" descr=""/>
          <p:cNvPicPr/>
          <p:nvPr/>
        </p:nvPicPr>
        <p:blipFill>
          <a:blip r:embed="rId1"/>
          <a:stretch/>
        </p:blipFill>
        <p:spPr>
          <a:xfrm>
            <a:off x="172080" y="685800"/>
            <a:ext cx="9578880" cy="4343400"/>
          </a:xfrm>
          <a:prstGeom prst="rect">
            <a:avLst/>
          </a:prstGeom>
          <a:ln w="18000">
            <a:noFill/>
          </a:ln>
        </p:spPr>
      </p:pic>
      <p:sp>
        <p:nvSpPr>
          <p:cNvPr id="3" name="PlaceHolder 2"/>
          <p:cNvSpPr>
            <a:spLocks noGrp="1"/>
          </p:cNvSpPr>
          <p:nvPr>
            <p:ph type="sldNum" idx="6"/>
          </p:nvPr>
        </p:nvSpPr>
        <p:spPr/>
        <p:txBody>
          <a:bodyPr/>
          <a:p>
            <a:fld id="{BB90FAE8-CAAB-4B42-A3E3-F35E63B326EE}"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360000" y="19440"/>
            <a:ext cx="9360000" cy="799560"/>
          </a:xfrm>
          <a:prstGeom prst="rect">
            <a:avLst/>
          </a:prstGeom>
          <a:noFill/>
          <a:ln w="0">
            <a:noFill/>
          </a:ln>
        </p:spPr>
        <p:txBody>
          <a:bodyPr lIns="0" rIns="0" tIns="0" bIns="0" anchor="ctr">
            <a:noAutofit/>
          </a:bodyPr>
          <a:p>
            <a:pPr indent="0" algn="ctr">
              <a:spcBef>
                <a:spcPts val="1191"/>
              </a:spcBef>
              <a:spcAft>
                <a:spcPts val="992"/>
              </a:spcAft>
              <a:buNone/>
            </a:pPr>
            <a:br>
              <a:rPr sz="1400"/>
            </a:br>
            <a:r>
              <a:rPr b="1" lang="en-US" sz="1400" spc="-1" strike="noStrike">
                <a:solidFill>
                  <a:srgbClr val="158466"/>
                </a:solidFill>
                <a:latin typeface="Arial"/>
              </a:rPr>
              <a:t>Graphics Processing Unit (GPU)  </a:t>
            </a:r>
            <a:br>
              <a:rPr sz="1400"/>
            </a:br>
            <a:br>
              <a:rPr sz="1400"/>
            </a:br>
            <a:endParaRPr b="1" lang="en-US" sz="1400" spc="-1" strike="noStrike">
              <a:solidFill>
                <a:srgbClr val="158466"/>
              </a:solidFill>
              <a:latin typeface="Arial"/>
            </a:endParaRPr>
          </a:p>
        </p:txBody>
      </p:sp>
      <p:sp>
        <p:nvSpPr>
          <p:cNvPr id="69" name=""/>
          <p:cNvSpPr txBox="1"/>
          <p:nvPr/>
        </p:nvSpPr>
        <p:spPr>
          <a:xfrm>
            <a:off x="3886200" y="914400"/>
            <a:ext cx="4800600" cy="68580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In 2025, the competitive landscape has changed notably. NVIDIA leads with nearly 92% of the discrete GPU market for dedicated cards, dominating in data centers as well as AI and gaming</a:t>
            </a:r>
            <a:endParaRPr b="0" lang="en-US" sz="1000" spc="-1" strike="noStrike">
              <a:solidFill>
                <a:srgbClr val="000000"/>
              </a:solidFill>
              <a:latin typeface="Arial"/>
            </a:endParaRPr>
          </a:p>
        </p:txBody>
      </p:sp>
      <p:pic>
        <p:nvPicPr>
          <p:cNvPr id="70" name="" descr=""/>
          <p:cNvPicPr/>
          <p:nvPr/>
        </p:nvPicPr>
        <p:blipFill>
          <a:blip r:embed="rId1"/>
          <a:stretch/>
        </p:blipFill>
        <p:spPr>
          <a:xfrm>
            <a:off x="0" y="2514600"/>
            <a:ext cx="4625640" cy="2514600"/>
          </a:xfrm>
          <a:prstGeom prst="rect">
            <a:avLst/>
          </a:prstGeom>
          <a:ln w="18000">
            <a:noFill/>
          </a:ln>
        </p:spPr>
      </p:pic>
      <p:sp>
        <p:nvSpPr>
          <p:cNvPr id="71" name=""/>
          <p:cNvSpPr txBox="1"/>
          <p:nvPr/>
        </p:nvSpPr>
        <p:spPr>
          <a:xfrm>
            <a:off x="3888720" y="1600200"/>
            <a:ext cx="5712480" cy="231840"/>
          </a:xfrm>
          <a:prstGeom prst="rect">
            <a:avLst/>
          </a:prstGeom>
          <a:noFill/>
          <a:ln w="18000">
            <a:noFill/>
          </a:ln>
        </p:spPr>
        <p:txBody>
          <a:bodyPr lIns="90000" rIns="90000" tIns="45000" bIns="45000" anchor="t">
            <a:noAutofit/>
          </a:bodyPr>
          <a:p>
            <a:r>
              <a:rPr b="1" i="1" lang="en-US" sz="1000" spc="-1" strike="noStrike">
                <a:solidFill>
                  <a:srgbClr val="a1467e"/>
                </a:solidFill>
                <a:latin typeface="Arial"/>
              </a:rPr>
              <a:t>Everyone wants to find gold, but the real value lies in creating the tools to mine it; in the same way, while the world chases AI, NVIDIA builds the hardware that drives it forward.</a:t>
            </a:r>
            <a:endParaRPr b="1" i="1" lang="en-US" sz="1000" spc="-1" strike="noStrike">
              <a:solidFill>
                <a:srgbClr val="a1467e"/>
              </a:solidFill>
              <a:latin typeface="Arial"/>
            </a:endParaRPr>
          </a:p>
        </p:txBody>
      </p:sp>
      <p:sp>
        <p:nvSpPr>
          <p:cNvPr id="72" name=""/>
          <p:cNvSpPr txBox="1"/>
          <p:nvPr/>
        </p:nvSpPr>
        <p:spPr>
          <a:xfrm>
            <a:off x="4640040" y="2118240"/>
            <a:ext cx="4343400" cy="553680"/>
          </a:xfrm>
          <a:prstGeom prst="rect">
            <a:avLst/>
          </a:prstGeom>
          <a:noFill/>
          <a:ln w="18000">
            <a:noFill/>
          </a:ln>
        </p:spPr>
        <p:txBody>
          <a:bodyPr lIns="90000" rIns="90000" tIns="45000" bIns="45000" anchor="t">
            <a:noAutofit/>
          </a:bodyPr>
          <a:p>
            <a:r>
              <a:rPr b="1" lang="en-US" sz="1200" spc="-1" strike="noStrike">
                <a:solidFill>
                  <a:srgbClr val="000000"/>
                </a:solidFill>
                <a:latin typeface="Arial"/>
              </a:rPr>
              <a:t>The best GPUs for AI and machine learning</a:t>
            </a:r>
            <a:endParaRPr b="1" lang="en-US" sz="1200" spc="-1" strike="noStrike">
              <a:solidFill>
                <a:srgbClr val="000000"/>
              </a:solidFill>
              <a:latin typeface="Arial"/>
            </a:endParaRPr>
          </a:p>
          <a:p>
            <a:r>
              <a:rPr b="1" lang="en-US" sz="1200" spc="-1" strike="noStrike">
                <a:solidFill>
                  <a:srgbClr val="000000"/>
                </a:solidFill>
                <a:latin typeface="Arial"/>
              </a:rPr>
              <a:t>1. NVIDIA B200 Tensor Core GPU </a:t>
            </a:r>
            <a:endParaRPr b="1" lang="en-US" sz="1200" spc="-1" strike="noStrike">
              <a:solidFill>
                <a:srgbClr val="000000"/>
              </a:solidFill>
              <a:latin typeface="Arial"/>
            </a:endParaRPr>
          </a:p>
          <a:p>
            <a:endParaRPr b="0" lang="en-US" sz="1200" spc="-1" strike="noStrike">
              <a:solidFill>
                <a:srgbClr val="000000"/>
              </a:solidFill>
              <a:latin typeface="Arial"/>
            </a:endParaRPr>
          </a:p>
          <a:p>
            <a:endParaRPr b="1" lang="en-US" sz="1200" spc="-1" strike="noStrike">
              <a:solidFill>
                <a:srgbClr val="000000"/>
              </a:solidFill>
              <a:latin typeface="Arial"/>
            </a:endParaRPr>
          </a:p>
          <a:p>
            <a:endParaRPr b="1" lang="en-US" sz="1200" spc="-1" strike="noStrike">
              <a:solidFill>
                <a:srgbClr val="000000"/>
              </a:solidFill>
              <a:latin typeface="Arial"/>
            </a:endParaRPr>
          </a:p>
          <a:p>
            <a:endParaRPr b="1" lang="en-US" sz="1200" spc="-1" strike="noStrike">
              <a:solidFill>
                <a:srgbClr val="000000"/>
              </a:solidFill>
              <a:latin typeface="Arial"/>
            </a:endParaRPr>
          </a:p>
          <a:p>
            <a:r>
              <a:rPr b="1" lang="en-US" sz="1200" spc="-1" strike="noStrike">
                <a:solidFill>
                  <a:srgbClr val="000000"/>
                </a:solidFill>
                <a:latin typeface="Arial"/>
              </a:rPr>
              <a:t>2. NVIDIA H200 Tensor Core GPU</a:t>
            </a:r>
            <a:endParaRPr b="1" lang="en-US" sz="1200" spc="-1" strike="noStrike">
              <a:solidFill>
                <a:srgbClr val="000000"/>
              </a:solidFill>
              <a:latin typeface="Arial"/>
            </a:endParaRPr>
          </a:p>
          <a:p>
            <a:endParaRPr b="1" lang="en-US" sz="1200" spc="-1" strike="noStrike">
              <a:solidFill>
                <a:srgbClr val="000000"/>
              </a:solidFill>
              <a:latin typeface="Arial"/>
            </a:endParaRPr>
          </a:p>
          <a:p>
            <a:r>
              <a:rPr b="1" lang="en-US" sz="1200" spc="-1" strike="noStrike">
                <a:solidFill>
                  <a:srgbClr val="000000"/>
                </a:solidFill>
                <a:latin typeface="Arial"/>
              </a:rPr>
              <a:t>3. NVIDIA H100 Tensor Core GPU</a:t>
            </a:r>
            <a:endParaRPr b="1" lang="en-US" sz="1200" spc="-1" strike="noStrike">
              <a:solidFill>
                <a:srgbClr val="000000"/>
              </a:solidFill>
              <a:latin typeface="Arial"/>
            </a:endParaRPr>
          </a:p>
          <a:p>
            <a:endParaRPr b="0" lang="en-US" sz="1200" spc="-1" strike="noStrike">
              <a:solidFill>
                <a:srgbClr val="000000"/>
              </a:solidFill>
              <a:latin typeface="Arial"/>
            </a:endParaRPr>
          </a:p>
          <a:p>
            <a:endParaRPr b="0" lang="en-US" sz="1200" spc="-1" strike="noStrike">
              <a:solidFill>
                <a:srgbClr val="000000"/>
              </a:solidFill>
              <a:latin typeface="Arial"/>
            </a:endParaRPr>
          </a:p>
          <a:p>
            <a:endParaRPr b="0" lang="en-US" sz="1000" spc="-1" strike="noStrike">
              <a:solidFill>
                <a:srgbClr val="000000"/>
              </a:solidFill>
              <a:latin typeface="Arial"/>
            </a:endParaRPr>
          </a:p>
        </p:txBody>
      </p:sp>
      <p:pic>
        <p:nvPicPr>
          <p:cNvPr id="73" name="" descr=""/>
          <p:cNvPicPr/>
          <p:nvPr/>
        </p:nvPicPr>
        <p:blipFill>
          <a:blip r:embed="rId2"/>
          <a:stretch/>
        </p:blipFill>
        <p:spPr>
          <a:xfrm>
            <a:off x="-43200" y="811800"/>
            <a:ext cx="3886200" cy="1695600"/>
          </a:xfrm>
          <a:prstGeom prst="rect">
            <a:avLst/>
          </a:prstGeom>
          <a:ln w="18000">
            <a:noFill/>
          </a:ln>
        </p:spPr>
      </p:pic>
      <p:pic>
        <p:nvPicPr>
          <p:cNvPr id="74" name="" descr=""/>
          <p:cNvPicPr/>
          <p:nvPr/>
        </p:nvPicPr>
        <p:blipFill>
          <a:blip r:embed="rId3"/>
          <a:stretch/>
        </p:blipFill>
        <p:spPr>
          <a:xfrm>
            <a:off x="4946040" y="2851920"/>
            <a:ext cx="1699560" cy="985680"/>
          </a:xfrm>
          <a:prstGeom prst="rect">
            <a:avLst/>
          </a:prstGeom>
          <a:ln w="18000">
            <a:noFill/>
          </a:ln>
        </p:spPr>
      </p:pic>
      <p:pic>
        <p:nvPicPr>
          <p:cNvPr id="75" name="" descr=""/>
          <p:cNvPicPr/>
          <p:nvPr/>
        </p:nvPicPr>
        <p:blipFill>
          <a:blip r:embed="rId4"/>
          <a:stretch/>
        </p:blipFill>
        <p:spPr>
          <a:xfrm>
            <a:off x="7297920" y="2778120"/>
            <a:ext cx="1318680" cy="1543680"/>
          </a:xfrm>
          <a:prstGeom prst="rect">
            <a:avLst/>
          </a:prstGeom>
          <a:ln w="18000">
            <a:noFill/>
          </a:ln>
        </p:spPr>
      </p:pic>
      <p:pic>
        <p:nvPicPr>
          <p:cNvPr id="76" name="" descr=""/>
          <p:cNvPicPr/>
          <p:nvPr/>
        </p:nvPicPr>
        <p:blipFill>
          <a:blip r:embed="rId5"/>
          <a:stretch/>
        </p:blipFill>
        <p:spPr>
          <a:xfrm>
            <a:off x="7299000" y="4390200"/>
            <a:ext cx="1828800" cy="938520"/>
          </a:xfrm>
          <a:prstGeom prst="rect">
            <a:avLst/>
          </a:prstGeom>
          <a:ln w="18000">
            <a:noFill/>
          </a:ln>
        </p:spPr>
      </p:pic>
      <p:sp>
        <p:nvSpPr>
          <p:cNvPr id="3" name="PlaceHolder 2"/>
          <p:cNvSpPr>
            <a:spLocks noGrp="1"/>
          </p:cNvSpPr>
          <p:nvPr>
            <p:ph type="sldNum" idx="6"/>
          </p:nvPr>
        </p:nvSpPr>
        <p:spPr/>
        <p:txBody>
          <a:bodyPr/>
          <a:p>
            <a:fld id="{7005FBAA-1FE9-41FC-AFC6-7B335C941161}"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ffffff"/>
                </a:solidFill>
                <a:latin typeface="Arial"/>
              </a:rPr>
              <a:t>AI data center networking</a:t>
            </a:r>
            <a:endParaRPr b="1" lang="en-US" sz="3300" spc="-1" strike="noStrike">
              <a:solidFill>
                <a:srgbClr val="ffffff"/>
              </a:solidFill>
              <a:latin typeface="Arial"/>
            </a:endParaRPr>
          </a:p>
        </p:txBody>
      </p:sp>
      <p:sp>
        <p:nvSpPr>
          <p:cNvPr id="78" name=""/>
          <p:cNvSpPr txBox="1"/>
          <p:nvPr/>
        </p:nvSpPr>
        <p:spPr>
          <a:xfrm>
            <a:off x="165240" y="769320"/>
            <a:ext cx="9664560" cy="37368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AI data center networking refers to the high-speed, low-latency network infrastructure designed specifically to connect thousands of GPUs/TPUs and storage systems so they can train and run large AI models efficiently. </a:t>
            </a:r>
            <a:r>
              <a:rPr b="0" lang="en-US" sz="1000" spc="-1" strike="noStrike">
                <a:solidFill>
                  <a:srgbClr val="000000"/>
                </a:solidFill>
                <a:latin typeface="Arial"/>
              </a:rPr>
              <a:t>AI workloads move massive amounts of data between GPUs.</a:t>
            </a:r>
            <a:endParaRPr b="0" lang="en-US" sz="1000" spc="-1" strike="noStrike">
              <a:solidFill>
                <a:srgbClr val="000000"/>
              </a:solidFill>
              <a:latin typeface="Arial"/>
            </a:endParaRPr>
          </a:p>
          <a:p>
            <a:r>
              <a:rPr b="1" lang="en-US" sz="1000" spc="-1" strike="noStrike">
                <a:solidFill>
                  <a:srgbClr val="000000"/>
                </a:solidFill>
                <a:latin typeface="Arial"/>
              </a:rPr>
              <a:t> </a:t>
            </a:r>
            <a:endParaRPr b="0" lang="en-US" sz="1000" spc="-1" strike="noStrike">
              <a:solidFill>
                <a:srgbClr val="000000"/>
              </a:solidFill>
              <a:latin typeface="Arial"/>
            </a:endParaRPr>
          </a:p>
        </p:txBody>
      </p:sp>
      <p:sp>
        <p:nvSpPr>
          <p:cNvPr id="79" name=""/>
          <p:cNvSpPr txBox="1"/>
          <p:nvPr/>
        </p:nvSpPr>
        <p:spPr>
          <a:xfrm>
            <a:off x="192600" y="1116360"/>
            <a:ext cx="6208200" cy="231840"/>
          </a:xfrm>
          <a:prstGeom prst="rect">
            <a:avLst/>
          </a:prstGeom>
          <a:noFill/>
          <a:ln w="18000">
            <a:noFill/>
          </a:ln>
        </p:spPr>
        <p:txBody>
          <a:bodyPr lIns="90000" rIns="90000" tIns="45000" bIns="45000" anchor="t">
            <a:noAutofit/>
          </a:bodyPr>
          <a:p>
            <a:r>
              <a:rPr b="1" lang="en-US" sz="1000" spc="-1" strike="noStrike">
                <a:solidFill>
                  <a:srgbClr val="000000"/>
                </a:solidFill>
                <a:latin typeface="Arial"/>
              </a:rPr>
              <a:t>Major manufacturers like NVIDIA, Intel, AMD, and Broadcom offer a range of AI-optimized NICs</a:t>
            </a:r>
            <a:endParaRPr b="1" lang="en-US" sz="1000" spc="-1" strike="noStrike">
              <a:solidFill>
                <a:srgbClr val="000000"/>
              </a:solidFill>
              <a:latin typeface="Arial"/>
            </a:endParaRPr>
          </a:p>
        </p:txBody>
      </p:sp>
      <p:graphicFrame>
        <p:nvGraphicFramePr>
          <p:cNvPr id="80" name=""/>
          <p:cNvGraphicFramePr/>
          <p:nvPr/>
        </p:nvGraphicFramePr>
        <p:xfrm>
          <a:off x="300960" y="1446120"/>
          <a:ext cx="9300240" cy="930240"/>
        </p:xfrm>
        <a:graphic>
          <a:graphicData uri="http://schemas.openxmlformats.org/drawingml/2006/table">
            <a:tbl>
              <a:tblPr/>
              <a:tblGrid>
                <a:gridCol w="1716840"/>
                <a:gridCol w="1954440"/>
                <a:gridCol w="2060280"/>
                <a:gridCol w="3568680"/>
              </a:tblGrid>
              <a:tr h="346320">
                <a:tc>
                  <a:txBody>
                    <a:bodyPr lIns="36000" rIns="36000" tIns="36000" bIns="36000" anchor="t">
                      <a:noAutofit/>
                    </a:bodyPr>
                    <a:p>
                      <a:r>
                        <a:rPr b="1" lang="en-US" sz="1800" spc="-1" strike="noStrike">
                          <a:solidFill>
                            <a:srgbClr val="f10d0c"/>
                          </a:solidFill>
                          <a:latin typeface="Arial"/>
                        </a:rPr>
                        <a:t>Manufac</a:t>
                      </a:r>
                      <a:r>
                        <a:rPr b="1" lang="en-US" sz="1800" spc="-1" strike="noStrike">
                          <a:solidFill>
                            <a:srgbClr val="f10d0c"/>
                          </a:solidFill>
                          <a:latin typeface="Arial"/>
                        </a:rPr>
                        <a:t>turer</a:t>
                      </a:r>
                      <a:endParaRPr b="1" lang="en-US" sz="1800" spc="-1" strike="noStrike">
                        <a:solidFill>
                          <a:srgbClr val="f10d0c"/>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1" lang="en-US" sz="1800" spc="-1" strike="noStrike">
                          <a:solidFill>
                            <a:srgbClr val="f10d0c"/>
                          </a:solidFill>
                          <a:latin typeface="Arial"/>
                        </a:rPr>
                        <a:t>Product Example</a:t>
                      </a:r>
                      <a:endParaRPr b="1" lang="en-US" sz="1800" spc="-1" strike="noStrike">
                        <a:solidFill>
                          <a:srgbClr val="f10d0c"/>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1" lang="en-US" sz="1800" spc="-1" strike="noStrike">
                          <a:solidFill>
                            <a:srgbClr val="f10d0c"/>
                          </a:solidFill>
                          <a:latin typeface="Arial"/>
                        </a:rPr>
                        <a:t>Speed</a:t>
                      </a:r>
                      <a:endParaRPr b="1" lang="en-US" sz="1800" spc="-1" strike="noStrike">
                        <a:solidFill>
                          <a:srgbClr val="f10d0c"/>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1" lang="en-US" sz="1800" spc="-1" strike="noStrike">
                          <a:solidFill>
                            <a:srgbClr val="f10d0c"/>
                          </a:solidFill>
                          <a:latin typeface="Arial"/>
                        </a:rPr>
                        <a:t>Key Features</a:t>
                      </a:r>
                      <a:endParaRPr b="1" lang="en-US" sz="1800" spc="-1" strike="noStrike">
                        <a:solidFill>
                          <a:srgbClr val="f10d0c"/>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r>
              <a:tr h="346320">
                <a:tc>
                  <a:txBody>
                    <a:bodyPr lIns="36000" rIns="36000" tIns="36000" bIns="36000" anchor="t">
                      <a:noAutofit/>
                    </a:bodyPr>
                    <a:p>
                      <a:r>
                        <a:rPr b="0" lang="en-US" sz="1800" spc="-1" strike="noStrike">
                          <a:solidFill>
                            <a:srgbClr val="000000"/>
                          </a:solidFill>
                          <a:latin typeface="Arial"/>
                        </a:rPr>
                        <a:t>NVIDIA</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hlinkClick r:id="rId1"/>
                        </a:rPr>
                        <a:t>ConnectX-7 VPI</a:t>
                      </a:r>
                      <a:endParaRPr b="0" lang="en-US" sz="1800" spc="-1" strike="noStrike">
                        <a:solidFill>
                          <a:srgbClr val="000000"/>
                        </a:solidFill>
                        <a:latin typeface="Arial"/>
                      </a:endParaRPr>
                    </a:p>
                    <a:p>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400GbE, </a:t>
                      </a:r>
                      <a:r>
                        <a:rPr b="0" lang="en-US" sz="1800" spc="-1" strike="noStrike">
                          <a:solidFill>
                            <a:srgbClr val="000000"/>
                          </a:solidFill>
                          <a:latin typeface="Arial"/>
                        </a:rPr>
                        <a:t>400Gb </a:t>
                      </a:r>
                      <a:r>
                        <a:rPr b="0" lang="en-US" sz="1800" spc="-1" strike="noStrike">
                          <a:solidFill>
                            <a:srgbClr val="000000"/>
                          </a:solidFill>
                          <a:latin typeface="Arial"/>
                        </a:rPr>
                        <a:t>IB NDR</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Ultra-low latency, RoCE support, </a:t>
                      </a:r>
                      <a:r>
                        <a:rPr b="0" lang="en-US" sz="1800" spc="-1" strike="noStrike">
                          <a:solidFill>
                            <a:srgbClr val="000000"/>
                          </a:solidFill>
                          <a:latin typeface="Arial"/>
                        </a:rPr>
                        <a:t>hardware offloads</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r>
              <a:tr h="346320">
                <a:tc>
                  <a:txBody>
                    <a:bodyPr lIns="36000" rIns="36000" tIns="36000" bIns="36000" anchor="t">
                      <a:noAutofit/>
                    </a:bodyPr>
                    <a:p>
                      <a:r>
                        <a:rPr b="0" lang="en-US" sz="1800" spc="-1" strike="noStrike">
                          <a:solidFill>
                            <a:srgbClr val="000000"/>
                          </a:solidFill>
                          <a:latin typeface="Arial"/>
                        </a:rPr>
                        <a:t>Intel</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Ethernet Network Adapter</a:t>
                      </a:r>
                      <a:endParaRPr b="0" lang="en-US" sz="1800" spc="-1" strike="noStrike">
                        <a:solidFill>
                          <a:srgbClr val="000000"/>
                        </a:solidFill>
                        <a:latin typeface="Arial"/>
                      </a:endParaRPr>
                    </a:p>
                    <a:p>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100GbE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Based on Intel E810-CAM2 chipset, designed for </a:t>
                      </a:r>
                      <a:r>
                        <a:rPr b="0" lang="en-US" sz="1800" spc="-1" strike="noStrike">
                          <a:solidFill>
                            <a:srgbClr val="000000"/>
                          </a:solidFill>
                          <a:latin typeface="Arial"/>
                        </a:rPr>
                        <a:t>cloud/data center applications</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r>
              <a:tr h="346320">
                <a:tc>
                  <a:txBody>
                    <a:bodyPr lIns="36000" rIns="36000" tIns="36000" bIns="36000" anchor="t">
                      <a:noAutofit/>
                    </a:bodyPr>
                    <a:p>
                      <a:r>
                        <a:rPr b="0" lang="en-US" sz="1800" spc="-1" strike="noStrike">
                          <a:solidFill>
                            <a:srgbClr val="000000"/>
                          </a:solidFill>
                          <a:latin typeface="Arial"/>
                        </a:rPr>
                        <a:t>AMD</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Pensando™ Pollara 400 AI NIC</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100/200/400Gbps</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Fully hardware programmable (P4 engine), optimized for AI/ML workloads</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r>
              <a:tr h="346320">
                <a:tc>
                  <a:txBody>
                    <a:bodyPr lIns="36000" rIns="36000" tIns="36000" bIns="36000" anchor="t">
                      <a:noAutofit/>
                    </a:bodyPr>
                    <a:p>
                      <a:r>
                        <a:rPr b="0" lang="en-US" sz="1800" spc="-1" strike="noStrike">
                          <a:solidFill>
                            <a:srgbClr val="000000"/>
                          </a:solidFill>
                          <a:latin typeface="Arial"/>
                        </a:rPr>
                        <a:t>Broadcom</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Thor Ultra</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800GbE (emerging)</a:t>
                      </a:r>
                      <a:endParaRPr b="0" lang="en-US" sz="1800" spc="-1" strike="noStrike">
                        <a:solidFill>
                          <a:srgbClr val="000000"/>
                        </a:solidFill>
                        <a:latin typeface="Arial"/>
                      </a:endParaRPr>
                    </a:p>
                    <a:p>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c>
                  <a:txBody>
                    <a:bodyPr lIns="36000" rIns="36000" tIns="36000" bIns="36000" anchor="t">
                      <a:noAutofit/>
                    </a:bodyPr>
                    <a:p>
                      <a:r>
                        <a:rPr b="0" lang="en-US" sz="1800" spc="-1" strike="noStrike">
                          <a:solidFill>
                            <a:srgbClr val="000000"/>
                          </a:solidFill>
                          <a:latin typeface="Arial"/>
                        </a:rPr>
                        <a:t>PCIe 6.0, advanced RoCE support, inline encryption</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1d41a"/>
                    </a:solidFill>
                  </a:tcPr>
                </a:tc>
              </a:tr>
            </a:tbl>
          </a:graphicData>
        </a:graphic>
      </p:graphicFrame>
      <p:sp>
        <p:nvSpPr>
          <p:cNvPr id="3" name="PlaceHolder 2"/>
          <p:cNvSpPr>
            <a:spLocks noGrp="1"/>
          </p:cNvSpPr>
          <p:nvPr>
            <p:ph type="sldNum" idx="6"/>
          </p:nvPr>
        </p:nvSpPr>
        <p:spPr/>
        <p:txBody>
          <a:bodyPr/>
          <a:p>
            <a:fld id="{7E494970-8A3E-4E9C-AC2E-5F261051D362}"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ffffff"/>
                </a:solidFill>
                <a:latin typeface="Arial"/>
              </a:rPr>
              <a:t> </a:t>
            </a:r>
            <a:r>
              <a:rPr b="1" lang="en-US" sz="3300" spc="-1" strike="noStrike">
                <a:solidFill>
                  <a:srgbClr val="ffffff"/>
                </a:solidFill>
                <a:latin typeface="Arial"/>
              </a:rPr>
              <a:t>RDMA</a:t>
            </a:r>
            <a:endParaRPr b="1" lang="en-US" sz="3300" spc="-1" strike="noStrike">
              <a:solidFill>
                <a:srgbClr val="ffffff"/>
              </a:solidFill>
              <a:latin typeface="Arial"/>
            </a:endParaRPr>
          </a:p>
        </p:txBody>
      </p:sp>
      <p:sp>
        <p:nvSpPr>
          <p:cNvPr id="82" name=""/>
          <p:cNvSpPr txBox="1"/>
          <p:nvPr/>
        </p:nvSpPr>
        <p:spPr>
          <a:xfrm>
            <a:off x="0" y="804600"/>
            <a:ext cx="10213200" cy="125280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RDMA (</a:t>
            </a:r>
            <a:r>
              <a:rPr b="0" lang="en-US" sz="1000" spc="-1" strike="noStrike">
                <a:solidFill>
                  <a:srgbClr val="000000"/>
                </a:solidFill>
                <a:latin typeface="Arial"/>
                <a:hlinkClick r:id="rId1"/>
              </a:rPr>
              <a:t>Remote Direct Memory Access</a:t>
            </a:r>
            <a:r>
              <a:rPr b="0" lang="en-US" sz="1000" spc="-1" strike="noStrike">
                <a:solidFill>
                  <a:srgbClr val="000000"/>
                </a:solidFill>
                <a:latin typeface="Arial"/>
              </a:rPr>
              <a:t>) is a high-performance networking technology. It enables direct memory read/write between hosts without CPU involvement. It’s ideal for scenarios needing fast transfer speeds and low latency—like AI training, where compute nodes exchange large training datasets frequently. RDMA delivers low-latency, high-bandwidth transfer to speed up model training. RDMA relies on three core protocols: InfiniBand (IB), RDMA over Converged Ethernet (RoCE), and Internet Wide Area RDMA Protocol (iWARP).</a:t>
            </a:r>
            <a:endParaRPr b="0" lang="en-US" sz="1000" spc="-1" strike="noStrike">
              <a:solidFill>
                <a:srgbClr val="000000"/>
              </a:solidFill>
              <a:latin typeface="Arial"/>
            </a:endParaRPr>
          </a:p>
          <a:p>
            <a:endParaRPr b="0" lang="en-US" sz="1000" spc="-1" strike="noStrike">
              <a:solidFill>
                <a:srgbClr val="000000"/>
              </a:solidFill>
              <a:latin typeface="Arial"/>
            </a:endParaRPr>
          </a:p>
        </p:txBody>
      </p:sp>
      <p:pic>
        <p:nvPicPr>
          <p:cNvPr id="83" name="" descr=""/>
          <p:cNvPicPr/>
          <p:nvPr/>
        </p:nvPicPr>
        <p:blipFill>
          <a:blip r:embed="rId2"/>
          <a:stretch/>
        </p:blipFill>
        <p:spPr>
          <a:xfrm>
            <a:off x="0" y="1523160"/>
            <a:ext cx="6519240" cy="3734640"/>
          </a:xfrm>
          <a:prstGeom prst="rect">
            <a:avLst/>
          </a:prstGeom>
          <a:ln w="18000">
            <a:noFill/>
          </a:ln>
        </p:spPr>
      </p:pic>
      <p:pic>
        <p:nvPicPr>
          <p:cNvPr id="84" name="" descr=""/>
          <p:cNvPicPr/>
          <p:nvPr/>
        </p:nvPicPr>
        <p:blipFill>
          <a:blip r:embed="rId3"/>
          <a:stretch/>
        </p:blipFill>
        <p:spPr>
          <a:xfrm>
            <a:off x="6615360" y="1305720"/>
            <a:ext cx="2589840" cy="2015280"/>
          </a:xfrm>
          <a:prstGeom prst="rect">
            <a:avLst/>
          </a:prstGeom>
          <a:ln w="18000">
            <a:noFill/>
          </a:ln>
        </p:spPr>
      </p:pic>
      <p:pic>
        <p:nvPicPr>
          <p:cNvPr id="85" name="" descr=""/>
          <p:cNvPicPr/>
          <p:nvPr/>
        </p:nvPicPr>
        <p:blipFill>
          <a:blip r:embed="rId4"/>
          <a:stretch/>
        </p:blipFill>
        <p:spPr>
          <a:xfrm>
            <a:off x="6822000" y="3291840"/>
            <a:ext cx="2971800" cy="1857960"/>
          </a:xfrm>
          <a:prstGeom prst="rect">
            <a:avLst/>
          </a:prstGeom>
          <a:ln w="18000">
            <a:noFill/>
          </a:ln>
        </p:spPr>
      </p:pic>
      <p:sp>
        <p:nvSpPr>
          <p:cNvPr id="3" name="PlaceHolder 2"/>
          <p:cNvSpPr>
            <a:spLocks noGrp="1"/>
          </p:cNvSpPr>
          <p:nvPr>
            <p:ph type="sldNum" idx="6"/>
          </p:nvPr>
        </p:nvSpPr>
        <p:spPr/>
        <p:txBody>
          <a:bodyPr/>
          <a:p>
            <a:fld id="{2FDD5989-0A09-4A1E-87F8-C0EC36D40318}"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US" sz="3300" spc="-1" strike="noStrike">
              <a:solidFill>
                <a:srgbClr val="ffffff"/>
              </a:solidFill>
              <a:latin typeface="Arial"/>
            </a:endParaRPr>
          </a:p>
        </p:txBody>
      </p:sp>
      <p:sp>
        <p:nvSpPr>
          <p:cNvPr id="87" name=""/>
          <p:cNvSpPr txBox="1"/>
          <p:nvPr/>
        </p:nvSpPr>
        <p:spPr>
          <a:xfrm>
            <a:off x="0" y="769320"/>
            <a:ext cx="9829800" cy="373680"/>
          </a:xfrm>
          <a:prstGeom prst="rect">
            <a:avLst/>
          </a:prstGeom>
          <a:noFill/>
          <a:ln w="18000">
            <a:noFill/>
          </a:ln>
        </p:spPr>
        <p:txBody>
          <a:bodyPr lIns="90000" rIns="90000" tIns="45000" bIns="45000" anchor="t">
            <a:noAutofit/>
          </a:bodyPr>
          <a:p>
            <a:r>
              <a:rPr b="1" lang="en-US" sz="1000" spc="-1" strike="noStrike">
                <a:solidFill>
                  <a:srgbClr val="000000"/>
                </a:solidFill>
                <a:latin typeface="Arial"/>
              </a:rPr>
              <a:t>Direct Memory Access (DMA</a:t>
            </a:r>
            <a:r>
              <a:rPr b="0" lang="en-US" sz="1000" spc="-1" strike="noStrike">
                <a:solidFill>
                  <a:srgbClr val="000000"/>
                </a:solidFill>
                <a:latin typeface="Arial"/>
              </a:rPr>
              <a:t>) lets a device move data to/from system memory without the CPU doing byte-by-byte copies. The CPU programs the DMA engine, then gets out of the way until an interrupt signals completion. </a:t>
            </a:r>
            <a:br>
              <a:rPr sz="1000"/>
            </a:br>
            <a:r>
              <a:rPr b="1" lang="en-US" sz="1000" spc="-1" strike="noStrike">
                <a:solidFill>
                  <a:srgbClr val="000000"/>
                </a:solidFill>
                <a:latin typeface="Arial"/>
              </a:rPr>
              <a:t>Remote Direct Memory Access (RDMA)</a:t>
            </a:r>
            <a:r>
              <a:rPr b="0" lang="en-US" sz="1000" spc="-1" strike="noStrike">
                <a:solidFill>
                  <a:srgbClr val="000000"/>
                </a:solidFill>
                <a:latin typeface="Arial"/>
              </a:rPr>
              <a:t> extends the DMA idea across machines. User-space applications register memory regions once, post “work requests” to NIC-managed queues, and the NICs move data between hosts directly with minimal kernel involvement and no extra copies along the hot path. </a:t>
            </a:r>
            <a:endParaRPr b="0" lang="en-US" sz="1000" spc="-1" strike="noStrike">
              <a:solidFill>
                <a:srgbClr val="000000"/>
              </a:solidFill>
              <a:latin typeface="Arial"/>
            </a:endParaRPr>
          </a:p>
        </p:txBody>
      </p:sp>
      <p:pic>
        <p:nvPicPr>
          <p:cNvPr id="88" name="" descr=""/>
          <p:cNvPicPr/>
          <p:nvPr/>
        </p:nvPicPr>
        <p:blipFill>
          <a:blip r:embed="rId1"/>
          <a:stretch/>
        </p:blipFill>
        <p:spPr>
          <a:xfrm>
            <a:off x="0" y="1527120"/>
            <a:ext cx="5029200" cy="3273480"/>
          </a:xfrm>
          <a:prstGeom prst="rect">
            <a:avLst/>
          </a:prstGeom>
          <a:ln w="18000">
            <a:noFill/>
          </a:ln>
        </p:spPr>
      </p:pic>
      <p:pic>
        <p:nvPicPr>
          <p:cNvPr id="89" name="" descr=""/>
          <p:cNvPicPr/>
          <p:nvPr/>
        </p:nvPicPr>
        <p:blipFill>
          <a:blip r:embed="rId2"/>
          <a:stretch/>
        </p:blipFill>
        <p:spPr>
          <a:xfrm>
            <a:off x="5124960" y="1792800"/>
            <a:ext cx="4823640" cy="3133800"/>
          </a:xfrm>
          <a:prstGeom prst="rect">
            <a:avLst/>
          </a:prstGeom>
          <a:ln w="18000">
            <a:noFill/>
          </a:ln>
        </p:spPr>
      </p:pic>
      <p:sp>
        <p:nvSpPr>
          <p:cNvPr id="3" name="PlaceHolder 2"/>
          <p:cNvSpPr>
            <a:spLocks noGrp="1"/>
          </p:cNvSpPr>
          <p:nvPr>
            <p:ph type="sldNum" idx="6"/>
          </p:nvPr>
        </p:nvSpPr>
        <p:spPr/>
        <p:txBody>
          <a:bodyPr/>
          <a:p>
            <a:fld id="{AED7962C-4905-466E-BC56-4C5D71D5ECF6}"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ffffff"/>
                </a:solidFill>
                <a:latin typeface="Arial"/>
              </a:rPr>
              <a:t>TCP/IP vs RDMA</a:t>
            </a:r>
            <a:endParaRPr b="0" lang="en-US" sz="3300" spc="-1" strike="noStrike">
              <a:solidFill>
                <a:srgbClr val="ffffff"/>
              </a:solidFill>
              <a:latin typeface="Arial"/>
            </a:endParaRPr>
          </a:p>
        </p:txBody>
      </p:sp>
      <p:sp>
        <p:nvSpPr>
          <p:cNvPr id="91" name=""/>
          <p:cNvSpPr txBox="1"/>
          <p:nvPr/>
        </p:nvSpPr>
        <p:spPr>
          <a:xfrm>
            <a:off x="228600" y="914400"/>
            <a:ext cx="5039280" cy="23184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When comparing RDMA and TCPIP, the fundamental difference lies in their data paths:</a:t>
            </a:r>
            <a:endParaRPr b="0" lang="en-US" sz="1000" spc="-1" strike="noStrike">
              <a:solidFill>
                <a:srgbClr val="000000"/>
              </a:solidFill>
              <a:latin typeface="Arial"/>
            </a:endParaRPr>
          </a:p>
        </p:txBody>
      </p:sp>
      <p:sp>
        <p:nvSpPr>
          <p:cNvPr id="92" name=""/>
          <p:cNvSpPr txBox="1"/>
          <p:nvPr/>
        </p:nvSpPr>
        <p:spPr>
          <a:xfrm>
            <a:off x="6100200" y="1359000"/>
            <a:ext cx="3886200" cy="52488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App writes() → kernel socket → protocol stack (TCP/IP) → NIC DMA → wire → peer NIC → peer stack → peer socket → read() → app.</a:t>
            </a:r>
            <a:endParaRPr b="0" lang="en-US" sz="1000" spc="-1" strike="noStrike">
              <a:solidFill>
                <a:srgbClr val="000000"/>
              </a:solidFill>
              <a:latin typeface="Arial"/>
            </a:endParaRPr>
          </a:p>
          <a:p>
            <a:r>
              <a:rPr b="0" lang="en-US" sz="1000" spc="-1" strike="noStrike">
                <a:solidFill>
                  <a:srgbClr val="000000"/>
                </a:solidFill>
                <a:latin typeface="Arial"/>
              </a:rPr>
              <a:t>Multiple copies and context switches along the way. </a:t>
            </a:r>
            <a:endParaRPr b="0" lang="en-US" sz="1000" spc="-1" strike="noStrike">
              <a:solidFill>
                <a:srgbClr val="000000"/>
              </a:solidFill>
              <a:latin typeface="Arial"/>
            </a:endParaRPr>
          </a:p>
        </p:txBody>
      </p:sp>
      <p:sp>
        <p:nvSpPr>
          <p:cNvPr id="93" name=""/>
          <p:cNvSpPr txBox="1"/>
          <p:nvPr/>
        </p:nvSpPr>
        <p:spPr>
          <a:xfrm>
            <a:off x="6018840" y="2286000"/>
            <a:ext cx="3810960" cy="1725840"/>
          </a:xfrm>
          <a:prstGeom prst="rect">
            <a:avLst/>
          </a:prstGeom>
          <a:noFill/>
          <a:ln w="18000">
            <a:noFill/>
          </a:ln>
        </p:spPr>
        <p:txBody>
          <a:bodyPr lIns="90000" rIns="90000" tIns="45000" bIns="45000" anchor="t">
            <a:noAutofit/>
          </a:bodyPr>
          <a:p>
            <a:r>
              <a:rPr b="1" lang="en-US" sz="1200" spc="-1" strike="noStrike">
                <a:solidFill>
                  <a:srgbClr val="000000"/>
                </a:solidFill>
                <a:latin typeface="Arial"/>
              </a:rPr>
              <a:t>RDMA path (simplified):</a:t>
            </a:r>
            <a:endParaRPr b="1" lang="en-US" sz="1200" spc="-1" strike="noStrike">
              <a:solidFill>
                <a:srgbClr val="000000"/>
              </a:solidFill>
              <a:latin typeface="Arial"/>
            </a:endParaRPr>
          </a:p>
          <a:p>
            <a:r>
              <a:rPr b="0" lang="en-US" sz="1000" spc="-1" strike="noStrike">
                <a:solidFill>
                  <a:srgbClr val="000000"/>
                </a:solidFill>
                <a:latin typeface="Arial"/>
              </a:rPr>
              <a:t>App registers memory, creates queue pairs and completion queues. </a:t>
            </a:r>
            <a:endParaRPr b="0" lang="en-US" sz="1000" spc="-1" strike="noStrike">
              <a:solidFill>
                <a:srgbClr val="000000"/>
              </a:solidFill>
              <a:latin typeface="Arial"/>
            </a:endParaRPr>
          </a:p>
          <a:p>
            <a:r>
              <a:rPr b="0" lang="en-US" sz="1000" spc="-1" strike="noStrike">
                <a:solidFill>
                  <a:srgbClr val="000000"/>
                </a:solidFill>
                <a:latin typeface="Arial"/>
              </a:rPr>
              <a:t>App posts RDMA WRITE/READ or SEND/RECV to the Send Queue. </a:t>
            </a:r>
            <a:endParaRPr b="0" lang="en-US" sz="1000" spc="-1" strike="noStrike">
              <a:solidFill>
                <a:srgbClr val="000000"/>
              </a:solidFill>
              <a:latin typeface="Arial"/>
            </a:endParaRPr>
          </a:p>
          <a:p>
            <a:r>
              <a:rPr b="0" lang="en-US" sz="1000" spc="-1" strike="noStrike">
                <a:solidFill>
                  <a:srgbClr val="000000"/>
                </a:solidFill>
                <a:latin typeface="Arial"/>
              </a:rPr>
              <a:t>NIC moves the payload directly from local memory to remote registered memory. </a:t>
            </a:r>
            <a:endParaRPr b="0" lang="en-US" sz="1000" spc="-1" strike="noStrike">
              <a:solidFill>
                <a:srgbClr val="000000"/>
              </a:solidFill>
              <a:latin typeface="Arial"/>
            </a:endParaRPr>
          </a:p>
          <a:p>
            <a:r>
              <a:rPr b="0" lang="en-US" sz="1000" spc="-1" strike="noStrike">
                <a:solidFill>
                  <a:srgbClr val="000000"/>
                </a:solidFill>
                <a:latin typeface="Arial"/>
              </a:rPr>
              <a:t>Completion shows up in the CQ. No per-message syscalls.</a:t>
            </a:r>
            <a:endParaRPr b="0" lang="en-US" sz="1000" spc="-1" strike="noStrike">
              <a:solidFill>
                <a:srgbClr val="000000"/>
              </a:solidFill>
              <a:latin typeface="Arial"/>
            </a:endParaRPr>
          </a:p>
          <a:p>
            <a:endParaRPr b="0" lang="en-US" sz="1000" spc="-1" strike="noStrike">
              <a:solidFill>
                <a:srgbClr val="000000"/>
              </a:solidFill>
              <a:latin typeface="Arial"/>
            </a:endParaRPr>
          </a:p>
        </p:txBody>
      </p:sp>
      <p:pic>
        <p:nvPicPr>
          <p:cNvPr id="94" name="" descr=""/>
          <p:cNvPicPr/>
          <p:nvPr/>
        </p:nvPicPr>
        <p:blipFill>
          <a:blip r:embed="rId1"/>
          <a:stretch/>
        </p:blipFill>
        <p:spPr>
          <a:xfrm>
            <a:off x="457200" y="1224360"/>
            <a:ext cx="5029200" cy="3804840"/>
          </a:xfrm>
          <a:prstGeom prst="rect">
            <a:avLst/>
          </a:prstGeom>
          <a:ln w="18000">
            <a:noFill/>
          </a:ln>
        </p:spPr>
      </p:pic>
      <p:sp>
        <p:nvSpPr>
          <p:cNvPr id="95" name=""/>
          <p:cNvSpPr txBox="1"/>
          <p:nvPr/>
        </p:nvSpPr>
        <p:spPr>
          <a:xfrm>
            <a:off x="5925240" y="914400"/>
            <a:ext cx="2219760" cy="553680"/>
          </a:xfrm>
          <a:prstGeom prst="rect">
            <a:avLst/>
          </a:prstGeom>
          <a:noFill/>
          <a:ln w="18000">
            <a:noFill/>
          </a:ln>
        </p:spPr>
        <p:txBody>
          <a:bodyPr lIns="90000" rIns="90000" tIns="45000" bIns="45000" anchor="t">
            <a:noAutofit/>
          </a:bodyPr>
          <a:p>
            <a:r>
              <a:rPr b="1" lang="en-US" sz="1200" spc="-1" strike="noStrike">
                <a:solidFill>
                  <a:srgbClr val="000000"/>
                </a:solidFill>
                <a:latin typeface="Arial"/>
              </a:rPr>
              <a:t>Traditional path (simplified):</a:t>
            </a:r>
            <a:endParaRPr b="1" lang="en-US" sz="1200" spc="-1" strike="noStrike">
              <a:solidFill>
                <a:srgbClr val="000000"/>
              </a:solidFill>
              <a:latin typeface="Arial"/>
            </a:endParaRPr>
          </a:p>
          <a:p>
            <a:endParaRPr b="0" lang="en-US" sz="1000" spc="-1" strike="noStrike">
              <a:solidFill>
                <a:srgbClr val="000000"/>
              </a:solidFill>
              <a:latin typeface="Arial"/>
            </a:endParaRPr>
          </a:p>
        </p:txBody>
      </p:sp>
      <p:sp>
        <p:nvSpPr>
          <p:cNvPr id="3" name="PlaceHolder 2"/>
          <p:cNvSpPr>
            <a:spLocks noGrp="1"/>
          </p:cNvSpPr>
          <p:nvPr>
            <p:ph type="sldNum" idx="6"/>
          </p:nvPr>
        </p:nvSpPr>
        <p:spPr/>
        <p:txBody>
          <a:bodyPr/>
          <a:p>
            <a:fld id="{58E66DD2-810F-4175-8845-0C339057C3C6}"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a1467e"/>
                </a:solidFill>
                <a:latin typeface="Arial"/>
              </a:rPr>
              <a:t>AI Data Center Storage</a:t>
            </a:r>
            <a:endParaRPr b="1" lang="en-US" sz="3300" spc="-1" strike="noStrike">
              <a:solidFill>
                <a:srgbClr val="a1467e"/>
              </a:solidFill>
              <a:latin typeface="Arial"/>
            </a:endParaRPr>
          </a:p>
        </p:txBody>
      </p:sp>
      <p:sp>
        <p:nvSpPr>
          <p:cNvPr id="97" name=""/>
          <p:cNvSpPr txBox="1"/>
          <p:nvPr/>
        </p:nvSpPr>
        <p:spPr>
          <a:xfrm>
            <a:off x="0" y="769320"/>
            <a:ext cx="9829800" cy="37368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AI data centers use a specialized, high-performance storage architecture, primarily combining high-speed NVMe solid-state drives (SSDs) and high-capacity hard disk drives (HDDs) to manage the massive, data-intensive workloads of AI training and inference.</a:t>
            </a:r>
            <a:endParaRPr b="0" lang="en-US" sz="1000" spc="-1" strike="noStrike">
              <a:solidFill>
                <a:srgbClr val="000000"/>
              </a:solidFill>
              <a:latin typeface="Arial"/>
            </a:endParaRPr>
          </a:p>
          <a:p>
            <a:r>
              <a:rPr b="0" lang="en-US" sz="1000" spc="-1" strike="noStrike">
                <a:solidFill>
                  <a:srgbClr val="000000"/>
                </a:solidFill>
                <a:latin typeface="Arial"/>
              </a:rPr>
              <a:t>NVMe SSDs provide the high-speed, low-latency performance needed to quickly feed GPUs and other accelerators with data during AI model training.</a:t>
            </a:r>
            <a:endParaRPr b="0" lang="en-US" sz="1000" spc="-1" strike="noStrike">
              <a:solidFill>
                <a:srgbClr val="000000"/>
              </a:solidFill>
              <a:latin typeface="Arial"/>
            </a:endParaRPr>
          </a:p>
        </p:txBody>
      </p:sp>
      <p:pic>
        <p:nvPicPr>
          <p:cNvPr id="98" name="" descr=""/>
          <p:cNvPicPr/>
          <p:nvPr/>
        </p:nvPicPr>
        <p:blipFill>
          <a:blip r:embed="rId1"/>
          <a:stretch/>
        </p:blipFill>
        <p:spPr>
          <a:xfrm>
            <a:off x="228600" y="1600200"/>
            <a:ext cx="2514600" cy="981360"/>
          </a:xfrm>
          <a:prstGeom prst="rect">
            <a:avLst/>
          </a:prstGeom>
          <a:ln w="18000">
            <a:noFill/>
          </a:ln>
        </p:spPr>
      </p:pic>
      <p:sp>
        <p:nvSpPr>
          <p:cNvPr id="99" name=""/>
          <p:cNvSpPr txBox="1"/>
          <p:nvPr/>
        </p:nvSpPr>
        <p:spPr>
          <a:xfrm>
            <a:off x="156600" y="2631960"/>
            <a:ext cx="2586600" cy="23184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Solidigm’s liquid-cooled D7-PS1010 eliminates the need for fans traditionally used in data center storage devices</a:t>
            </a:r>
            <a:endParaRPr b="0" lang="en-US" sz="1000" spc="-1" strike="noStrike">
              <a:solidFill>
                <a:srgbClr val="000000"/>
              </a:solidFill>
              <a:latin typeface="Arial"/>
            </a:endParaRPr>
          </a:p>
        </p:txBody>
      </p:sp>
      <p:pic>
        <p:nvPicPr>
          <p:cNvPr id="100" name="" descr=""/>
          <p:cNvPicPr/>
          <p:nvPr/>
        </p:nvPicPr>
        <p:blipFill>
          <a:blip r:embed="rId2"/>
          <a:stretch/>
        </p:blipFill>
        <p:spPr>
          <a:xfrm>
            <a:off x="3246120" y="3429000"/>
            <a:ext cx="2857680" cy="1143000"/>
          </a:xfrm>
          <a:prstGeom prst="rect">
            <a:avLst/>
          </a:prstGeom>
          <a:ln w="18000">
            <a:noFill/>
          </a:ln>
        </p:spPr>
      </p:pic>
      <p:sp>
        <p:nvSpPr>
          <p:cNvPr id="101" name=""/>
          <p:cNvSpPr txBox="1"/>
          <p:nvPr/>
        </p:nvSpPr>
        <p:spPr>
          <a:xfrm>
            <a:off x="2978640" y="4800600"/>
            <a:ext cx="678960" cy="23184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M.2 form</a:t>
            </a:r>
            <a:endParaRPr b="0" lang="en-US" sz="1000" spc="-1" strike="noStrike">
              <a:solidFill>
                <a:srgbClr val="000000"/>
              </a:solidFill>
              <a:latin typeface="Arial"/>
            </a:endParaRPr>
          </a:p>
        </p:txBody>
      </p:sp>
      <p:pic>
        <p:nvPicPr>
          <p:cNvPr id="102" name="" descr=""/>
          <p:cNvPicPr/>
          <p:nvPr/>
        </p:nvPicPr>
        <p:blipFill>
          <a:blip r:embed="rId3"/>
          <a:stretch/>
        </p:blipFill>
        <p:spPr>
          <a:xfrm>
            <a:off x="3429000" y="1371600"/>
            <a:ext cx="3493080" cy="1600200"/>
          </a:xfrm>
          <a:prstGeom prst="rect">
            <a:avLst/>
          </a:prstGeom>
          <a:ln w="18000">
            <a:noFill/>
          </a:ln>
        </p:spPr>
      </p:pic>
      <p:sp>
        <p:nvSpPr>
          <p:cNvPr id="103" name=""/>
          <p:cNvSpPr txBox="1"/>
          <p:nvPr/>
        </p:nvSpPr>
        <p:spPr>
          <a:xfrm>
            <a:off x="3055680" y="2999520"/>
            <a:ext cx="4374720" cy="69552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U.3 to PCIe Adapter Card - PCIe 4.0 x4 Adapter For 2.5" U.3 NVMe SSDs</a:t>
            </a:r>
            <a:endParaRPr b="0" lang="en-US" sz="1000" spc="-1" strike="noStrike">
              <a:solidFill>
                <a:srgbClr val="000000"/>
              </a:solidFill>
              <a:latin typeface="Arial"/>
            </a:endParaRPr>
          </a:p>
          <a:p>
            <a:endParaRPr b="0" lang="en-US" sz="1000" spc="-1" strike="noStrike">
              <a:solidFill>
                <a:srgbClr val="000000"/>
              </a:solidFill>
              <a:latin typeface="Arial"/>
            </a:endParaRPr>
          </a:p>
        </p:txBody>
      </p:sp>
      <p:pic>
        <p:nvPicPr>
          <p:cNvPr id="104" name="" descr=""/>
          <p:cNvPicPr/>
          <p:nvPr/>
        </p:nvPicPr>
        <p:blipFill>
          <a:blip r:embed="rId4"/>
          <a:stretch/>
        </p:blipFill>
        <p:spPr>
          <a:xfrm>
            <a:off x="7668000" y="1562400"/>
            <a:ext cx="1342800" cy="1866600"/>
          </a:xfrm>
          <a:prstGeom prst="rect">
            <a:avLst/>
          </a:prstGeom>
          <a:ln w="18000">
            <a:noFill/>
          </a:ln>
        </p:spPr>
      </p:pic>
      <p:pic>
        <p:nvPicPr>
          <p:cNvPr id="105" name="" descr=""/>
          <p:cNvPicPr/>
          <p:nvPr/>
        </p:nvPicPr>
        <p:blipFill>
          <a:blip r:embed="rId5"/>
          <a:stretch/>
        </p:blipFill>
        <p:spPr>
          <a:xfrm>
            <a:off x="228600" y="3271680"/>
            <a:ext cx="2608200" cy="1757520"/>
          </a:xfrm>
          <a:prstGeom prst="rect">
            <a:avLst/>
          </a:prstGeom>
          <a:ln w="18000">
            <a:noFill/>
          </a:ln>
        </p:spPr>
      </p:pic>
      <p:sp>
        <p:nvSpPr>
          <p:cNvPr id="3" name="PlaceHolder 2"/>
          <p:cNvSpPr>
            <a:spLocks noGrp="1"/>
          </p:cNvSpPr>
          <p:nvPr>
            <p:ph type="sldNum" idx="6"/>
          </p:nvPr>
        </p:nvSpPr>
        <p:spPr/>
        <p:txBody>
          <a:bodyPr/>
          <a:p>
            <a:fld id="{6B39B72E-6649-4AFB-B26A-18966123B0A1}"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US" sz="3300" spc="-1" strike="noStrike">
                <a:solidFill>
                  <a:srgbClr val="ffffff"/>
                </a:solidFill>
                <a:latin typeface="Arial"/>
              </a:rPr>
              <a:t>SSD</a:t>
            </a:r>
            <a:endParaRPr b="0" lang="en-US" sz="3300" spc="-1" strike="noStrike">
              <a:solidFill>
                <a:srgbClr val="ffffff"/>
              </a:solidFill>
              <a:latin typeface="Arial"/>
            </a:endParaRPr>
          </a:p>
        </p:txBody>
      </p:sp>
      <p:sp>
        <p:nvSpPr>
          <p:cNvPr id="107" name=""/>
          <p:cNvSpPr txBox="1"/>
          <p:nvPr/>
        </p:nvSpPr>
        <p:spPr>
          <a:xfrm>
            <a:off x="0" y="769320"/>
            <a:ext cx="9601200" cy="37368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EDSFF (Enterprise and Data Center SSD Form Factor): This is a newer standard developed specifically for data center optimization, offering improvements in airflow, power, and density.</a:t>
            </a:r>
            <a:endParaRPr b="0" lang="en-US" sz="1000" spc="-1" strike="noStrike">
              <a:solidFill>
                <a:srgbClr val="000000"/>
              </a:solidFill>
              <a:latin typeface="Arial"/>
            </a:endParaRPr>
          </a:p>
        </p:txBody>
      </p:sp>
      <p:pic>
        <p:nvPicPr>
          <p:cNvPr id="108" name="" descr=""/>
          <p:cNvPicPr/>
          <p:nvPr/>
        </p:nvPicPr>
        <p:blipFill>
          <a:blip r:embed="rId1"/>
          <a:stretch/>
        </p:blipFill>
        <p:spPr>
          <a:xfrm>
            <a:off x="685800" y="1236600"/>
            <a:ext cx="8915400" cy="3564000"/>
          </a:xfrm>
          <a:prstGeom prst="rect">
            <a:avLst/>
          </a:prstGeom>
          <a:ln w="18000">
            <a:noFill/>
          </a:ln>
        </p:spPr>
      </p:pic>
      <p:sp>
        <p:nvSpPr>
          <p:cNvPr id="3" name="PlaceHolder 2"/>
          <p:cNvSpPr>
            <a:spLocks noGrp="1"/>
          </p:cNvSpPr>
          <p:nvPr>
            <p:ph type="sldNum" idx="6"/>
          </p:nvPr>
        </p:nvSpPr>
        <p:spPr/>
        <p:txBody>
          <a:bodyPr/>
          <a:p>
            <a:fld id="{15BCA97F-24C3-459C-9B78-B43BD697DA2B}"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US" sz="3300" spc="-1" strike="noStrike">
                <a:solidFill>
                  <a:srgbClr val="ffffff"/>
                </a:solidFill>
                <a:latin typeface="Arial"/>
              </a:rPr>
              <a:t>NVMeoF</a:t>
            </a:r>
            <a:endParaRPr b="0" lang="en-US" sz="3300" spc="-1" strike="noStrike">
              <a:solidFill>
                <a:srgbClr val="ffffff"/>
              </a:solidFill>
              <a:latin typeface="Arial"/>
            </a:endParaRPr>
          </a:p>
        </p:txBody>
      </p:sp>
      <p:sp>
        <p:nvSpPr>
          <p:cNvPr id="110" name=""/>
          <p:cNvSpPr txBox="1"/>
          <p:nvPr/>
        </p:nvSpPr>
        <p:spPr>
          <a:xfrm>
            <a:off x="0" y="842400"/>
            <a:ext cx="9727200" cy="373680"/>
          </a:xfrm>
          <a:prstGeom prst="rect">
            <a:avLst/>
          </a:prstGeom>
          <a:noFill/>
          <a:ln w="18000">
            <a:noFill/>
          </a:ln>
        </p:spPr>
        <p:txBody>
          <a:bodyPr lIns="90000" rIns="90000" tIns="45000" bIns="45000" anchor="t">
            <a:noAutofit/>
          </a:bodyPr>
          <a:p>
            <a:r>
              <a:rPr b="0" lang="en-US" sz="1000" spc="-1" strike="noStrike">
                <a:solidFill>
                  <a:srgbClr val="000000"/>
                </a:solidFill>
                <a:latin typeface="Arial"/>
              </a:rPr>
              <a:t>NVMe-over-Fabrics (NVMe-oF) is a storage networking protocol that is an enabling technology for AI and machine learning (ML) workloads. It accelerates AI by providing high-speed, low-latency access to shared storage pools, which is crucial for data-intensive applications like big data analytics and AI training.</a:t>
            </a:r>
            <a:endParaRPr b="0" lang="en-US" sz="1000" spc="-1" strike="noStrike">
              <a:solidFill>
                <a:srgbClr val="000000"/>
              </a:solidFill>
              <a:latin typeface="Arial"/>
            </a:endParaRPr>
          </a:p>
        </p:txBody>
      </p:sp>
      <p:pic>
        <p:nvPicPr>
          <p:cNvPr id="111" name="" descr=""/>
          <p:cNvPicPr/>
          <p:nvPr/>
        </p:nvPicPr>
        <p:blipFill>
          <a:blip r:embed="rId1"/>
          <a:stretch/>
        </p:blipFill>
        <p:spPr>
          <a:xfrm>
            <a:off x="228600" y="1371600"/>
            <a:ext cx="4572000" cy="2342880"/>
          </a:xfrm>
          <a:prstGeom prst="rect">
            <a:avLst/>
          </a:prstGeom>
          <a:ln w="18000">
            <a:noFill/>
          </a:ln>
        </p:spPr>
      </p:pic>
      <p:pic>
        <p:nvPicPr>
          <p:cNvPr id="112" name="" descr=""/>
          <p:cNvPicPr/>
          <p:nvPr/>
        </p:nvPicPr>
        <p:blipFill>
          <a:blip r:embed="rId2"/>
          <a:stretch/>
        </p:blipFill>
        <p:spPr>
          <a:xfrm>
            <a:off x="4810320" y="1314720"/>
            <a:ext cx="4790880" cy="3485880"/>
          </a:xfrm>
          <a:prstGeom prst="rect">
            <a:avLst/>
          </a:prstGeom>
          <a:ln w="18000">
            <a:noFill/>
          </a:ln>
        </p:spPr>
      </p:pic>
      <p:sp>
        <p:nvSpPr>
          <p:cNvPr id="3" name="PlaceHolder 2"/>
          <p:cNvSpPr>
            <a:spLocks noGrp="1"/>
          </p:cNvSpPr>
          <p:nvPr>
            <p:ph type="sldNum" idx="6"/>
          </p:nvPr>
        </p:nvSpPr>
        <p:spPr/>
        <p:txBody>
          <a:bodyPr/>
          <a:p>
            <a:fld id="{35B79993-DE96-4DE4-AA75-FA04917BA182}"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ffffff"/>
                </a:solidFill>
                <a:latin typeface="Arial"/>
              </a:rPr>
              <a:t>Learning Road map</a:t>
            </a:r>
            <a:endParaRPr b="1" lang="en-US" sz="3300" spc="-1" strike="noStrike">
              <a:solidFill>
                <a:srgbClr val="ffffff"/>
              </a:solidFill>
              <a:latin typeface="Arial"/>
            </a:endParaRPr>
          </a:p>
        </p:txBody>
      </p:sp>
      <p:graphicFrame>
        <p:nvGraphicFramePr>
          <p:cNvPr id="114" name=""/>
          <p:cNvGraphicFramePr/>
          <p:nvPr/>
        </p:nvGraphicFramePr>
        <p:xfrm>
          <a:off x="34200" y="706320"/>
          <a:ext cx="9109800" cy="4094280"/>
        </p:xfrm>
        <a:graphic>
          <a:graphicData uri="http://schemas.openxmlformats.org/drawingml/2006/table">
            <a:tbl>
              <a:tblPr/>
              <a:tblGrid>
                <a:gridCol w="4554360"/>
                <a:gridCol w="4555440"/>
              </a:tblGrid>
              <a:tr h="4275000">
                <a:tc>
                  <a:txBody>
                    <a:bodyPr lIns="36000" rIns="36000" tIns="36000" bIns="36000" anchor="t">
                      <a:noAutofit/>
                    </a:bodyPr>
                    <a:p>
                      <a:pPr>
                        <a:lnSpc>
                          <a:spcPct val="100000"/>
                        </a:lnSpc>
                      </a:pPr>
                      <a:r>
                        <a:rPr b="1" lang="en-US" sz="1200" spc="-1" strike="noStrike">
                          <a:solidFill>
                            <a:srgbClr val="55308d"/>
                          </a:solidFill>
                          <a:latin typeface="Arial"/>
                        </a:rPr>
                        <a:t>1. Start with Core Foundations</a:t>
                      </a:r>
                      <a:br>
                        <a:rPr sz="1200"/>
                      </a:br>
                      <a:r>
                        <a:rPr b="0" lang="en-US" sz="1200" spc="-1" strike="noStrike">
                          <a:solidFill>
                            <a:srgbClr val="55308d"/>
                          </a:solidFill>
                          <a:latin typeface="Arial"/>
                        </a:rPr>
                        <a:t>Learn C/C++, Data Structures, and Computer Architecture.</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Understand CPU pipelines, memory hierarchy, and OS fundamentals.</a:t>
                      </a:r>
                      <a:br>
                        <a:rPr sz="1200"/>
                      </a:b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1" lang="en-US" sz="1200" spc="-1" strike="noStrike">
                          <a:solidFill>
                            <a:srgbClr val="55308d"/>
                          </a:solidFill>
                          <a:latin typeface="Arial"/>
                        </a:rPr>
                        <a:t>2. Embedded Systems &amp; Firmware</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Study microcontrollers (ARM Cortex, RISC-V) and RTOS concepts (FreeRTOS, Zephyr).</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Practice with board bring-up, device trees, and driver development (I²C, SPI, PCIe).</a:t>
                      </a:r>
                      <a:br>
                        <a:rPr sz="1200"/>
                      </a:br>
                      <a:br>
                        <a:rPr sz="1200"/>
                      </a:br>
                      <a:r>
                        <a:rPr b="1" lang="en-US" sz="1200" spc="-1" strike="noStrike">
                          <a:solidFill>
                            <a:srgbClr val="55308d"/>
                          </a:solidFill>
                          <a:latin typeface="Arial"/>
                        </a:rPr>
                        <a:t>3.Linux Kernel &amp; Device Drivers</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Learn Linux internals: interrupts, memory management, and kernel modules.</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Implement simple drivers for GPIO, UART, or block devices.</a:t>
                      </a:r>
                      <a:endParaRPr b="0" lang="en-US" sz="1200" spc="-1" strike="noStrike">
                        <a:solidFill>
                          <a:srgbClr val="55308d"/>
                        </a:solidFill>
                        <a:latin typeface="Arial"/>
                        <a:ea typeface="Noto Sans CJK JP:palt;Noto Sans CJK KR;Noto Sans CJK SC;Noto Sans CJK TC;Noto Sans CJK HK"/>
                      </a:endParaRPr>
                    </a:p>
                    <a:p>
                      <a:pPr>
                        <a:lnSpc>
                          <a:spcPct val="100000"/>
                        </a:lnSpc>
                      </a:pP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1" lang="en-US" sz="1200" spc="-1" strike="noStrike">
                          <a:solidFill>
                            <a:srgbClr val="55308d"/>
                          </a:solidFill>
                          <a:latin typeface="Arial"/>
                        </a:rPr>
                        <a:t>4.Networking Fundamentals</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Understand TCP/IP stack, sockets, and NIC architecture.</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Explore RDMA, RoCE, and InfiniBand through simulation tools and open-source drivers.</a:t>
                      </a:r>
                      <a:endParaRPr b="0" lang="en-US" sz="1200" spc="-1" strike="noStrike">
                        <a:solidFill>
                          <a:srgbClr val="55308d"/>
                        </a:solidFill>
                        <a:latin typeface="Arial"/>
                        <a:ea typeface="Noto Sans CJK JP:palt;Noto Sans CJK KR;Noto Sans CJK SC;Noto Sans CJK TC;Noto Sans CJK HK"/>
                      </a:endParaRPr>
                    </a:p>
                    <a:p>
                      <a:pPr>
                        <a:lnSpc>
                          <a:spcPct val="100000"/>
                        </a:lnSpc>
                      </a:pP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1" lang="en-US" sz="1200" spc="-1" strike="noStrike">
                          <a:solidFill>
                            <a:srgbClr val="55308d"/>
                          </a:solidFill>
                          <a:latin typeface="Arial"/>
                        </a:rPr>
                        <a:t>5. Storage Technologies</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Study SATA, NVMe, and NVMeOF protocols.</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Experiment with SPDK (Storage Performance Development Kit) and fio benchmarking.</a:t>
                      </a:r>
                      <a:endParaRPr b="0" lang="en-US" sz="1200" spc="-1" strike="noStrike">
                        <a:solidFill>
                          <a:srgbClr val="55308d"/>
                        </a:solidFill>
                        <a:latin typeface="Arial"/>
                        <a:ea typeface="Noto Sans CJK JP:palt;Noto Sans CJK KR;Noto Sans CJK SC;Noto Sans CJK TC;Noto Sans CJK HK"/>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d4ea6b"/>
                    </a:solidFill>
                  </a:tcPr>
                </a:tc>
                <a:tc>
                  <a:txBody>
                    <a:bodyPr lIns="36000" rIns="36000" tIns="36000" bIns="36000" anchor="t">
                      <a:noAutofit/>
                    </a:bodyPr>
                    <a:p>
                      <a:pPr>
                        <a:lnSpc>
                          <a:spcPct val="100000"/>
                        </a:lnSpc>
                      </a:pPr>
                      <a:r>
                        <a:rPr b="1" lang="en-US" sz="1200" spc="-1" strike="noStrike">
                          <a:solidFill>
                            <a:srgbClr val="55308d"/>
                          </a:solidFill>
                          <a:latin typeface="Arial"/>
                        </a:rPr>
                        <a:t>6.Compute Acceleration (AI Hardware)</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Learn GPU programming (CUDA / OpenCL) and parallel computing concepts.</a:t>
                      </a: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0" lang="en-US" sz="1200" spc="-1" strike="noStrike">
                          <a:solidFill>
                            <a:srgbClr val="55308d"/>
                          </a:solidFill>
                          <a:latin typeface="Arial"/>
                        </a:rPr>
                        <a:t>Study AI frameworks (TensorFlow, PyTorch) from the hardware acceleration perspective.</a:t>
                      </a:r>
                      <a:endParaRPr b="0" lang="en-US" sz="1200" spc="-1" strike="noStrike">
                        <a:solidFill>
                          <a:srgbClr val="55308d"/>
                        </a:solidFill>
                        <a:latin typeface="Arial"/>
                        <a:ea typeface="Noto Sans CJK JP:palt;Noto Sans CJK KR;Noto Sans CJK SC;Noto Sans CJK TC;Noto Sans CJK HK"/>
                      </a:endParaRPr>
                    </a:p>
                    <a:p>
                      <a:pPr>
                        <a:lnSpc>
                          <a:spcPct val="100000"/>
                        </a:lnSpc>
                      </a:pPr>
                      <a:endParaRPr b="0" lang="en-US" sz="1200" spc="-1" strike="noStrike">
                        <a:solidFill>
                          <a:srgbClr val="55308d"/>
                        </a:solidFill>
                        <a:latin typeface="Arial"/>
                        <a:ea typeface="Noto Sans CJK JP:palt;Noto Sans CJK KR;Noto Sans CJK SC;Noto Sans CJK TC;Noto Sans CJK HK"/>
                      </a:endParaRPr>
                    </a:p>
                    <a:p>
                      <a:pPr>
                        <a:lnSpc>
                          <a:spcPct val="100000"/>
                        </a:lnSpc>
                      </a:pPr>
                      <a:r>
                        <a:rPr b="1" lang="en-US" sz="1200" spc="-1" strike="noStrike">
                          <a:solidFill>
                            <a:srgbClr val="55308d"/>
                          </a:solidFill>
                          <a:latin typeface="Arial"/>
                        </a:rPr>
                        <a:t>7. Datacenter and Cloud Integration</a:t>
                      </a:r>
                      <a:endParaRPr b="0" lang="en-US" sz="1200" spc="-1" strike="noStrike">
                        <a:solidFill>
                          <a:srgbClr val="55308d"/>
                        </a:solidFill>
                        <a:latin typeface="Arial"/>
                      </a:endParaRPr>
                    </a:p>
                    <a:p>
                      <a:pPr>
                        <a:lnSpc>
                          <a:spcPct val="100000"/>
                        </a:lnSpc>
                      </a:pPr>
                      <a:r>
                        <a:rPr b="0" lang="en-US" sz="1200" spc="-1" strike="noStrike">
                          <a:solidFill>
                            <a:srgbClr val="55308d"/>
                          </a:solidFill>
                          <a:latin typeface="Arial"/>
                        </a:rPr>
                        <a:t>Explore PCIe Gen5/Gen6, CXL, DPUs, and virtualization (SR-IOV).</a:t>
                      </a:r>
                      <a:endParaRPr b="0" lang="en-US" sz="1200" spc="-1" strike="noStrike">
                        <a:solidFill>
                          <a:srgbClr val="55308d"/>
                        </a:solidFill>
                        <a:latin typeface="Arial"/>
                      </a:endParaRPr>
                    </a:p>
                    <a:p>
                      <a:pPr>
                        <a:lnSpc>
                          <a:spcPct val="100000"/>
                        </a:lnSpc>
                      </a:pPr>
                      <a:r>
                        <a:rPr b="0" lang="en-US" sz="1200" spc="-1" strike="noStrike">
                          <a:solidFill>
                            <a:srgbClr val="55308d"/>
                          </a:solidFill>
                          <a:latin typeface="Arial"/>
                        </a:rPr>
                        <a:t>Understand how embedded and datacenter hardware converge in AI inference and training clusters.</a:t>
                      </a:r>
                      <a:endParaRPr b="0" lang="en-US" sz="1200" spc="-1" strike="noStrike">
                        <a:solidFill>
                          <a:srgbClr val="55308d"/>
                        </a:solidFill>
                        <a:latin typeface="Arial"/>
                      </a:endParaRPr>
                    </a:p>
                    <a:p>
                      <a:pPr>
                        <a:lnSpc>
                          <a:spcPct val="100000"/>
                        </a:lnSpc>
                      </a:pPr>
                      <a:endParaRPr b="0" lang="en-US" sz="1200" spc="-1" strike="noStrike">
                        <a:solidFill>
                          <a:srgbClr val="55308d"/>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d4ea6b"/>
                    </a:solidFill>
                  </a:tcPr>
                </a:tc>
              </a:tr>
            </a:tbl>
          </a:graphicData>
        </a:graphic>
      </p:graphicFrame>
      <p:pic>
        <p:nvPicPr>
          <p:cNvPr id="115" name="" descr=""/>
          <p:cNvPicPr/>
          <p:nvPr/>
        </p:nvPicPr>
        <p:blipFill>
          <a:blip r:embed="rId1"/>
          <a:stretch/>
        </p:blipFill>
        <p:spPr>
          <a:xfrm>
            <a:off x="5029200" y="2887200"/>
            <a:ext cx="2286000" cy="1913400"/>
          </a:xfrm>
          <a:prstGeom prst="rect">
            <a:avLst/>
          </a:prstGeom>
          <a:ln w="18000">
            <a:noFill/>
          </a:ln>
        </p:spPr>
      </p:pic>
      <p:sp>
        <p:nvSpPr>
          <p:cNvPr id="3" name="PlaceHolder 2"/>
          <p:cNvSpPr>
            <a:spLocks noGrp="1"/>
          </p:cNvSpPr>
          <p:nvPr>
            <p:ph type="sldNum" idx="6"/>
          </p:nvPr>
        </p:nvSpPr>
        <p:spPr/>
        <p:txBody>
          <a:bodyPr/>
          <a:p>
            <a:fld id="{55A59AB8-1FD5-4DA5-8FAA-A13F9506BCA5}"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1" lang="en-US" sz="3300" spc="-1" strike="noStrike">
                <a:solidFill>
                  <a:srgbClr val="d62e4e"/>
                </a:solidFill>
                <a:latin typeface="Arial"/>
              </a:rPr>
              <a:t>Career </a:t>
            </a:r>
            <a:r>
              <a:rPr b="1" lang="en-US" sz="3300" spc="-1" strike="noStrike">
                <a:solidFill>
                  <a:srgbClr val="d62e4e"/>
                </a:solidFill>
                <a:latin typeface="Arial"/>
              </a:rPr>
              <a:t>Opportu</a:t>
            </a:r>
            <a:r>
              <a:rPr b="1" lang="en-US" sz="3300" spc="-1" strike="noStrike">
                <a:solidFill>
                  <a:srgbClr val="d62e4e"/>
                </a:solidFill>
                <a:latin typeface="Arial"/>
              </a:rPr>
              <a:t>nities</a:t>
            </a:r>
            <a:endParaRPr b="1" lang="en-US" sz="3300" spc="-1" strike="noStrike">
              <a:solidFill>
                <a:srgbClr val="d62e4e"/>
              </a:solidFill>
              <a:latin typeface="Arial"/>
            </a:endParaRPr>
          </a:p>
        </p:txBody>
      </p:sp>
      <p:graphicFrame>
        <p:nvGraphicFramePr>
          <p:cNvPr id="117" name="Table 2"/>
          <p:cNvGraphicFramePr/>
          <p:nvPr/>
        </p:nvGraphicFramePr>
        <p:xfrm>
          <a:off x="384840" y="19800"/>
          <a:ext cx="8118360" cy="4668840"/>
        </p:xfrm>
        <a:graphic>
          <a:graphicData uri="http://schemas.openxmlformats.org/drawingml/2006/table">
            <a:tbl>
              <a:tblPr/>
              <a:tblGrid>
                <a:gridCol w="2029680"/>
                <a:gridCol w="2029680"/>
                <a:gridCol w="2029680"/>
                <a:gridCol w="3587400"/>
              </a:tblGrid>
              <a:tr h="576360">
                <a:tc>
                  <a:txBody>
                    <a:bodyPr anchor="t">
                      <a:noAutofit/>
                    </a:bodyPr>
                    <a:p>
                      <a:pPr defTabSz="457200">
                        <a:lnSpc>
                          <a:spcPct val="100000"/>
                        </a:lnSpc>
                      </a:pPr>
                      <a:r>
                        <a:rPr b="1" lang="en-US" sz="1400" spc="-1" strike="noStrike">
                          <a:solidFill>
                            <a:srgbClr val="ffffff"/>
                          </a:solidFill>
                          <a:latin typeface="Calibri"/>
                        </a:rPr>
                        <a:t>Skill Area</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1" lang="en-US" sz="1400" spc="-1" strike="noStrike">
                          <a:solidFill>
                            <a:srgbClr val="ffffff"/>
                          </a:solidFill>
                          <a:latin typeface="Calibri"/>
                        </a:rPr>
                        <a:t>Industries That Hire</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1" lang="en-US" sz="1400" spc="-1" strike="noStrike">
                          <a:solidFill>
                            <a:srgbClr val="ffffff"/>
                          </a:solidFill>
                          <a:latin typeface="Calibri"/>
                        </a:rPr>
                        <a:t>Companies </a:t>
                      </a:r>
                      <a:r>
                        <a:rPr b="1" lang="en-US" sz="1400" spc="-1" strike="noStrike">
                          <a:solidFill>
                            <a:srgbClr val="ffffff"/>
                          </a:solidFill>
                          <a:latin typeface="Calibri"/>
                        </a:rPr>
                        <a:t>Recruiting</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1" lang="en-US" sz="1400" spc="-1" strike="noStrike">
                          <a:solidFill>
                            <a:srgbClr val="ffffff"/>
                          </a:solidFill>
                          <a:latin typeface="Calibri"/>
                        </a:rPr>
                        <a:t>Typical Roles</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713880">
                <a:tc>
                  <a:txBody>
                    <a:bodyPr anchor="t">
                      <a:noAutofit/>
                    </a:bodyPr>
                    <a:p>
                      <a:pPr defTabSz="457200">
                        <a:lnSpc>
                          <a:spcPct val="100000"/>
                        </a:lnSpc>
                      </a:pPr>
                      <a:r>
                        <a:rPr b="0" lang="en-US" sz="1200" spc="-1" strike="noStrike">
                          <a:solidFill>
                            <a:srgbClr val="000000"/>
                          </a:solidFill>
                          <a:latin typeface="Calibri"/>
                        </a:rPr>
                        <a:t>Core Foundations (C/C++, </a:t>
                      </a:r>
                      <a:r>
                        <a:rPr b="0" lang="en-US" sz="1200" spc="-1" strike="noStrike">
                          <a:solidFill>
                            <a:srgbClr val="000000"/>
                          </a:solidFill>
                          <a:latin typeface="Calibri"/>
                        </a:rPr>
                        <a:t>OS, Computer </a:t>
                      </a:r>
                      <a:r>
                        <a:rPr b="0" lang="en-US" sz="1200" spc="-1" strike="noStrike">
                          <a:solidFill>
                            <a:srgbClr val="000000"/>
                          </a:solidFill>
                          <a:latin typeface="Calibri"/>
                        </a:rPr>
                        <a:t>Architecture)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Semiconductors, </a:t>
                      </a:r>
                      <a:r>
                        <a:rPr b="0" lang="en-US" sz="1200" spc="-1" strike="noStrike">
                          <a:solidFill>
                            <a:srgbClr val="000000"/>
                          </a:solidFill>
                          <a:latin typeface="Calibri"/>
                        </a:rPr>
                        <a:t>Embedded, Cloud Infra</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Intel, AMD, NVIDIA, </a:t>
                      </a:r>
                      <a:r>
                        <a:rPr b="0" lang="en-US" sz="1200" spc="-1" strike="noStrike">
                          <a:solidFill>
                            <a:srgbClr val="000000"/>
                          </a:solidFill>
                          <a:latin typeface="Calibri"/>
                        </a:rPr>
                        <a:t>Qualcomm, Broadcom, </a:t>
                      </a:r>
                      <a:r>
                        <a:rPr b="0" lang="en-US" sz="1200" spc="-1" strike="noStrike">
                          <a:solidFill>
                            <a:srgbClr val="000000"/>
                          </a:solidFill>
                          <a:latin typeface="Calibri"/>
                        </a:rPr>
                        <a:t>Apple, Google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Systems Software </a:t>
                      </a:r>
                      <a:r>
                        <a:rPr b="0" lang="en-US" sz="1200" spc="-1" strike="noStrike">
                          <a:solidFill>
                            <a:srgbClr val="000000"/>
                          </a:solidFill>
                          <a:latin typeface="Calibri"/>
                        </a:rPr>
                        <a:t>Engineer, Firmware </a:t>
                      </a:r>
                      <a:r>
                        <a:rPr b="0" lang="en-US" sz="1200" spc="-1" strike="noStrike">
                          <a:solidFill>
                            <a:srgbClr val="000000"/>
                          </a:solidFill>
                          <a:latin typeface="Calibri"/>
                        </a:rPr>
                        <a:t>Engineer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1128600">
                <a:tc>
                  <a:txBody>
                    <a:bodyPr anchor="t">
                      <a:noAutofit/>
                    </a:bodyPr>
                    <a:p>
                      <a:pPr defTabSz="457200">
                        <a:lnSpc>
                          <a:spcPct val="100000"/>
                        </a:lnSpc>
                      </a:pPr>
                      <a:r>
                        <a:rPr b="0" lang="en-US" sz="1200" spc="-1" strike="noStrike">
                          <a:solidFill>
                            <a:srgbClr val="000000"/>
                          </a:solidFill>
                          <a:latin typeface="Calibri"/>
                        </a:rPr>
                        <a:t>Embedded Systems &amp; </a:t>
                      </a:r>
                      <a:r>
                        <a:rPr b="0" lang="en-US" sz="1200" spc="-1" strike="noStrike">
                          <a:solidFill>
                            <a:srgbClr val="000000"/>
                          </a:solidFill>
                          <a:latin typeface="Calibri"/>
                        </a:rPr>
                        <a:t>Firmware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IoT, Automotive, </a:t>
                      </a:r>
                      <a:r>
                        <a:rPr b="0" lang="en-US" sz="1200" spc="-1" strike="noStrike">
                          <a:solidFill>
                            <a:srgbClr val="000000"/>
                          </a:solidFill>
                          <a:latin typeface="Calibri"/>
                        </a:rPr>
                        <a:t>Robotics, Aerospace, </a:t>
                      </a:r>
                      <a:r>
                        <a:rPr b="0" lang="en-US" sz="1200" spc="-1" strike="noStrike">
                          <a:solidFill>
                            <a:srgbClr val="000000"/>
                          </a:solidFill>
                          <a:latin typeface="Calibri"/>
                        </a:rPr>
                        <a:t>Medical Devices</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Bosch, Siemens, </a:t>
                      </a:r>
                      <a:r>
                        <a:rPr b="0" lang="en-US" sz="1200" spc="-1" strike="noStrike">
                          <a:solidFill>
                            <a:srgbClr val="000000"/>
                          </a:solidFill>
                          <a:latin typeface="Calibri"/>
                        </a:rPr>
                        <a:t>Honeywell, Philips, </a:t>
                      </a:r>
                      <a:r>
                        <a:rPr b="0" lang="en-US" sz="1200" spc="-1" strike="noStrike">
                          <a:solidFill>
                            <a:srgbClr val="000000"/>
                          </a:solidFill>
                          <a:latin typeface="Calibri"/>
                        </a:rPr>
                        <a:t>Renesas, </a:t>
                      </a:r>
                      <a:r>
                        <a:rPr b="0" lang="en-US" sz="1200" spc="-1" strike="noStrike">
                          <a:solidFill>
                            <a:srgbClr val="000000"/>
                          </a:solidFill>
                          <a:latin typeface="Calibri"/>
                        </a:rPr>
                        <a:t>STMicroelectronics, Tesla, </a:t>
                      </a:r>
                      <a:r>
                        <a:rPr b="0" lang="en-US" sz="1200" spc="-1" strike="noStrike">
                          <a:solidFill>
                            <a:srgbClr val="000000"/>
                          </a:solidFill>
                          <a:latin typeface="Calibri"/>
                        </a:rPr>
                        <a:t>DJI</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Embedded Engineer, </a:t>
                      </a:r>
                      <a:r>
                        <a:rPr b="0" lang="en-US" sz="1200" spc="-1" strike="noStrike">
                          <a:solidFill>
                            <a:srgbClr val="000000"/>
                          </a:solidFill>
                          <a:latin typeface="Calibri"/>
                        </a:rPr>
                        <a:t>Firmware Developer, </a:t>
                      </a:r>
                      <a:r>
                        <a:rPr b="0" lang="en-US" sz="1200" spc="-1" strike="noStrike">
                          <a:solidFill>
                            <a:srgbClr val="000000"/>
                          </a:solidFill>
                          <a:latin typeface="Calibri"/>
                        </a:rPr>
                        <a:t>RTOS Engineer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13880">
                <a:tc>
                  <a:txBody>
                    <a:bodyPr anchor="t">
                      <a:noAutofit/>
                    </a:bodyPr>
                    <a:p>
                      <a:pPr defTabSz="457200">
                        <a:lnSpc>
                          <a:spcPct val="100000"/>
                        </a:lnSpc>
                      </a:pPr>
                      <a:r>
                        <a:rPr b="0" lang="en-US" sz="1200" spc="-1" strike="noStrike">
                          <a:solidFill>
                            <a:srgbClr val="000000"/>
                          </a:solidFill>
                          <a:latin typeface="Calibri"/>
                        </a:rPr>
                        <a:t>Linux Kernel &amp; Device </a:t>
                      </a:r>
                      <a:r>
                        <a:rPr b="0" lang="en-US" sz="1200" spc="-1" strike="noStrike">
                          <a:solidFill>
                            <a:srgbClr val="000000"/>
                          </a:solidFill>
                          <a:latin typeface="Calibri"/>
                        </a:rPr>
                        <a:t>Drivers</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OS Vendors, Telecom, </a:t>
                      </a:r>
                      <a:r>
                        <a:rPr b="0" lang="en-US" sz="1200" spc="-1" strike="noStrike">
                          <a:solidFill>
                            <a:srgbClr val="000000"/>
                          </a:solidFill>
                          <a:latin typeface="Calibri"/>
                        </a:rPr>
                        <a:t>HPC, Cloud, Networking</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Red Hat, Canonical, </a:t>
                      </a:r>
                      <a:r>
                        <a:rPr b="0" lang="en-US" sz="1200" spc="-1" strike="noStrike">
                          <a:solidFill>
                            <a:srgbClr val="000000"/>
                          </a:solidFill>
                          <a:latin typeface="Calibri"/>
                        </a:rPr>
                        <a:t>Collabora, Wind River, </a:t>
                      </a:r>
                      <a:r>
                        <a:rPr b="0" lang="en-US" sz="1200" spc="-1" strike="noStrike">
                          <a:solidFill>
                            <a:srgbClr val="000000"/>
                          </a:solidFill>
                          <a:latin typeface="Calibri"/>
                        </a:rPr>
                        <a:t>Cisco, Juniper, Arista</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Kernel Engineer, Device </a:t>
                      </a:r>
                      <a:r>
                        <a:rPr b="0" lang="en-US" sz="1200" spc="-1" strike="noStrike">
                          <a:solidFill>
                            <a:srgbClr val="000000"/>
                          </a:solidFill>
                          <a:latin typeface="Calibri"/>
                        </a:rPr>
                        <a:t>Driver Developer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921240">
                <a:tc>
                  <a:txBody>
                    <a:bodyPr anchor="t">
                      <a:noAutofit/>
                    </a:bodyPr>
                    <a:p>
                      <a:pPr defTabSz="457200">
                        <a:lnSpc>
                          <a:spcPct val="100000"/>
                        </a:lnSpc>
                      </a:pPr>
                      <a:r>
                        <a:rPr b="0" lang="en-US" sz="1200" spc="-1" strike="noStrike">
                          <a:solidFill>
                            <a:srgbClr val="000000"/>
                          </a:solidFill>
                          <a:latin typeface="Calibri"/>
                        </a:rPr>
                        <a:t>Networking </a:t>
                      </a:r>
                      <a:r>
                        <a:rPr b="0" lang="en-US" sz="1200" spc="-1" strike="noStrike">
                          <a:solidFill>
                            <a:srgbClr val="000000"/>
                          </a:solidFill>
                          <a:latin typeface="Calibri"/>
                        </a:rPr>
                        <a:t>Fundamentals (TCP/IP, </a:t>
                      </a:r>
                      <a:r>
                        <a:rPr b="0" lang="en-US" sz="1200" spc="-1" strike="noStrike">
                          <a:solidFill>
                            <a:srgbClr val="000000"/>
                          </a:solidFill>
                          <a:latin typeface="Calibri"/>
                        </a:rPr>
                        <a:t>NICs, RDMA)</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Datacenter, Telecom, </a:t>
                      </a:r>
                      <a:r>
                        <a:rPr b="0" lang="en-US" sz="1200" spc="-1" strike="noStrike">
                          <a:solidFill>
                            <a:srgbClr val="000000"/>
                          </a:solidFill>
                          <a:latin typeface="Calibri"/>
                        </a:rPr>
                        <a:t>Cloud, HPC</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Cisco, Juniper, Arista, </a:t>
                      </a:r>
                      <a:r>
                        <a:rPr b="0" lang="en-US" sz="1200" spc="-1" strike="noStrike">
                          <a:solidFill>
                            <a:srgbClr val="000000"/>
                          </a:solidFill>
                          <a:latin typeface="Calibri"/>
                        </a:rPr>
                        <a:t>Broadcom, </a:t>
                      </a:r>
                      <a:r>
                        <a:rPr b="0" lang="en-US" sz="1200" spc="-1" strike="noStrike">
                          <a:solidFill>
                            <a:srgbClr val="000000"/>
                          </a:solidFill>
                          <a:latin typeface="Calibri"/>
                        </a:rPr>
                        <a:t>Mellanox/NVIDIA, HPE, </a:t>
                      </a:r>
                      <a:r>
                        <a:rPr b="0" lang="en-US" sz="1200" spc="-1" strike="noStrike">
                          <a:solidFill>
                            <a:srgbClr val="000000"/>
                          </a:solidFill>
                          <a:latin typeface="Calibri"/>
                        </a:rPr>
                        <a:t>Dell</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Network Systems </a:t>
                      </a:r>
                      <a:r>
                        <a:rPr b="0" lang="en-US" sz="1200" spc="-1" strike="noStrike">
                          <a:solidFill>
                            <a:srgbClr val="000000"/>
                          </a:solidFill>
                          <a:latin typeface="Calibri"/>
                        </a:rPr>
                        <a:t>Engineer, DPU Engineer, </a:t>
                      </a:r>
                      <a:r>
                        <a:rPr b="0" lang="en-US" sz="1200" spc="-1" strike="noStrike">
                          <a:solidFill>
                            <a:srgbClr val="000000"/>
                          </a:solidFill>
                          <a:latin typeface="Calibri"/>
                        </a:rPr>
                        <a:t>NIC Driver Developer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921240">
                <a:tc>
                  <a:txBody>
                    <a:bodyPr anchor="t">
                      <a:noAutofit/>
                    </a:bodyPr>
                    <a:p>
                      <a:pPr defTabSz="457200">
                        <a:lnSpc>
                          <a:spcPct val="100000"/>
                        </a:lnSpc>
                      </a:pPr>
                      <a:r>
                        <a:rPr b="0" lang="en-US" sz="1200" spc="-1" strike="noStrike">
                          <a:solidFill>
                            <a:srgbClr val="000000"/>
                          </a:solidFill>
                          <a:latin typeface="Calibri"/>
                        </a:rPr>
                        <a:t>Storage Technologies </a:t>
                      </a:r>
                      <a:r>
                        <a:rPr b="0" lang="en-US" sz="1200" spc="-1" strike="noStrike">
                          <a:solidFill>
                            <a:srgbClr val="000000"/>
                          </a:solidFill>
                          <a:latin typeface="Calibri"/>
                        </a:rPr>
                        <a:t>(NVMe, NVMe-oF, SPDK)</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Storage Vendors, Datacenters, Cloud Infrastructure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Samsung SSD, Western Digital, Seagate, Pure Storage, NetApp, Dell EMC</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Storage Firmware Engineer, NVMe Stack Developer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921240">
                <a:tc>
                  <a:txBody>
                    <a:bodyPr anchor="t">
                      <a:noAutofit/>
                    </a:bodyPr>
                    <a:p>
                      <a:pPr defTabSz="457200">
                        <a:lnSpc>
                          <a:spcPct val="100000"/>
                        </a:lnSpc>
                      </a:pPr>
                      <a:r>
                        <a:rPr b="0" lang="en-US" sz="1200" spc="-1" strike="noStrike">
                          <a:solidFill>
                            <a:srgbClr val="000000"/>
                          </a:solidFill>
                          <a:latin typeface="Calibri"/>
                        </a:rPr>
                        <a:t>Compute Acceleration (CUDA, GPUs, AI Hardware)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AI/ML, Autonomous Vehicles, HPC, Cloud</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NVIDIA, Google TPU Team, Apple Neural Engine, Hailo, Graphcore, Tenstorrent, Cerebras</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AI Accelerator Engineer, GPU Programmer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921240">
                <a:tc>
                  <a:txBody>
                    <a:bodyPr anchor="t">
                      <a:noAutofit/>
                    </a:bodyPr>
                    <a:p>
                      <a:pPr defTabSz="457200">
                        <a:lnSpc>
                          <a:spcPct val="100000"/>
                        </a:lnSpc>
                      </a:pPr>
                      <a:r>
                        <a:rPr b="0" lang="en-US" sz="1200" spc="-1" strike="noStrike">
                          <a:solidFill>
                            <a:srgbClr val="000000"/>
                          </a:solidFill>
                          <a:latin typeface="Calibri"/>
                        </a:rPr>
                        <a:t>Datacenter &amp; Cloud Integration (PCIe, CXL, DPUs, SR-IOV)</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Cloud Providers, Hyperscalers, HPC</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AWS, Google Cloud, Microsoft Azure, Meta, Oracle, Alibaba Cloud</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Cloud Infrastructure Engineer, Systems/Platform Engineer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13880">
                <a:tc>
                  <a:txBody>
                    <a:bodyPr anchor="t">
                      <a:noAutofit/>
                    </a:bodyPr>
                    <a:p>
                      <a:pPr defTabSz="457200">
                        <a:lnSpc>
                          <a:spcPct val="100000"/>
                        </a:lnSpc>
                      </a:pPr>
                      <a:r>
                        <a:rPr b="0" lang="en-US" sz="1200" spc="-1" strike="noStrike">
                          <a:solidFill>
                            <a:srgbClr val="000000"/>
                          </a:solidFill>
                          <a:latin typeface="Calibri"/>
                        </a:rPr>
                        <a:t>Board Bring-up &amp; Low-level Hardware Integration</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Semiconductors, Embedded, Automotive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NXP, TI, Qualcomm, Broadcom, Tesla, Rivian</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000000"/>
                          </a:solidFill>
                          <a:latin typeface="Calibri"/>
                        </a:rPr>
                        <a:t>Board Bring-up Engineer, HW-SW Co-design Engineer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216000">
                <a:tc>
                  <a:txBody>
                    <a:bodyPr anchor="t">
                      <a:noAutofit/>
                    </a:bodyPr>
                    <a:p>
                      <a:pPr defTabSz="457200">
                        <a:lnSpc>
                          <a:spcPct val="100000"/>
                        </a:lnSpc>
                      </a:pPr>
                      <a:r>
                        <a:rPr b="0" lang="en-US" sz="1200" spc="-1" strike="noStrike">
                          <a:solidFill>
                            <a:srgbClr val="000000"/>
                          </a:solidFill>
                          <a:latin typeface="Calibri"/>
                        </a:rPr>
                        <a:t>Virtualization &amp; High-performance I/O</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Cloud, Telecom, Enterprise Datacenters</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VMware, Nutanix, Red Hat, Intel, NVIDIA</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000000"/>
                          </a:solidFill>
                          <a:latin typeface="Calibri"/>
                        </a:rPr>
                        <a:t>Virtualization Engineer, High-performance I/O Engineer</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
        <p:nvSpPr>
          <p:cNvPr id="3" name="PlaceHolder 2"/>
          <p:cNvSpPr>
            <a:spLocks noGrp="1"/>
          </p:cNvSpPr>
          <p:nvPr>
            <p:ph type="sldNum" idx="6"/>
          </p:nvPr>
        </p:nvSpPr>
        <p:spPr/>
        <p:txBody>
          <a:bodyPr/>
          <a:p>
            <a:fld id="{327EA432-71CC-4F0B-9ED2-FC753FBF2BA8}"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US" sz="3300" spc="-1" strike="noStrike">
              <a:solidFill>
                <a:srgbClr val="ffffff"/>
              </a:solidFill>
              <a:latin typeface="Arial"/>
            </a:endParaRPr>
          </a:p>
        </p:txBody>
      </p:sp>
      <p:pic>
        <p:nvPicPr>
          <p:cNvPr id="119" name="" descr=""/>
          <p:cNvPicPr/>
          <p:nvPr/>
        </p:nvPicPr>
        <p:blipFill>
          <a:blip r:embed="rId1"/>
          <a:stretch/>
        </p:blipFill>
        <p:spPr>
          <a:xfrm>
            <a:off x="44280" y="45360"/>
            <a:ext cx="10014120" cy="5669640"/>
          </a:xfrm>
          <a:prstGeom prst="rect">
            <a:avLst/>
          </a:prstGeom>
          <a:ln w="18000">
            <a:noFill/>
          </a:ln>
        </p:spPr>
      </p:pic>
      <p:sp>
        <p:nvSpPr>
          <p:cNvPr id="3" name="PlaceHolder 2"/>
          <p:cNvSpPr>
            <a:spLocks noGrp="1"/>
          </p:cNvSpPr>
          <p:nvPr>
            <p:ph type="sldNum" idx="6"/>
          </p:nvPr>
        </p:nvSpPr>
        <p:spPr/>
        <p:txBody>
          <a:bodyPr/>
          <a:p>
            <a:fld id="{1877E3A2-502D-40FE-802B-6C4887CCE5B0}" type="slidenum">
              <a:t>21</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2153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2025-11-18T00:50:46Z</dcterms:created>
  <dc:creator/>
  <dc:description/>
  <dc:language>en-US</dc:language>
  <cp:lastModifiedBy/>
  <dcterms:modified xsi:type="dcterms:W3CDTF">2025-11-23T13:00:16Z</dcterms:modified>
  <cp:revision>60</cp:revision>
  <dc:subject/>
  <dc:title>Blue Curve</dc:title>
</cp:coreProperties>
</file>