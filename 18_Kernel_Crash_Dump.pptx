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3.xml.rels" ContentType="application/vnd.openxmlformats-package.relationships+xml"/>
  <Override PartName="/ppt/slideMasters/_rels/slideMaster14.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19.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_rels/presentation.xml.rels" ContentType="application/vnd.openxmlformats-package.relationships+xml"/>
  <Override PartName="/ppt/media/image1.jpeg" ContentType="image/jpeg"/>
  <Override PartName="/ppt/media/image6.png" ContentType="image/png"/>
  <Override PartName="/ppt/media/image2.png" ContentType="image/png"/>
  <Override PartName="/ppt/media/image3.png" ContentType="image/png"/>
  <Override PartName="/ppt/media/image4.png" ContentType="image/png"/>
  <Override PartName="/ppt/media/image5.png" ContentType="image/png"/>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Lst>
  <p:sldIdLst>
    <p:sldId id="256" r:id="rId22"/>
    <p:sldId id="257" r:id="rId23"/>
    <p:sldId id="258" r:id="rId24"/>
    <p:sldId id="259" r:id="rId25"/>
    <p:sldId id="260" r:id="rId26"/>
    <p:sldId id="261" r:id="rId27"/>
    <p:sldId id="262" r:id="rId28"/>
    <p:sldId id="263" r:id="rId29"/>
    <p:sldId id="264" r:id="rId30"/>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 Target="slides/slide1.xml"/><Relationship Id="rId23" Type="http://schemas.openxmlformats.org/officeDocument/2006/relationships/slide" Target="slides/slide2.xml"/><Relationship Id="rId24" Type="http://schemas.openxmlformats.org/officeDocument/2006/relationships/slide" Target="slides/slide3.xml"/><Relationship Id="rId25" Type="http://schemas.openxmlformats.org/officeDocument/2006/relationships/slide" Target="slides/slide4.xml"/><Relationship Id="rId26" Type="http://schemas.openxmlformats.org/officeDocument/2006/relationships/slide" Target="slides/slide5.xml"/><Relationship Id="rId27" Type="http://schemas.openxmlformats.org/officeDocument/2006/relationships/slide" Target="slides/slide6.xml"/><Relationship Id="rId28" Type="http://schemas.openxmlformats.org/officeDocument/2006/relationships/slide" Target="slides/slide7.xml"/><Relationship Id="rId29" Type="http://schemas.openxmlformats.org/officeDocument/2006/relationships/slide" Target="slides/slide8.xml"/><Relationship Id="rId30" Type="http://schemas.openxmlformats.org/officeDocument/2006/relationships/slide" Target="slides/slide9.xml"/><Relationship Id="rId3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and 2 Content">
    <p:spTree>
      <p:nvGrpSpPr>
        <p:cNvPr id="1" name=""/>
        <p:cNvGrpSpPr/>
        <p:nvPr/>
      </p:nvGrpSpPr>
      <p:grpSpPr>
        <a:xfrm>
          <a:off x="0" y="0"/>
          <a:ext cx="0" cy="0"/>
          <a:chOff x="0" y="0"/>
          <a:chExt cx="0" cy="0"/>
        </a:xfrm>
      </p:grpSpPr>
      <p:sp>
        <p:nvSpPr>
          <p:cNvPr id="3"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2 Content over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over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4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6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Slide">
    <p:spTree>
      <p:nvGrpSpPr>
        <p:cNvPr id="1" name=""/>
        <p:cNvGrpSpPr/>
        <p:nvPr/>
      </p:nvGrpSpPr>
      <p:grpSpPr>
        <a:xfrm>
          <a:off x="0" y="0"/>
          <a:ext cx="0" cy="0"/>
          <a:chOff x="0" y="0"/>
          <a:chExt cx="0" cy="0"/>
        </a:xfrm>
      </p:grpSpPr>
      <p:sp>
        <p:nvSpPr>
          <p:cNvPr id="28"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33"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2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spTree>
      <p:nvGrpSpPr>
        <p:cNvPr id="1" name=""/>
        <p:cNvGrpSpPr/>
        <p:nvPr/>
      </p:nvGrpSpPr>
      <p:grpSpPr>
        <a:xfrm>
          <a:off x="0" y="0"/>
          <a:ext cx="0" cy="0"/>
          <a:chOff x="0" y="0"/>
          <a:chExt cx="0" cy="0"/>
        </a:xfrm>
      </p:grpSpPr>
      <p:sp>
        <p:nvSpPr>
          <p:cNvPr id="48"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9"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Centered Text">
    <p:spTree>
      <p:nvGrpSpPr>
        <p:cNvPr id="1" name=""/>
        <p:cNvGrpSpPr/>
        <p:nvPr/>
      </p:nvGrpSpPr>
      <p:grpSpPr>
        <a:xfrm>
          <a:off x="0" y="0"/>
          <a:ext cx="0" cy="0"/>
          <a:chOff x="0" y="0"/>
          <a:chExt cx="0" cy="0"/>
        </a:xfrm>
      </p:grpSpPr>
      <p:sp>
        <p:nvSpPr>
          <p:cNvPr id="57"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8"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2 Content and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3"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68"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9"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
    <p:spTree>
      <p:nvGrpSpPr>
        <p:cNvPr id="1" name=""/>
        <p:cNvGrpSpPr/>
        <p:nvPr/>
      </p:nvGrpSpPr>
      <p:grpSpPr>
        <a:xfrm>
          <a:off x="0" y="0"/>
          <a:ext cx="0" cy="0"/>
          <a:chOff x="0" y="0"/>
          <a:chExt cx="0" cy="0"/>
        </a:xfrm>
      </p:grpSpPr>
      <p:sp>
        <p:nvSpPr>
          <p:cNvPr id="74"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5"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
    <p:spTree>
      <p:nvGrpSpPr>
        <p:cNvPr id="1" name=""/>
        <p:cNvGrpSpPr/>
        <p:nvPr/>
      </p:nvGrpSpPr>
      <p:grpSpPr>
        <a:xfrm>
          <a:off x="0" y="0"/>
          <a:ext cx="0" cy="0"/>
          <a:chOff x="0" y="0"/>
          <a:chExt cx="0" cy="0"/>
        </a:xfrm>
      </p:grpSpPr>
      <p:sp>
        <p:nvSpPr>
          <p:cNvPr id="80"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1"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4">
    <p:spTree>
      <p:nvGrpSpPr>
        <p:cNvPr id="1" name=""/>
        <p:cNvGrpSpPr/>
        <p:nvPr/>
      </p:nvGrpSpPr>
      <p:grpSpPr>
        <a:xfrm>
          <a:off x="0" y="0"/>
          <a:ext cx="0" cy="0"/>
          <a:chOff x="0" y="0"/>
          <a:chExt cx="0" cy="0"/>
        </a:xfrm>
      </p:grpSpPr>
      <p:sp>
        <p:nvSpPr>
          <p:cNvPr id="86"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7"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5">
    <p:spTree>
      <p:nvGrpSpPr>
        <p:cNvPr id="1" name=""/>
        <p:cNvGrpSpPr/>
        <p:nvPr/>
      </p:nvGrpSpPr>
      <p:grpSpPr>
        <a:xfrm>
          <a:off x="0" y="0"/>
          <a:ext cx="0" cy="0"/>
          <a:chOff x="0" y="0"/>
          <a:chExt cx="0" cy="0"/>
        </a:xfrm>
      </p:grpSpPr>
      <p:sp>
        <p:nvSpPr>
          <p:cNvPr id="92"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3"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98"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9"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7">
    <p:spTree>
      <p:nvGrpSpPr>
        <p:cNvPr id="1" name=""/>
        <p:cNvGrpSpPr/>
        <p:nvPr/>
      </p:nvGrpSpPr>
      <p:grpSpPr>
        <a:xfrm>
          <a:off x="0" y="0"/>
          <a:ext cx="0" cy="0"/>
          <a:chOff x="0" y="0"/>
          <a:chExt cx="0" cy="0"/>
        </a:xfrm>
      </p:grpSpPr>
      <p:sp>
        <p:nvSpPr>
          <p:cNvPr id="104"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5" name="PlaceHolder 2"/>
          <p:cNvSpPr>
            <a:spLocks noGrp="1"/>
          </p:cNvSpPr>
          <p:nvPr>
            <p:ph/>
          </p:nvPr>
        </p:nvSpPr>
        <p:spPr>
          <a:xfrm>
            <a:off x="504000" y="1769040"/>
            <a:ext cx="9069840" cy="4382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jpe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0" y="5806440"/>
            <a:ext cx="10077840" cy="1752480"/>
          </a:xfrm>
          <a:prstGeom prst="rect">
            <a:avLst/>
          </a:prstGeom>
          <a:ln w="0">
            <a:noFill/>
          </a:ln>
        </p:spPr>
      </p:pic>
      <p:sp>
        <p:nvSpPr>
          <p:cNvPr id="1"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 name="" descr=""/>
          <p:cNvPicPr/>
          <p:nvPr/>
        </p:nvPicPr>
        <p:blipFill>
          <a:blip r:embed="rId2"/>
          <a:stretch/>
        </p:blipFill>
        <p:spPr>
          <a:xfrm>
            <a:off x="0" y="5806440"/>
            <a:ext cx="10077840" cy="1752480"/>
          </a:xfrm>
          <a:prstGeom prst="rect">
            <a:avLst/>
          </a:prstGeom>
          <a:ln w="0">
            <a:noFill/>
          </a:ln>
        </p:spPr>
      </p:pic>
      <p:sp>
        <p:nvSpPr>
          <p:cNvPr id="6"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 name="" descr=""/>
          <p:cNvPicPr/>
          <p:nvPr/>
        </p:nvPicPr>
        <p:blipFill>
          <a:blip r:embed="rId2"/>
          <a:stretch/>
        </p:blipFill>
        <p:spPr>
          <a:xfrm>
            <a:off x="0" y="5806440"/>
            <a:ext cx="10077840" cy="1752480"/>
          </a:xfrm>
          <a:prstGeom prst="rect">
            <a:avLst/>
          </a:prstGeom>
          <a:ln w="0">
            <a:noFill/>
          </a:ln>
        </p:spPr>
      </p:pic>
      <p:sp>
        <p:nvSpPr>
          <p:cNvPr id="11"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 name="" descr=""/>
          <p:cNvPicPr/>
          <p:nvPr/>
        </p:nvPicPr>
        <p:blipFill>
          <a:blip r:embed="rId2"/>
          <a:stretch/>
        </p:blipFill>
        <p:spPr>
          <a:xfrm>
            <a:off x="0" y="5806440"/>
            <a:ext cx="10077840" cy="1752480"/>
          </a:xfrm>
          <a:prstGeom prst="rect">
            <a:avLst/>
          </a:prstGeom>
          <a:ln w="0">
            <a:noFill/>
          </a:ln>
        </p:spPr>
      </p:pic>
      <p:sp>
        <p:nvSpPr>
          <p:cNvPr id="16"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 name="" descr=""/>
          <p:cNvPicPr/>
          <p:nvPr/>
        </p:nvPicPr>
        <p:blipFill>
          <a:blip r:embed="rId2"/>
          <a:stretch/>
        </p:blipFill>
        <p:spPr>
          <a:xfrm>
            <a:off x="0" y="5806440"/>
            <a:ext cx="10077840" cy="1752480"/>
          </a:xfrm>
          <a:prstGeom prst="rect">
            <a:avLst/>
          </a:prstGeom>
          <a:ln w="0">
            <a:noFill/>
          </a:ln>
        </p:spPr>
      </p:pic>
      <p:sp>
        <p:nvSpPr>
          <p:cNvPr id="21"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 name="" descr=""/>
          <p:cNvPicPr/>
          <p:nvPr/>
        </p:nvPicPr>
        <p:blipFill>
          <a:blip r:embed="rId2"/>
          <a:stretch/>
        </p:blipFill>
        <p:spPr>
          <a:xfrm>
            <a:off x="0" y="5806440"/>
            <a:ext cx="10077840" cy="1752480"/>
          </a:xfrm>
          <a:prstGeom prst="rect">
            <a:avLst/>
          </a:prstGeom>
          <a:ln w="0">
            <a:noFill/>
          </a:ln>
        </p:spPr>
      </p:pic>
      <p:sp>
        <p:nvSpPr>
          <p:cNvPr id="26"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 name="" descr=""/>
          <p:cNvPicPr/>
          <p:nvPr/>
        </p:nvPicPr>
        <p:blipFill>
          <a:blip r:embed="rId2"/>
          <a:stretch/>
        </p:blipFill>
        <p:spPr>
          <a:xfrm>
            <a:off x="0" y="5806440"/>
            <a:ext cx="10077840" cy="1752480"/>
          </a:xfrm>
          <a:prstGeom prst="rect">
            <a:avLst/>
          </a:prstGeom>
          <a:ln w="0">
            <a:noFill/>
          </a:ln>
        </p:spPr>
      </p:pic>
      <p:sp>
        <p:nvSpPr>
          <p:cNvPr id="31"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2"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 name="" descr=""/>
          <p:cNvPicPr/>
          <p:nvPr/>
        </p:nvPicPr>
        <p:blipFill>
          <a:blip r:embed="rId2"/>
          <a:stretch/>
        </p:blipFill>
        <p:spPr>
          <a:xfrm>
            <a:off x="0" y="5806440"/>
            <a:ext cx="10077840" cy="1752480"/>
          </a:xfrm>
          <a:prstGeom prst="rect">
            <a:avLst/>
          </a:prstGeom>
          <a:ln w="0">
            <a:noFill/>
          </a:ln>
        </p:spPr>
      </p:pic>
      <p:sp>
        <p:nvSpPr>
          <p:cNvPr id="36"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 name="" descr=""/>
          <p:cNvPicPr/>
          <p:nvPr/>
        </p:nvPicPr>
        <p:blipFill>
          <a:blip r:embed="rId2"/>
          <a:stretch/>
        </p:blipFill>
        <p:spPr>
          <a:xfrm>
            <a:off x="0" y="5806440"/>
            <a:ext cx="10077840" cy="1752480"/>
          </a:xfrm>
          <a:prstGeom prst="rect">
            <a:avLst/>
          </a:prstGeom>
          <a:ln w="0">
            <a:noFill/>
          </a:ln>
        </p:spPr>
      </p:pic>
      <p:sp>
        <p:nvSpPr>
          <p:cNvPr id="41"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2"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 name="" descr=""/>
          <p:cNvPicPr/>
          <p:nvPr/>
        </p:nvPicPr>
        <p:blipFill>
          <a:blip r:embed="rId2"/>
          <a:stretch/>
        </p:blipFill>
        <p:spPr>
          <a:xfrm>
            <a:off x="0" y="5806440"/>
            <a:ext cx="10077840" cy="1752480"/>
          </a:xfrm>
          <a:prstGeom prst="rect">
            <a:avLst/>
          </a:prstGeom>
          <a:ln w="0">
            <a:noFill/>
          </a:ln>
        </p:spPr>
      </p:pic>
      <p:sp>
        <p:nvSpPr>
          <p:cNvPr id="46"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7"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 descr=""/>
          <p:cNvPicPr/>
          <p:nvPr/>
        </p:nvPicPr>
        <p:blipFill>
          <a:blip r:embed="rId2"/>
          <a:stretch/>
        </p:blipFill>
        <p:spPr>
          <a:xfrm>
            <a:off x="0" y="5806440"/>
            <a:ext cx="10077840" cy="1752480"/>
          </a:xfrm>
          <a:prstGeom prst="rect">
            <a:avLst/>
          </a:prstGeom>
          <a:ln w="0">
            <a:noFill/>
          </a:ln>
        </p:spPr>
      </p:pic>
      <p:sp>
        <p:nvSpPr>
          <p:cNvPr id="51"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2"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 name="" descr=""/>
          <p:cNvPicPr/>
          <p:nvPr/>
        </p:nvPicPr>
        <p:blipFill>
          <a:blip r:embed="rId2"/>
          <a:stretch/>
        </p:blipFill>
        <p:spPr>
          <a:xfrm>
            <a:off x="0" y="5806440"/>
            <a:ext cx="10077840" cy="1752480"/>
          </a:xfrm>
          <a:prstGeom prst="rect">
            <a:avLst/>
          </a:prstGeom>
          <a:ln w="0">
            <a:noFill/>
          </a:ln>
        </p:spPr>
      </p:pic>
      <p:sp>
        <p:nvSpPr>
          <p:cNvPr id="55"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6"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 descr=""/>
          <p:cNvPicPr/>
          <p:nvPr/>
        </p:nvPicPr>
        <p:blipFill>
          <a:blip r:embed="rId2"/>
          <a:stretch/>
        </p:blipFill>
        <p:spPr>
          <a:xfrm>
            <a:off x="0" y="5806440"/>
            <a:ext cx="10077840" cy="1752480"/>
          </a:xfrm>
          <a:prstGeom prst="rect">
            <a:avLst/>
          </a:prstGeom>
          <a:ln w="0">
            <a:noFill/>
          </a:ln>
        </p:spPr>
      </p:pic>
      <p:sp>
        <p:nvSpPr>
          <p:cNvPr id="60"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1"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CustomShape 1"/>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65" name="CustomShape 2"/>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66"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7"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CustomShape 1"/>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1" name="CustomShape 2"/>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2"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3"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CustomShape 1"/>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7" name="CustomShape 2"/>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8"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9"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CustomShape 1"/>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3" name="CustomShape 2"/>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4"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5"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CustomShape 1"/>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9" name="CustomShape 2"/>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90"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1"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CustomShape 1"/>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95" name="CustomShape 2"/>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96"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7"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CustomShape 1"/>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1" name="CustomShape 2"/>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2"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3" name="PlaceHolder 2"/>
          <p:cNvSpPr>
            <a:spLocks noGrp="1"/>
          </p:cNvSpPr>
          <p:nvPr>
            <p:ph type="body"/>
          </p:nvPr>
        </p:nvSpPr>
        <p:spPr>
          <a:xfrm>
            <a:off x="504000" y="1769040"/>
            <a:ext cx="9069840" cy="4382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0.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20.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6.png"/><Relationship Id="rId3" Type="http://schemas.openxmlformats.org/officeDocument/2006/relationships/slideLayout" Target="../slideLayouts/slideLayout2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TextShape 1"/>
          <p:cNvSpPr/>
          <p:nvPr/>
        </p:nvSpPr>
        <p:spPr>
          <a:xfrm>
            <a:off x="0" y="2341080"/>
            <a:ext cx="9069840" cy="126036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006699"/>
                </a:solidFill>
                <a:latin typeface="Arial"/>
                <a:ea typeface="DejaVu Sans"/>
              </a:rPr>
              <a:t>Kernel Core Dump</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TextShape 1"/>
          <p:cNvSpPr/>
          <p:nvPr/>
        </p:nvSpPr>
        <p:spPr>
          <a:xfrm>
            <a:off x="504000" y="301320"/>
            <a:ext cx="9069840" cy="63576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ffffff"/>
                </a:solidFill>
                <a:latin typeface="Arial"/>
                <a:ea typeface="DejaVu Sans"/>
              </a:rPr>
              <a:t>Kernel Crash dump</a:t>
            </a:r>
            <a:endParaRPr b="0" lang="en-US" sz="4400" spc="-1" strike="noStrike">
              <a:solidFill>
                <a:srgbClr val="000000"/>
              </a:solidFill>
              <a:latin typeface="Arial"/>
            </a:endParaRPr>
          </a:p>
        </p:txBody>
      </p:sp>
      <p:sp>
        <p:nvSpPr>
          <p:cNvPr id="108" name="TextShape 2"/>
          <p:cNvSpPr/>
          <p:nvPr/>
        </p:nvSpPr>
        <p:spPr>
          <a:xfrm>
            <a:off x="144000" y="1080000"/>
            <a:ext cx="9862200" cy="4382640"/>
          </a:xfrm>
          <a:prstGeom prst="rect">
            <a:avLst/>
          </a:prstGeom>
          <a:noFill/>
          <a:ln w="0">
            <a:noFill/>
          </a:ln>
        </p:spPr>
        <p:style>
          <a:lnRef idx="0"/>
          <a:fillRef idx="0"/>
          <a:effectRef idx="0"/>
          <a:fontRef idx="minor"/>
        </p:style>
        <p:txBody>
          <a:bodyPr lIns="0" rIns="0" tIns="0" bIns="0" anchor="t">
            <a:noAutofit/>
          </a:bodyPr>
          <a:p>
            <a:pPr marL="432000" indent="-324000">
              <a:lnSpc>
                <a:spcPct val="100000"/>
              </a:lnSpc>
              <a:spcBef>
                <a:spcPts val="1417"/>
              </a:spcBef>
              <a:buClr>
                <a:srgbClr val="000000"/>
              </a:buClr>
              <a:buSzPct val="45000"/>
              <a:buFont typeface="Wingdings" charset="2"/>
              <a:buChar char=""/>
            </a:pPr>
            <a:r>
              <a:rPr b="0" lang="en-IN" sz="2000" spc="-1" strike="noStrike">
                <a:solidFill>
                  <a:srgbClr val="0066cc"/>
                </a:solidFill>
                <a:latin typeface="Arial"/>
                <a:ea typeface="DejaVu Sans"/>
              </a:rPr>
              <a:t>A ‘kernel crash dump’ refers to a portion of the contents of volatile memory (RAM) that is copied to disk whenever the execution of the kernel is disrupted. The following events can cause a kernel disruption:</a:t>
            </a:r>
            <a:endParaRPr b="0" lang="en-US" sz="20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IN" sz="2000" spc="-1" strike="noStrike">
                <a:solidFill>
                  <a:srgbClr val="0066cc"/>
                </a:solidFill>
                <a:latin typeface="Arial"/>
                <a:ea typeface="DejaVu Sans"/>
              </a:rPr>
              <a:t>Kernel panic</a:t>
            </a:r>
            <a:endParaRPr b="0" lang="en-US" sz="20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IN" sz="2000" spc="-1" strike="noStrike">
                <a:solidFill>
                  <a:srgbClr val="0066cc"/>
                </a:solidFill>
                <a:latin typeface="Arial"/>
                <a:ea typeface="DejaVu Sans"/>
              </a:rPr>
              <a:t>Non-maskable interrupts (NMI)</a:t>
            </a:r>
            <a:endParaRPr b="0" lang="en-US" sz="20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IN" sz="2000" spc="-1" strike="noStrike">
                <a:solidFill>
                  <a:srgbClr val="0066cc"/>
                </a:solidFill>
                <a:latin typeface="Arial"/>
                <a:ea typeface="DejaVu Sans"/>
              </a:rPr>
              <a:t>Machine check exceptions (MCE)</a:t>
            </a:r>
            <a:endParaRPr b="0" lang="en-US" sz="20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IN" sz="2000" spc="-1" strike="noStrike">
                <a:solidFill>
                  <a:srgbClr val="0066cc"/>
                </a:solidFill>
                <a:latin typeface="Arial"/>
                <a:ea typeface="DejaVu Sans"/>
              </a:rPr>
              <a:t>Hardware failure</a:t>
            </a:r>
            <a:endParaRPr b="0" lang="en-US" sz="20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IN" sz="2000" spc="-1" strike="noStrike">
                <a:solidFill>
                  <a:srgbClr val="0066cc"/>
                </a:solidFill>
                <a:latin typeface="Arial"/>
                <a:ea typeface="DejaVu Sans"/>
              </a:rPr>
              <a:t>Manual intervention</a:t>
            </a:r>
            <a:endParaRPr b="0" lang="en-US" sz="20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IN" sz="2000" spc="-1" strike="noStrike">
                <a:solidFill>
                  <a:srgbClr val="0066cc"/>
                </a:solidFill>
                <a:latin typeface="Arial"/>
                <a:ea typeface="DejaVu Sans"/>
              </a:rPr>
              <a:t>For some of these events (kernel panic, NMI) the kernel will react automatically and trigger the crash dump mechanism through kexec. In other situations a manual intervention is required in order to capture the memory. Whenever one of the above events occurs, it is important to find out the root cause in order to prevent it from happening again. The cause can be determined by inspecting the copied memory contents.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TextShape 1"/>
          <p:cNvSpPr/>
          <p:nvPr/>
        </p:nvSpPr>
        <p:spPr>
          <a:xfrm>
            <a:off x="504000" y="301320"/>
            <a:ext cx="9069840" cy="635760"/>
          </a:xfrm>
          <a:prstGeom prst="rect">
            <a:avLst/>
          </a:prstGeom>
          <a:noFill/>
          <a:ln w="0">
            <a:noFill/>
          </a:ln>
        </p:spPr>
        <p:style>
          <a:lnRef idx="0"/>
          <a:fillRef idx="0"/>
          <a:effectRef idx="0"/>
          <a:fontRef idx="minor"/>
        </p:style>
        <p:txBody>
          <a:bodyPr lIns="0" rIns="0" tIns="0" bIns="0" anchor="ctr">
            <a:noAutofit/>
          </a:bodyPr>
          <a:p>
            <a:pPr>
              <a:lnSpc>
                <a:spcPct val="100000"/>
              </a:lnSpc>
            </a:pPr>
            <a:endParaRPr b="0" lang="en-IN" sz="4400" spc="-1" strike="noStrike">
              <a:solidFill>
                <a:srgbClr val="ffffff"/>
              </a:solidFill>
              <a:latin typeface="Arial"/>
              <a:ea typeface="DejaVu Sans"/>
            </a:endParaRPr>
          </a:p>
        </p:txBody>
      </p:sp>
      <p:sp>
        <p:nvSpPr>
          <p:cNvPr id="110" name="TextShape 2"/>
          <p:cNvSpPr/>
          <p:nvPr/>
        </p:nvSpPr>
        <p:spPr>
          <a:xfrm>
            <a:off x="72000" y="1152000"/>
            <a:ext cx="9732960" cy="6303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When a kernel panic occurs, the kernel relies on the “Kexec” mechanism to quickly reboot a new instance of the kernel in a pre-reserved section of memory that had been allocated when the system booted. This permits the existing memory area to remain untouched in order to safely copy its contents to storage.</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sudo apt install linux-crashdump </a:t>
            </a:r>
            <a:r>
              <a:rPr b="0" lang="en-IN" sz="1800" spc="-1" strike="noStrike">
                <a:solidFill>
                  <a:srgbClr val="000000"/>
                </a:solidFill>
                <a:latin typeface="Arial"/>
                <a:ea typeface="DejaVu Sans"/>
              </a:rPr>
              <a:t>(Kernel crash dump enabled by default)</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kdump-config show</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crashkernel=512M-2G:64M,2G-:128M</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This would mean: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1) if the RAM is smaller than 512M, then don't reserve anything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(this is the "rescue" case)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2) if the RAM size is between 512M and 2G (exclusive), then reserve 64M</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3) if the RAM size is larger than 2G, then reserve 128M</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Boot the system kernel with the boot parameter "crashkernel=Y@X",</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where Y specifies how much memory to reserve for the dump-capture kernel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and X specifies the beginning of this reserved memory. For example,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"crashkernel=64M@16M" tells the system kernel to reserve 64 MB of memory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starting at physical address 0x01000000 (16MB) for the dump-capture kernel.</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TextShape 1"/>
          <p:cNvSpPr/>
          <p:nvPr/>
        </p:nvSpPr>
        <p:spPr>
          <a:xfrm>
            <a:off x="504000" y="301320"/>
            <a:ext cx="9069840" cy="63576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ffffff"/>
                </a:solidFill>
                <a:latin typeface="Arial"/>
                <a:ea typeface="DejaVu Sans"/>
              </a:rPr>
              <a:t>  </a:t>
            </a:r>
            <a:endParaRPr b="0" lang="en-US" sz="4400" spc="-1" strike="noStrike">
              <a:solidFill>
                <a:srgbClr val="000000"/>
              </a:solidFill>
              <a:latin typeface="Arial"/>
            </a:endParaRPr>
          </a:p>
        </p:txBody>
      </p:sp>
      <p:sp>
        <p:nvSpPr>
          <p:cNvPr id="112" name="TextShape 2"/>
          <p:cNvSpPr/>
          <p:nvPr/>
        </p:nvSpPr>
        <p:spPr>
          <a:xfrm>
            <a:off x="272880" y="1062000"/>
            <a:ext cx="1237320" cy="448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000" spc="-1" strike="noStrike">
                <a:solidFill>
                  <a:srgbClr val="000000"/>
                </a:solidFill>
                <a:latin typeface="Courier New"/>
                <a:ea typeface="Courier New"/>
              </a:rPr>
              <a:t>Kernel Panic</a:t>
            </a:r>
            <a:endParaRPr b="0" lang="en-US" sz="1000" spc="-1" strike="noStrike">
              <a:solidFill>
                <a:srgbClr val="000000"/>
              </a:solidFill>
              <a:latin typeface="Arial"/>
            </a:endParaRPr>
          </a:p>
        </p:txBody>
      </p:sp>
      <p:sp>
        <p:nvSpPr>
          <p:cNvPr id="113" name="TextShape 3"/>
          <p:cNvSpPr/>
          <p:nvPr/>
        </p:nvSpPr>
        <p:spPr>
          <a:xfrm>
            <a:off x="72000" y="1280880"/>
            <a:ext cx="9862200" cy="1521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Courier New"/>
                <a:ea typeface="Courier New"/>
              </a:rPr>
              <a:t>If a hard lockup is detected and "NMI watchdog" is configured, the system will boot into the dump-capture kernel (die_nmi() ).</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Courier New"/>
              </a:rPr>
              <a:t>If die() is called, and it happens to be a thread with pid 0 or 1, or die() is called inside interrupt context or die() is called and panic_on_oops is set, the system will boot into the dump-capture kernel.</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Courier New"/>
              </a:rPr>
              <a:t>sudo sysctl -w kernel.sysrq=1</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Courier New"/>
              </a:rPr>
              <a:t>For testing purposes, you can trigger a crash by using "ALT-SysRq-c",</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Courier New"/>
              </a:rPr>
              <a:t>"echo c &gt; /proc/sysrq-trigger" or write a module to force the panic.</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Courier New"/>
              </a:rPr>
              <a:t>echo 1 &gt; /proc/sys/kernel/sysrq</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114" name="TextShape 4"/>
          <p:cNvSpPr/>
          <p:nvPr/>
        </p:nvSpPr>
        <p:spPr>
          <a:xfrm>
            <a:off x="69480" y="2736000"/>
            <a:ext cx="5436720" cy="1378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Courier New"/>
                <a:ea typeface="Courier New"/>
              </a:rPr>
              <a:t>Write Out the Dump File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Courier New"/>
              </a:rPr>
              <a:t>=======================</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Courier New"/>
              </a:rPr>
              <a:t>After the dump-capture kernel is booted, write out the dump file with</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Courier New"/>
              </a:rPr>
              <a:t>the following command:</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Courier New"/>
              </a:rPr>
              <a:t>   </a:t>
            </a:r>
            <a:r>
              <a:rPr b="0" lang="en-IN" sz="1000" spc="-1" strike="noStrike">
                <a:solidFill>
                  <a:srgbClr val="000000"/>
                </a:solidFill>
                <a:latin typeface="Courier New"/>
                <a:ea typeface="Courier New"/>
              </a:rPr>
              <a:t>cp /proc/vmcore &lt;dump-file&gt;</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Courier New"/>
              </a:rPr>
              <a:t>cat /proc/sys/kernel/tainted</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pic>
        <p:nvPicPr>
          <p:cNvPr id="115" name="" descr=""/>
          <p:cNvPicPr/>
          <p:nvPr/>
        </p:nvPicPr>
        <p:blipFill>
          <a:blip r:embed="rId1"/>
          <a:stretch/>
        </p:blipFill>
        <p:spPr>
          <a:xfrm>
            <a:off x="5944320" y="1656000"/>
            <a:ext cx="3845880" cy="2379240"/>
          </a:xfrm>
          <a:prstGeom prst="rect">
            <a:avLst/>
          </a:prstGeom>
          <a:ln w="0">
            <a:noFill/>
          </a:ln>
        </p:spPr>
      </p:pic>
      <p:sp>
        <p:nvSpPr>
          <p:cNvPr id="116" name="TextShape 5"/>
          <p:cNvSpPr/>
          <p:nvPr/>
        </p:nvSpPr>
        <p:spPr>
          <a:xfrm>
            <a:off x="144000" y="6957720"/>
            <a:ext cx="4174200" cy="600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-&gt; Execute Kernel Crash Program</a:t>
            </a:r>
            <a:endParaRPr b="0" lang="en-US" sz="1800" spc="-1" strike="noStrike">
              <a:solidFill>
                <a:srgbClr val="000000"/>
              </a:solidFill>
              <a:latin typeface="Arial"/>
            </a:endParaRPr>
          </a:p>
        </p:txBody>
      </p:sp>
      <p:sp>
        <p:nvSpPr>
          <p:cNvPr id="117" name="TextShape 6"/>
          <p:cNvSpPr/>
          <p:nvPr/>
        </p:nvSpPr>
        <p:spPr>
          <a:xfrm>
            <a:off x="360000" y="4189320"/>
            <a:ext cx="2217960" cy="344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CONFIG_KEXEC=y</a:t>
            </a:r>
            <a:endParaRPr b="0" lang="en-US" sz="1800" spc="-1" strike="noStrike">
              <a:solidFill>
                <a:srgbClr val="000000"/>
              </a:solidFill>
              <a:latin typeface="Arial"/>
            </a:endParaRPr>
          </a:p>
        </p:txBody>
      </p:sp>
      <p:sp>
        <p:nvSpPr>
          <p:cNvPr id="118" name="TextShape 7"/>
          <p:cNvSpPr/>
          <p:nvPr/>
        </p:nvSpPr>
        <p:spPr>
          <a:xfrm>
            <a:off x="413280" y="5269320"/>
            <a:ext cx="3040920" cy="344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CONFIG_CRASH_DUMP=y</a:t>
            </a:r>
            <a:endParaRPr b="0" lang="en-US" sz="1800" spc="-1" strike="noStrike">
              <a:solidFill>
                <a:srgbClr val="000000"/>
              </a:solidFill>
              <a:latin typeface="Arial"/>
            </a:endParaRPr>
          </a:p>
        </p:txBody>
      </p:sp>
      <p:sp>
        <p:nvSpPr>
          <p:cNvPr id="119" name="TextShape 8"/>
          <p:cNvSpPr/>
          <p:nvPr/>
        </p:nvSpPr>
        <p:spPr>
          <a:xfrm>
            <a:off x="365040" y="4680000"/>
            <a:ext cx="3233160" cy="344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CONFIG_PROC_VMCORE=y</a:t>
            </a:r>
            <a:endParaRPr b="0" lang="en-US" sz="1800" spc="-1" strike="noStrike">
              <a:solidFill>
                <a:srgbClr val="000000"/>
              </a:solidFill>
              <a:latin typeface="Arial"/>
            </a:endParaRPr>
          </a:p>
        </p:txBody>
      </p:sp>
      <p:sp>
        <p:nvSpPr>
          <p:cNvPr id="120" name="TextShape 9"/>
          <p:cNvSpPr/>
          <p:nvPr/>
        </p:nvSpPr>
        <p:spPr>
          <a:xfrm>
            <a:off x="504000" y="5832000"/>
            <a:ext cx="2929680" cy="344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CONFIG_DEBUG_INFO=y</a:t>
            </a:r>
            <a:endParaRPr b="0" lang="en-US" sz="1800" spc="-1" strike="noStrike">
              <a:solidFill>
                <a:srgbClr val="000000"/>
              </a:solidFill>
              <a:latin typeface="Arial"/>
            </a:endParaRPr>
          </a:p>
        </p:txBody>
      </p:sp>
      <p:sp>
        <p:nvSpPr>
          <p:cNvPr id="121" name="TextShape 10"/>
          <p:cNvSpPr/>
          <p:nvPr/>
        </p:nvSpPr>
        <p:spPr>
          <a:xfrm>
            <a:off x="288000" y="6341760"/>
            <a:ext cx="6746760" cy="856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Crash commands bt – backtrace, log, ps, exit</a:t>
            </a:r>
            <a:endParaRPr b="0" lang="en-US" sz="1800" spc="-1" strike="noStrike">
              <a:solidFill>
                <a:srgbClr val="000000"/>
              </a:solidFill>
              <a:latin typeface="Arial"/>
            </a:endParaRPr>
          </a:p>
        </p:txBody>
      </p:sp>
      <p:sp>
        <p:nvSpPr>
          <p:cNvPr id="122" name="TextShape 11"/>
          <p:cNvSpPr/>
          <p:nvPr/>
        </p:nvSpPr>
        <p:spPr>
          <a:xfrm>
            <a:off x="6120000" y="4053960"/>
            <a:ext cx="3320640" cy="2136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MEMORY: 128MB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PANIC: "Oops: 0002"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PID:1696</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COMMAND:"insmod"</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123" name="TextShape 12"/>
          <p:cNvSpPr/>
          <p:nvPr/>
        </p:nvSpPr>
        <p:spPr>
          <a:xfrm>
            <a:off x="4608000" y="5445360"/>
            <a:ext cx="5465520" cy="600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0002 (dec) → 0010 (binary) → Not instruction fetch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Kernel mode | Write |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lnSpc>
                <a:spcPct val="100000"/>
              </a:lnSpc>
              <a:buNone/>
              <a:tabLst>
                <a:tab algn="l" pos="0"/>
              </a:tabLst>
            </a:pPr>
            <a:r>
              <a:rPr b="1" lang="en-US" sz="2800" spc="-1" strike="noStrike">
                <a:solidFill>
                  <a:srgbClr val="000000"/>
                </a:solidFill>
                <a:latin typeface="Arial"/>
              </a:rPr>
              <a:t>Step-Step process for kernel panic capture</a:t>
            </a:r>
            <a:endParaRPr b="0" lang="en-US" sz="2800" spc="-1" strike="noStrike">
              <a:solidFill>
                <a:srgbClr val="000000"/>
              </a:solidFill>
              <a:latin typeface="Arial"/>
            </a:endParaRPr>
          </a:p>
        </p:txBody>
      </p:sp>
      <p:sp>
        <p:nvSpPr>
          <p:cNvPr id="125" name=""/>
          <p:cNvSpPr/>
          <p:nvPr/>
        </p:nvSpPr>
        <p:spPr>
          <a:xfrm>
            <a:off x="0" y="1143000"/>
            <a:ext cx="10128240" cy="7066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400" spc="-1" strike="noStrike">
                <a:solidFill>
                  <a:srgbClr val="000000"/>
                </a:solidFill>
                <a:latin typeface="Arial"/>
                <a:ea typeface="DejaVu Sans"/>
              </a:rPr>
              <a:t>Step-0: Pre-crash Preparation</a:t>
            </a:r>
            <a:br>
              <a:rPr sz="1400"/>
            </a:br>
            <a:br>
              <a:rPr sz="1400"/>
            </a:br>
            <a:r>
              <a:rPr b="0" lang="en-US" sz="1400" spc="-1" strike="noStrike">
                <a:solidFill>
                  <a:srgbClr val="000000"/>
                </a:solidFill>
                <a:latin typeface="Arial"/>
                <a:ea typeface="DejaVu Sans"/>
              </a:rPr>
              <a:t>Before any crash occurs, kexec and kdump are enabled on the system. A special dump-capture kernel is preloaded into a reserved portion of memory using the crashkernel boot parameter. This reserved memory is isolated and remains untouched during normal system operation.</a:t>
            </a:r>
            <a:br>
              <a:rPr sz="1400"/>
            </a:br>
            <a:r>
              <a:rPr b="0" lang="en-US" sz="1400" spc="-1" strike="noStrike">
                <a:solidFill>
                  <a:srgbClr val="000000"/>
                </a:solidFill>
                <a:latin typeface="Arial"/>
                <a:ea typeface="DejaVu Sans"/>
              </a:rPr>
              <a:t>kexec is enabled → Allows booting new kernel without going through BIOS/UEFI</a:t>
            </a:r>
            <a:br>
              <a:rPr sz="1400"/>
            </a:br>
            <a:r>
              <a:rPr b="0" lang="en-US" sz="1400" spc="-1" strike="noStrike">
                <a:solidFill>
                  <a:srgbClr val="000000"/>
                </a:solidFill>
                <a:latin typeface="Arial"/>
                <a:ea typeface="DejaVu Sans"/>
              </a:rPr>
              <a:t>kdump service is running → crashkernel= (That memory never touched by running kernel)</a:t>
            </a:r>
            <a:br>
              <a:rPr sz="1400"/>
            </a:br>
            <a:br>
              <a:rPr sz="1400"/>
            </a:br>
            <a:br>
              <a:rPr sz="1400"/>
            </a:br>
            <a:r>
              <a:rPr b="1" lang="en-US" sz="1400" spc="-1" strike="noStrike">
                <a:solidFill>
                  <a:srgbClr val="000000"/>
                </a:solidFill>
                <a:latin typeface="Arial"/>
                <a:ea typeface="DejaVu Sans"/>
              </a:rPr>
              <a:t>Step-1: Kernel Panic Occurs</a:t>
            </a:r>
            <a:br>
              <a:rPr sz="1400"/>
            </a:br>
            <a:br>
              <a:rPr sz="1400"/>
            </a:br>
            <a:r>
              <a:rPr b="0" lang="en-US" sz="1400" spc="-1" strike="noStrike">
                <a:solidFill>
                  <a:srgbClr val="000000"/>
                </a:solidFill>
                <a:latin typeface="Arial"/>
                <a:ea typeface="DejaVu Sans"/>
              </a:rPr>
              <a:t>A fatal error such as a hardware failure, driver bug, or memory corruption causes the running kernel to panic. The kernel determines it cannot continue safe execution and stops normal processing.</a:t>
            </a:r>
            <a:br>
              <a:rPr sz="1400"/>
            </a:br>
            <a:br>
              <a:rPr sz="1400"/>
            </a:br>
            <a:br>
              <a:rPr sz="1400"/>
            </a:br>
            <a:r>
              <a:rPr b="1" lang="en-US" sz="1400" spc="-1" strike="noStrike">
                <a:solidFill>
                  <a:srgbClr val="000000"/>
                </a:solidFill>
                <a:latin typeface="Arial"/>
                <a:ea typeface="DejaVu Sans"/>
              </a:rPr>
              <a:t>Step-2: Panic Handler Activates kdump</a:t>
            </a:r>
            <a:br>
              <a:rPr sz="1400"/>
            </a:br>
            <a:br>
              <a:rPr sz="1400"/>
            </a:br>
            <a:r>
              <a:rPr b="0" lang="en-US" sz="1400" spc="-1" strike="noStrike">
                <a:solidFill>
                  <a:srgbClr val="000000"/>
                </a:solidFill>
                <a:latin typeface="Arial"/>
                <a:ea typeface="DejaVu Sans"/>
              </a:rPr>
              <a:t>The kernel panic handler takes control. All CPUs are stopped, interrupts are disabled, and normal shutdown procedures are skipped. Since kdump is enabled, the kernel prepares to collect crash data instead of rebooting normally.</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DejaVu Sans"/>
              </a:rPr>
              <a:t>Step-3: kexec Switches to Dump-Capture Kernel</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Using kexec, the system jumps directly to the preloaded dump-capture kernel without rebooting through BIOS or UEFI. This preserves the system’s memory so the crash data remains intact. After the system boots normally, administrators analyze the saved vmcore file using debugging tools such as crash and vmlinux to determine the root cause of the kernel panic.</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127" name=""/>
          <p:cNvSpPr/>
          <p:nvPr/>
        </p:nvSpPr>
        <p:spPr>
          <a:xfrm>
            <a:off x="30960" y="1371600"/>
            <a:ext cx="10254960" cy="4085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400" spc="-1" strike="noStrike">
                <a:solidFill>
                  <a:srgbClr val="000000"/>
                </a:solidFill>
                <a:latin typeface="Arial"/>
                <a:ea typeface="DejaVu Sans"/>
              </a:rPr>
              <a:t>Step-4: Dump-Capture Kernel Boots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The dump-capture kernel boots with minimal drivers and services. It does not use or overwrite the crashed kernel’s memory and runs only what is necessary to save the crash dump. Often uses initramfs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DejaVu Sans"/>
              </a:rPr>
              <a:t>Step-5: Crashed Kernel Memory Exposed as /proc/vmcore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The memory image of the crashed kernel is made available as a virtual file named /proc/vmcore. This file contains the full crash information, including kernel state and memory contents.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DejaVu Sans"/>
              </a:rPr>
              <a:t>Step-6: Saving the Crash Dump</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The dump-capture kernel copies /proc/vmcore to a persistent storage location such as /var/crash, NFS, or a remote system. Tools like cp or makedumpfile are used to save the dump file.</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DejaVu Sans"/>
              </a:rPr>
              <a:t>Step-7: Dump Completion</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Once the crash dump is successfully written, the dump-capture kernel reports completion. The dump is now safely stored for later analysis.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DejaVu Sans"/>
              </a:rPr>
              <a:t>Step-8: System Reboot or Shutdown</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After saving the dump, the system either reboots automatically or powers off, depending on the configuration.</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DejaVu Sans"/>
              </a:rPr>
              <a:t>Step-9: Post-Crash Analysis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TextShape 1"/>
          <p:cNvSpPr/>
          <p:nvPr/>
        </p:nvSpPr>
        <p:spPr>
          <a:xfrm>
            <a:off x="504000" y="301320"/>
            <a:ext cx="9069840" cy="635760"/>
          </a:xfrm>
          <a:prstGeom prst="rect">
            <a:avLst/>
          </a:prstGeom>
          <a:noFill/>
          <a:ln w="0">
            <a:noFill/>
          </a:ln>
        </p:spPr>
        <p:style>
          <a:lnRef idx="0"/>
          <a:fillRef idx="0"/>
          <a:effectRef idx="0"/>
          <a:fontRef idx="minor"/>
        </p:style>
        <p:txBody>
          <a:bodyPr lIns="0" rIns="0" tIns="0" bIns="0" anchor="ctr">
            <a:noAutofit/>
          </a:bodyPr>
          <a:p>
            <a:pPr>
              <a:lnSpc>
                <a:spcPct val="100000"/>
              </a:lnSpc>
            </a:pPr>
            <a:endParaRPr b="0" lang="en-IN" sz="4400" spc="-1" strike="noStrike">
              <a:solidFill>
                <a:srgbClr val="ffffff"/>
              </a:solidFill>
              <a:latin typeface="Arial"/>
              <a:ea typeface="DejaVu Sans"/>
            </a:endParaRPr>
          </a:p>
        </p:txBody>
      </p:sp>
      <p:sp>
        <p:nvSpPr>
          <p:cNvPr id="129" name="TextShape 2"/>
          <p:cNvSpPr/>
          <p:nvPr/>
        </p:nvSpPr>
        <p:spPr>
          <a:xfrm>
            <a:off x="432000" y="4248000"/>
            <a:ext cx="8839800" cy="1368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[57308.205667] BUG: kernel NULL pointer dereference, address: 0000000000000000</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[57308.205670] #PF: supervisor write access in kernel mode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[57308.205673] #PF: error_code(0x0002) - not-present page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[57308.205676] PGD 0 P4D 0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[57308.205681] Oops: 0002 [#1] SMP NOPTI</a:t>
            </a:r>
            <a:endParaRPr b="0" lang="en-US" sz="1800" spc="-1" strike="noStrike">
              <a:solidFill>
                <a:srgbClr val="000000"/>
              </a:solidFill>
              <a:latin typeface="Arial"/>
            </a:endParaRPr>
          </a:p>
        </p:txBody>
      </p:sp>
      <p:sp>
        <p:nvSpPr>
          <p:cNvPr id="130" name="TextShape 3"/>
          <p:cNvSpPr/>
          <p:nvPr/>
        </p:nvSpPr>
        <p:spPr>
          <a:xfrm>
            <a:off x="504000" y="5760000"/>
            <a:ext cx="1942200" cy="230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000" spc="-1" strike="noStrike">
                <a:solidFill>
                  <a:srgbClr val="000000"/>
                </a:solidFill>
                <a:latin typeface="Arial"/>
                <a:ea typeface="DejaVu Sans"/>
              </a:rPr>
              <a:t>objdump -d -S null-pointer.ko</a:t>
            </a:r>
            <a:endParaRPr b="0" lang="en-US" sz="1000" spc="-1" strike="noStrike">
              <a:solidFill>
                <a:srgbClr val="000000"/>
              </a:solidFill>
              <a:latin typeface="Arial"/>
            </a:endParaRPr>
          </a:p>
        </p:txBody>
      </p:sp>
      <p:sp>
        <p:nvSpPr>
          <p:cNvPr id="131" name="TextShape 4"/>
          <p:cNvSpPr/>
          <p:nvPr/>
        </p:nvSpPr>
        <p:spPr>
          <a:xfrm>
            <a:off x="1484280" y="1381320"/>
            <a:ext cx="3985920" cy="344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0010:khello_init+0x3b/0x1000 [khello]</a:t>
            </a:r>
            <a:endParaRPr b="0" lang="en-US" sz="1800" spc="-1" strike="noStrike">
              <a:solidFill>
                <a:srgbClr val="000000"/>
              </a:solidFill>
              <a:latin typeface="Arial"/>
            </a:endParaRPr>
          </a:p>
        </p:txBody>
      </p:sp>
      <p:pic>
        <p:nvPicPr>
          <p:cNvPr id="132" name="" descr=""/>
          <p:cNvPicPr/>
          <p:nvPr/>
        </p:nvPicPr>
        <p:blipFill>
          <a:blip r:embed="rId1"/>
          <a:stretch/>
        </p:blipFill>
        <p:spPr>
          <a:xfrm>
            <a:off x="360000" y="2160000"/>
            <a:ext cx="9430200" cy="14295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pic>
        <p:nvPicPr>
          <p:cNvPr id="134" name="" descr=""/>
          <p:cNvPicPr/>
          <p:nvPr/>
        </p:nvPicPr>
        <p:blipFill>
          <a:blip r:embed="rId1"/>
          <a:stretch/>
        </p:blipFill>
        <p:spPr>
          <a:xfrm>
            <a:off x="504000" y="1769040"/>
            <a:ext cx="9069840" cy="4382640"/>
          </a:xfrm>
          <a:prstGeom prst="rect">
            <a:avLst/>
          </a:prstGeom>
          <a:ln w="0">
            <a:noFill/>
          </a:ln>
        </p:spPr>
      </p:pic>
      <p:pic>
        <p:nvPicPr>
          <p:cNvPr id="135" name="" descr=""/>
          <p:cNvPicPr/>
          <p:nvPr/>
        </p:nvPicPr>
        <p:blipFill>
          <a:blip r:embed="rId2"/>
          <a:stretch/>
        </p:blipFill>
        <p:spPr>
          <a:xfrm>
            <a:off x="52560" y="980280"/>
            <a:ext cx="10079640" cy="56397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pic>
        <p:nvPicPr>
          <p:cNvPr id="137" name="" descr=""/>
          <p:cNvPicPr/>
          <p:nvPr/>
        </p:nvPicPr>
        <p:blipFill>
          <a:blip r:embed="rId1"/>
          <a:stretch/>
        </p:blipFill>
        <p:spPr>
          <a:xfrm>
            <a:off x="504000" y="1769040"/>
            <a:ext cx="9069840" cy="4382640"/>
          </a:xfrm>
          <a:prstGeom prst="rect">
            <a:avLst/>
          </a:prstGeom>
          <a:ln w="0">
            <a:noFill/>
          </a:ln>
        </p:spPr>
      </p:pic>
      <p:pic>
        <p:nvPicPr>
          <p:cNvPr id="138" name="" descr=""/>
          <p:cNvPicPr/>
          <p:nvPr/>
        </p:nvPicPr>
        <p:blipFill>
          <a:blip r:embed="rId2"/>
          <a:stretch/>
        </p:blipFill>
        <p:spPr>
          <a:xfrm>
            <a:off x="52560" y="980280"/>
            <a:ext cx="10079640" cy="56397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5122</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2023-04-23T21:45:53Z</dcterms:created>
  <dc:creator/>
  <dc:description/>
  <dc:language>en-IN</dc:language>
  <cp:lastModifiedBy/>
  <dcterms:modified xsi:type="dcterms:W3CDTF">2026-10-03T21:19:09Z</dcterms:modified>
  <cp:revision>36</cp:revision>
  <dc:subject/>
  <dc:title>Blue Curve</dc:title>
</cp:coreProperties>
</file>

<file path=docProps/custom.xml><?xml version="1.0" encoding="utf-8"?>
<Properties xmlns="http://schemas.openxmlformats.org/officeDocument/2006/custom-properties" xmlns:vt="http://schemas.openxmlformats.org/officeDocument/2006/docPropsVTypes"/>
</file>