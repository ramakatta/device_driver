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199AE6C-6E7B-498B-9B55-A8E15DF30A8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280801E-7825-4BFA-A1EA-9810DE789F97}"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71E352C3-99D3-4B7A-A1CB-335EAB1D93F5}"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BAB9A0F9-612D-48C8-A35B-78CC6D907FC4}"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A5A1AA73-7B6C-4C4A-A766-F52E134DE18C}"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58DB26C5-529B-49D8-9BC9-CAA9E11E7E7B}"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BDB517E8-8A0A-43CA-9B8C-C31D372979F8}"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695DAC72-D74D-4E98-9B26-DD3A837226A8}"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C8EE6CA7-811C-4304-AC41-14C8825C62D4}"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3A82D873-D098-4AE4-B0A9-38E01A19F926}"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09D02DD5-6E87-4357-9078-9D94F37E5D03}"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4"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10278D0B-8BCD-4E46-AAC5-AEEF078073D2}"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6"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B7E5817A-41E9-4355-8329-CF30D95D2837}"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7"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8"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E63346A3-6886-4C70-9A43-29ABB42EB630}"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0"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3"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CEE53353-25EF-4C22-924A-BD4D02FA858F}"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263A11D0-D85E-471B-A0DB-A4D0CBD52A2B}"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40A367ED-7F77-4A23-B285-D6353C6A7C3E}"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2"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119BDF73-D803-441A-AA7C-52E6D9DB93F3}"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1"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39C77F92-269D-456D-A271-B9E0E8E19D0C}"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8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1"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C3DC36EA-35AD-4CB3-9589-9CC3A31D99D6}"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8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52F0014B-7537-4B27-84DB-40CCF70D3FDB}"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C34E9AD9-DD1D-46E4-AD9A-B64F38BDBE9A}"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0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6"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7"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F67D68C6-DE87-46A4-A1E0-10E2FA5BD838}"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1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8"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9"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0"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ED43BB28-3659-46DD-8A91-1E1D5788CB46}" type="slidenum">
              <a:t>&lt;#&gt;</a:t>
            </a:fld>
          </a:p>
        </p:txBody>
      </p:sp>
      <p:sp>
        <p:nvSpPr>
          <p:cNvPr id="8" name="PlaceHolder 7"/>
          <p:cNvSpPr>
            <a:spLocks noGrp="1"/>
          </p:cNvSpPr>
          <p:nvPr>
            <p:ph type="dt" idx="7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8920" cy="1753560"/>
          </a:xfrm>
          <a:prstGeom prst="rect">
            <a:avLst/>
          </a:prstGeom>
          <a:ln w="0">
            <a:noFill/>
          </a:ln>
        </p:spPr>
      </p:pic>
      <p:sp>
        <p:nvSpPr>
          <p:cNvPr id="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0A804B0B-B5A0-4651-9BCC-E4F2ABF370F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5806440"/>
            <a:ext cx="10078920" cy="1753560"/>
          </a:xfrm>
          <a:prstGeom prst="rect">
            <a:avLst/>
          </a:prstGeom>
          <a:ln w="0">
            <a:noFill/>
          </a:ln>
        </p:spPr>
      </p:pic>
      <p:sp>
        <p:nvSpPr>
          <p:cNvPr id="1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6135639-4F6B-4167-9A18-0C049A8CF2E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5806440"/>
            <a:ext cx="10078920" cy="1753560"/>
          </a:xfrm>
          <a:prstGeom prst="rect">
            <a:avLst/>
          </a:prstGeom>
          <a:ln w="0">
            <a:noFill/>
          </a:ln>
        </p:spPr>
      </p:pic>
      <p:sp>
        <p:nvSpPr>
          <p:cNvPr id="2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EBDA631-1069-4836-BAF9-929970002C1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5806440"/>
            <a:ext cx="10078920" cy="1753560"/>
          </a:xfrm>
          <a:prstGeom prst="rect">
            <a:avLst/>
          </a:prstGeom>
          <a:ln w="0">
            <a:noFill/>
          </a:ln>
        </p:spPr>
      </p:pic>
      <p:sp>
        <p:nvSpPr>
          <p:cNvPr id="3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CBD27D5-E2AA-4E9D-9BB9-32906EC1F76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8920" cy="1753560"/>
          </a:xfrm>
          <a:prstGeom prst="rect">
            <a:avLst/>
          </a:prstGeom>
          <a:ln w="0">
            <a:noFill/>
          </a:ln>
        </p:spPr>
      </p:pic>
      <p:sp>
        <p:nvSpPr>
          <p:cNvPr id="49" name="PlaceHolder 1"/>
          <p:cNvSpPr>
            <a:spLocks noGrp="1"/>
          </p:cNvSpPr>
          <p:nvPr>
            <p:ph type="ftr" idx="13"/>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0" name="PlaceHolder 2"/>
          <p:cNvSpPr>
            <a:spLocks noGrp="1"/>
          </p:cNvSpPr>
          <p:nvPr>
            <p:ph type="sldNum" idx="14"/>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7331C81-B4DF-4CBC-AD5B-98CD7018C0D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1" name="PlaceHolder 3"/>
          <p:cNvSpPr>
            <a:spLocks noGrp="1"/>
          </p:cNvSpPr>
          <p:nvPr>
            <p:ph type="dt" idx="15"/>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2"/>
          <a:stretch/>
        </p:blipFill>
        <p:spPr>
          <a:xfrm>
            <a:off x="0" y="5806440"/>
            <a:ext cx="10078920" cy="1753560"/>
          </a:xfrm>
          <a:prstGeom prst="rect">
            <a:avLst/>
          </a:prstGeom>
          <a:ln w="0">
            <a:noFill/>
          </a:ln>
        </p:spPr>
      </p:pic>
      <p:sp>
        <p:nvSpPr>
          <p:cNvPr id="53" name="PlaceHolder 1"/>
          <p:cNvSpPr>
            <a:spLocks noGrp="1"/>
          </p:cNvSpPr>
          <p:nvPr>
            <p:ph type="ftr" idx="16"/>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4" name="PlaceHolder 2"/>
          <p:cNvSpPr>
            <a:spLocks noGrp="1"/>
          </p:cNvSpPr>
          <p:nvPr>
            <p:ph type="sldNum" idx="17"/>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55F540A-7D8F-41B8-B844-70D2954D311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5" name="PlaceHolder 3"/>
          <p:cNvSpPr>
            <a:spLocks noGrp="1"/>
          </p:cNvSpPr>
          <p:nvPr>
            <p:ph type="dt" idx="18"/>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 descr=""/>
          <p:cNvPicPr/>
          <p:nvPr/>
        </p:nvPicPr>
        <p:blipFill>
          <a:blip r:embed="rId2"/>
          <a:stretch/>
        </p:blipFill>
        <p:spPr>
          <a:xfrm>
            <a:off x="0" y="5806440"/>
            <a:ext cx="10078920" cy="1753560"/>
          </a:xfrm>
          <a:prstGeom prst="rect">
            <a:avLst/>
          </a:prstGeom>
          <a:ln w="0">
            <a:noFill/>
          </a:ln>
        </p:spPr>
      </p:pic>
      <p:sp>
        <p:nvSpPr>
          <p:cNvPr id="5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3"/>
          <p:cNvSpPr>
            <a:spLocks noGrp="1"/>
          </p:cNvSpPr>
          <p:nvPr>
            <p:ph type="ftr" idx="19"/>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0" name="PlaceHolder 4"/>
          <p:cNvSpPr>
            <a:spLocks noGrp="1"/>
          </p:cNvSpPr>
          <p:nvPr>
            <p:ph type="sldNum" idx="20"/>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782BFE2-96FA-49E2-AA18-80C45E4EA81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1" name="PlaceHolder 5"/>
          <p:cNvSpPr>
            <a:spLocks noGrp="1"/>
          </p:cNvSpPr>
          <p:nvPr>
            <p:ph type="dt" idx="21"/>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2"/>
          <a:stretch/>
        </p:blipFill>
        <p:spPr>
          <a:xfrm>
            <a:off x="0" y="5806440"/>
            <a:ext cx="10078920" cy="1753560"/>
          </a:xfrm>
          <a:prstGeom prst="rect">
            <a:avLst/>
          </a:prstGeom>
          <a:ln w="0">
            <a:noFill/>
          </a:ln>
        </p:spPr>
      </p:pic>
      <p:sp>
        <p:nvSpPr>
          <p:cNvPr id="6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3"/>
          <p:cNvSpPr>
            <a:spLocks noGrp="1"/>
          </p:cNvSpPr>
          <p:nvPr>
            <p:ph type="ftr" idx="22"/>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8" name="PlaceHolder 4"/>
          <p:cNvSpPr>
            <a:spLocks noGrp="1"/>
          </p:cNvSpPr>
          <p:nvPr>
            <p:ph type="sldNum" idx="23"/>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9DA12A0-F56D-48A8-B366-0A8F554BADC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9" name="PlaceHolder 5"/>
          <p:cNvSpPr>
            <a:spLocks noGrp="1"/>
          </p:cNvSpPr>
          <p:nvPr>
            <p:ph type="dt" idx="24"/>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2"/>
          <a:stretch/>
        </p:blipFill>
        <p:spPr>
          <a:xfrm>
            <a:off x="0" y="5806440"/>
            <a:ext cx="10078920" cy="1753560"/>
          </a:xfrm>
          <a:prstGeom prst="rect">
            <a:avLst/>
          </a:prstGeom>
          <a:ln w="0">
            <a:noFill/>
          </a:ln>
        </p:spPr>
      </p:pic>
      <p:sp>
        <p:nvSpPr>
          <p:cNvPr id="7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4"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4"/>
          <p:cNvSpPr>
            <a:spLocks noGrp="1"/>
          </p:cNvSpPr>
          <p:nvPr>
            <p:ph type="ftr" idx="25"/>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7" name="PlaceHolder 5"/>
          <p:cNvSpPr>
            <a:spLocks noGrp="1"/>
          </p:cNvSpPr>
          <p:nvPr>
            <p:ph type="sldNum" idx="26"/>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8C96110-B201-496B-AB97-B0B5571B276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8" name="PlaceHolder 6"/>
          <p:cNvSpPr>
            <a:spLocks noGrp="1"/>
          </p:cNvSpPr>
          <p:nvPr>
            <p:ph type="dt" idx="27"/>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2"/>
          <a:stretch/>
        </p:blipFill>
        <p:spPr>
          <a:xfrm>
            <a:off x="0" y="5806440"/>
            <a:ext cx="10078920" cy="1753560"/>
          </a:xfrm>
          <a:prstGeom prst="rect">
            <a:avLst/>
          </a:prstGeom>
          <a:ln w="0">
            <a:noFill/>
          </a:ln>
        </p:spPr>
      </p:pic>
      <p:sp>
        <p:nvSpPr>
          <p:cNvPr id="8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4" name="PlaceHolder 2"/>
          <p:cNvSpPr>
            <a:spLocks noGrp="1"/>
          </p:cNvSpPr>
          <p:nvPr>
            <p:ph type="ftr" idx="28"/>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5" name="PlaceHolder 3"/>
          <p:cNvSpPr>
            <a:spLocks noGrp="1"/>
          </p:cNvSpPr>
          <p:nvPr>
            <p:ph type="sldNum" idx="29"/>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A37C3FA-F0C2-4DD7-AB81-ADC9D9C6D2C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6" name="PlaceHolder 4"/>
          <p:cNvSpPr>
            <a:spLocks noGrp="1"/>
          </p:cNvSpPr>
          <p:nvPr>
            <p:ph type="dt" idx="30"/>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7"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 descr=""/>
          <p:cNvPicPr/>
          <p:nvPr/>
        </p:nvPicPr>
        <p:blipFill>
          <a:blip r:embed="rId2"/>
          <a:stretch/>
        </p:blipFill>
        <p:spPr>
          <a:xfrm>
            <a:off x="0" y="5806440"/>
            <a:ext cx="10078920" cy="1753560"/>
          </a:xfrm>
          <a:prstGeom prst="rect">
            <a:avLst/>
          </a:prstGeom>
          <a:ln w="0">
            <a:noFill/>
          </a:ln>
        </p:spPr>
      </p:pic>
      <p:sp>
        <p:nvSpPr>
          <p:cNvPr id="90" name="PlaceHolder 1"/>
          <p:cNvSpPr>
            <a:spLocks noGrp="1"/>
          </p:cNvSpPr>
          <p:nvPr>
            <p:ph type="ftr" idx="3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1" name="PlaceHolder 2"/>
          <p:cNvSpPr>
            <a:spLocks noGrp="1"/>
          </p:cNvSpPr>
          <p:nvPr>
            <p:ph type="sldNum" idx="3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31E4520-111B-48FB-9A77-C94352966D9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2" name="PlaceHolder 3"/>
          <p:cNvSpPr>
            <a:spLocks noGrp="1"/>
          </p:cNvSpPr>
          <p:nvPr>
            <p:ph type="dt" idx="3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 descr=""/>
          <p:cNvPicPr/>
          <p:nvPr/>
        </p:nvPicPr>
        <p:blipFill>
          <a:blip r:embed="rId2"/>
          <a:stretch/>
        </p:blipFill>
        <p:spPr>
          <a:xfrm>
            <a:off x="0" y="5806440"/>
            <a:ext cx="10078920" cy="1753560"/>
          </a:xfrm>
          <a:prstGeom prst="rect">
            <a:avLst/>
          </a:prstGeom>
          <a:ln w="0">
            <a:noFill/>
          </a:ln>
        </p:spPr>
      </p:pic>
      <p:sp>
        <p:nvSpPr>
          <p:cNvPr id="9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5"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6"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7"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8" name="PlaceHolder 5"/>
          <p:cNvSpPr>
            <a:spLocks noGrp="1"/>
          </p:cNvSpPr>
          <p:nvPr>
            <p:ph type="ftr" idx="3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9" name="PlaceHolder 6"/>
          <p:cNvSpPr>
            <a:spLocks noGrp="1"/>
          </p:cNvSpPr>
          <p:nvPr>
            <p:ph type="sldNum" idx="3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8625E72-E30F-4125-A53C-EA43B874007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00" name="PlaceHolder 7"/>
          <p:cNvSpPr>
            <a:spLocks noGrp="1"/>
          </p:cNvSpPr>
          <p:nvPr>
            <p:ph type="dt" idx="3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8"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5"/>
          <p:cNvSpPr>
            <a:spLocks noGrp="1"/>
          </p:cNvSpPr>
          <p:nvPr>
            <p:ph type="ftr" idx="3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2" name="PlaceHolder 6"/>
          <p:cNvSpPr>
            <a:spLocks noGrp="1"/>
          </p:cNvSpPr>
          <p:nvPr>
            <p:ph type="sldNum" idx="3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7F723F1-CBFD-4FD8-8D38-B1A35C70F65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3" name="PlaceHolder 7"/>
          <p:cNvSpPr>
            <a:spLocks noGrp="1"/>
          </p:cNvSpPr>
          <p:nvPr>
            <p:ph type="dt" idx="3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ftr" idx="4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24" name="PlaceHolder 5"/>
          <p:cNvSpPr>
            <a:spLocks noGrp="1"/>
          </p:cNvSpPr>
          <p:nvPr>
            <p:ph type="sldNum" idx="4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0B7E37F4-D263-4BE4-B259-2B977EB8781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25" name="PlaceHolder 6"/>
          <p:cNvSpPr>
            <a:spLocks noGrp="1"/>
          </p:cNvSpPr>
          <p:nvPr>
            <p:ph type="dt" idx="4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6" name="PlaceHolder 6"/>
          <p:cNvSpPr>
            <a:spLocks noGrp="1"/>
          </p:cNvSpPr>
          <p:nvPr>
            <p:ph type="ftr" idx="43"/>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37" name="PlaceHolder 7"/>
          <p:cNvSpPr>
            <a:spLocks noGrp="1"/>
          </p:cNvSpPr>
          <p:nvPr>
            <p:ph type="sldNum" idx="44"/>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EB55CC9-4858-4302-AECF-BC551F71842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38" name="PlaceHolder 8"/>
          <p:cNvSpPr>
            <a:spLocks noGrp="1"/>
          </p:cNvSpPr>
          <p:nvPr>
            <p:ph type="dt" idx="45"/>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6" name="PlaceHolder 1"/>
          <p:cNvSpPr>
            <a:spLocks noGrp="1"/>
          </p:cNvSpPr>
          <p:nvPr>
            <p:ph type="ftr" idx="46"/>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47" name="PlaceHolder 2"/>
          <p:cNvSpPr>
            <a:spLocks noGrp="1"/>
          </p:cNvSpPr>
          <p:nvPr>
            <p:ph type="sldNum" idx="47"/>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345736B-22FA-4A8E-9B14-1DEBFD98EDD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48" name="PlaceHolder 3"/>
          <p:cNvSpPr>
            <a:spLocks noGrp="1"/>
          </p:cNvSpPr>
          <p:nvPr>
            <p:ph type="dt" idx="48"/>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0"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1" name="PlaceHolder 1"/>
          <p:cNvSpPr>
            <a:spLocks noGrp="1"/>
          </p:cNvSpPr>
          <p:nvPr>
            <p:ph type="ftr" idx="49"/>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2" name="PlaceHolder 2"/>
          <p:cNvSpPr>
            <a:spLocks noGrp="1"/>
          </p:cNvSpPr>
          <p:nvPr>
            <p:ph type="sldNum" idx="50"/>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C56E2F3B-F17B-4F99-9691-8C7463300AF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53" name="PlaceHolder 3"/>
          <p:cNvSpPr>
            <a:spLocks noGrp="1"/>
          </p:cNvSpPr>
          <p:nvPr>
            <p:ph type="dt" idx="51"/>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5"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7"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8" name="PlaceHolder 3"/>
          <p:cNvSpPr>
            <a:spLocks noGrp="1"/>
          </p:cNvSpPr>
          <p:nvPr>
            <p:ph type="ftr" idx="52"/>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9" name="PlaceHolder 4"/>
          <p:cNvSpPr>
            <a:spLocks noGrp="1"/>
          </p:cNvSpPr>
          <p:nvPr>
            <p:ph type="sldNum" idx="53"/>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7F3BC0D-C6F7-4EA1-BA12-B78C20064AC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0" name="PlaceHolder 5"/>
          <p:cNvSpPr>
            <a:spLocks noGrp="1"/>
          </p:cNvSpPr>
          <p:nvPr>
            <p:ph type="dt" idx="54"/>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4"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6"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7" name="PlaceHolder 3"/>
          <p:cNvSpPr>
            <a:spLocks noGrp="1"/>
          </p:cNvSpPr>
          <p:nvPr>
            <p:ph type="ftr" idx="55"/>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8" name="PlaceHolder 4"/>
          <p:cNvSpPr>
            <a:spLocks noGrp="1"/>
          </p:cNvSpPr>
          <p:nvPr>
            <p:ph type="sldNum" idx="56"/>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F92C5A0-3CAD-4A61-9AE2-DA40611334B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9" name="PlaceHolder 5"/>
          <p:cNvSpPr>
            <a:spLocks noGrp="1"/>
          </p:cNvSpPr>
          <p:nvPr>
            <p:ph type="dt" idx="57"/>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3"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5"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6"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7" name="PlaceHolder 4"/>
          <p:cNvSpPr>
            <a:spLocks noGrp="1"/>
          </p:cNvSpPr>
          <p:nvPr>
            <p:ph type="ftr" idx="58"/>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78" name="PlaceHolder 5"/>
          <p:cNvSpPr>
            <a:spLocks noGrp="1"/>
          </p:cNvSpPr>
          <p:nvPr>
            <p:ph type="sldNum" idx="59"/>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9E8A0C4B-D05C-4458-931C-9956FA32317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79" name="PlaceHolder 6"/>
          <p:cNvSpPr>
            <a:spLocks noGrp="1"/>
          </p:cNvSpPr>
          <p:nvPr>
            <p:ph type="dt" idx="60"/>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4"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6" name="PlaceHolder 2"/>
          <p:cNvSpPr>
            <a:spLocks noGrp="1"/>
          </p:cNvSpPr>
          <p:nvPr>
            <p:ph type="ftr" idx="6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7" name="PlaceHolder 3"/>
          <p:cNvSpPr>
            <a:spLocks noGrp="1"/>
          </p:cNvSpPr>
          <p:nvPr>
            <p:ph type="sldNum" idx="6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C0D3F084-6FD7-42D1-B734-98506C4A29D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88" name="PlaceHolder 4"/>
          <p:cNvSpPr>
            <a:spLocks noGrp="1"/>
          </p:cNvSpPr>
          <p:nvPr>
            <p:ph type="dt" idx="6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1"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2" name="PlaceHolder 1"/>
          <p:cNvSpPr>
            <a:spLocks noGrp="1"/>
          </p:cNvSpPr>
          <p:nvPr>
            <p:ph type="ftr" idx="6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3" name="PlaceHolder 2"/>
          <p:cNvSpPr>
            <a:spLocks noGrp="1"/>
          </p:cNvSpPr>
          <p:nvPr>
            <p:ph type="sldNum" idx="6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C3F33E9D-2BAF-4BB2-A74A-573F1B0F9D8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4" name="PlaceHolder 3"/>
          <p:cNvSpPr>
            <a:spLocks noGrp="1"/>
          </p:cNvSpPr>
          <p:nvPr>
            <p:ph type="dt" idx="6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6"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8"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9"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0"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1" name="PlaceHolder 5"/>
          <p:cNvSpPr>
            <a:spLocks noGrp="1"/>
          </p:cNvSpPr>
          <p:nvPr>
            <p:ph type="ftr" idx="6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02" name="PlaceHolder 6"/>
          <p:cNvSpPr>
            <a:spLocks noGrp="1"/>
          </p:cNvSpPr>
          <p:nvPr>
            <p:ph type="sldNum" idx="6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0DCAB71-BB64-4DA2-83A1-05E6AA7030B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3" name="PlaceHolder 7"/>
          <p:cNvSpPr>
            <a:spLocks noGrp="1"/>
          </p:cNvSpPr>
          <p:nvPr>
            <p:ph type="dt" idx="6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9"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1"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2"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4" name="PlaceHolder 5"/>
          <p:cNvSpPr>
            <a:spLocks noGrp="1"/>
          </p:cNvSpPr>
          <p:nvPr>
            <p:ph type="ftr" idx="7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15" name="PlaceHolder 6"/>
          <p:cNvSpPr>
            <a:spLocks noGrp="1"/>
          </p:cNvSpPr>
          <p:nvPr>
            <p:ph type="sldNum" idx="7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801990E-E86C-4DFE-B9CE-FC668842C5F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16" name="PlaceHolder 7"/>
          <p:cNvSpPr>
            <a:spLocks noGrp="1"/>
          </p:cNvSpPr>
          <p:nvPr>
            <p:ph type="dt" idx="7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
</Relationships>
</file>

<file path=ppt/slides/_rels/slide12.xml.rels><?xml version="1.0" encoding="UTF-8"?>
<Relationships xmlns="http://schemas.openxmlformats.org/package/2006/relationships"><Relationship Id="rId1" Type="http://schemas.openxmlformats.org/officeDocument/2006/relationships/hyperlink" Target="https://www.cyberciti.biz/faq/howto-create-linux-ram-disk-filesystem/" TargetMode="External"/><Relationship Id="rId2" Type="http://schemas.openxmlformats.org/officeDocument/2006/relationships/hyperlink" Target="https://www.cyberciti.biz/faq/howto-create-linux-ram-disk-filesystem/" TargetMode="External"/><Relationship Id="rId3" Type="http://schemas.openxmlformats.org/officeDocument/2006/relationships/hyperlink" Target="https://www.cyberciti.biz/faq/howto-create-linux-ram-disk-filesystem/" TargetMode="External"/><Relationship Id="rId4" Type="http://schemas.openxmlformats.org/officeDocument/2006/relationships/slideLayout" Target="../slideLayouts/slideLayout19.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9.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0" y="2341080"/>
            <a:ext cx="9070920" cy="1261440"/>
          </a:xfrm>
          <a:prstGeom prst="rect">
            <a:avLst/>
          </a:prstGeom>
          <a:noFill/>
          <a:ln w="0">
            <a:noFill/>
          </a:ln>
        </p:spPr>
        <p:txBody>
          <a:bodyPr lIns="0" rIns="0" tIns="0" bIns="0" anchor="ctr">
            <a:noAutofit/>
          </a:bodyPr>
          <a:p>
            <a:pPr marL="914400" indent="-228600" algn="ctr">
              <a:lnSpc>
                <a:spcPct val="100000"/>
              </a:lnSpc>
              <a:buNone/>
              <a:tabLst>
                <a:tab algn="l" pos="0"/>
              </a:tabLst>
            </a:pPr>
            <a:r>
              <a:rPr b="0" lang="en-GB" sz="1800" spc="-1" strike="noStrike">
                <a:solidFill>
                  <a:srgbClr val="000000"/>
                </a:solidFill>
                <a:latin typeface="TimesNewRomanPS-BoldMT"/>
              </a:rPr>
              <a:t>Files and File systems in Linux</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 </a:t>
            </a:r>
            <a:r>
              <a:rPr b="0" lang="en-IN" sz="4400" spc="-1" strike="noStrike">
                <a:solidFill>
                  <a:srgbClr val="ffffff"/>
                </a:solidFill>
                <a:latin typeface="Arial"/>
              </a:rPr>
              <a:t>Device Files</a:t>
            </a:r>
            <a:endParaRPr b="0" lang="en-US" sz="4400" spc="-1" strike="noStrike">
              <a:solidFill>
                <a:srgbClr val="000000"/>
              </a:solidFill>
              <a:latin typeface="Arial"/>
            </a:endParaRPr>
          </a:p>
        </p:txBody>
      </p:sp>
      <p:sp>
        <p:nvSpPr>
          <p:cNvPr id="223" name=""/>
          <p:cNvSpPr/>
          <p:nvPr/>
        </p:nvSpPr>
        <p:spPr>
          <a:xfrm>
            <a:off x="447480" y="1315440"/>
            <a:ext cx="9252360" cy="4953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device special file corresponds to a device on the system. Within the kernel,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each device type has a corresponding device driver, which handles all I/O requests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for the device. A device driver is a unit of kernel code that implements a set of oper-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ations that (normally) correspond to input and output actions on an associated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piece of hardware. The API provided by device drivers is fixed, and includes opera-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tions corresponding to the system calls open(), close(), read(), write(), mmap(), and ioctl().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fact that each device driver provides a consistent interface, hiding the differ-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ences in operation of individual devices, allows for universality of I/O.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Some devices are real, such as mice, disks, and tape drives. Others are virtual,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meaning that there is no corresponding hardware; rather, the kernel provides (via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device driver) an abstract device with an API that is the same as a real device.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Devices can be divided into two types: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Character devices handle data on a character-by-character basis. Terminals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keyboards are examples of character devices.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Block devices handle data a block at a time. The size of a block depends on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type of device, but is typically some multiple of 512 bytes. Examples of block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devices include disks and tape drives.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Assignment</a:t>
            </a:r>
            <a:endParaRPr b="0" lang="en-US" sz="4400" spc="-1" strike="noStrike">
              <a:solidFill>
                <a:srgbClr val="000000"/>
              </a:solidFill>
              <a:latin typeface="Arial"/>
            </a:endParaRPr>
          </a:p>
        </p:txBody>
      </p:sp>
      <p:sp>
        <p:nvSpPr>
          <p:cNvPr id="225" name=""/>
          <p:cNvSpPr txBox="1"/>
          <p:nvPr/>
        </p:nvSpPr>
        <p:spPr>
          <a:xfrm>
            <a:off x="228600" y="1143000"/>
            <a:ext cx="6249600" cy="1882080"/>
          </a:xfrm>
          <a:prstGeom prst="rect">
            <a:avLst/>
          </a:prstGeom>
          <a:noFill/>
          <a:ln w="0">
            <a:noFill/>
          </a:ln>
        </p:spPr>
        <p:txBody>
          <a:bodyPr lIns="90000" rIns="90000" tIns="45000" bIns="45000" anchor="t">
            <a:noAutofit/>
          </a:bodyPr>
          <a:p>
            <a:r>
              <a:rPr b="0" lang="en-US" sz="1800" spc="-1" strike="noStrike">
                <a:solidFill>
                  <a:srgbClr val="000000"/>
                </a:solidFill>
                <a:latin typeface="Arial"/>
              </a:rPr>
              <a:t> </a:t>
            </a:r>
            <a:r>
              <a:rPr b="0" lang="en-US" sz="1800" spc="-1" strike="noStrike">
                <a:solidFill>
                  <a:srgbClr val="000000"/>
                </a:solidFill>
                <a:latin typeface="Arial"/>
              </a:rPr>
              <a:t>ls /dev/video0 </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sudo apt install v4l-utils</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v4l2-ctl --list-devices</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sudo apt install ffmpeg</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ffplay /dev/video0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ffmpeg -f v4l2 -i /dev/video0 -frames:v 1 snapshot.jpg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File systems</a:t>
            </a:r>
            <a:endParaRPr b="0" lang="en-US" sz="4400" spc="-1" strike="noStrike">
              <a:solidFill>
                <a:srgbClr val="000000"/>
              </a:solidFill>
              <a:latin typeface="Arial"/>
            </a:endParaRPr>
          </a:p>
        </p:txBody>
      </p:sp>
      <p:sp>
        <p:nvSpPr>
          <p:cNvPr id="227" name=""/>
          <p:cNvSpPr/>
          <p:nvPr/>
        </p:nvSpPr>
        <p:spPr>
          <a:xfrm>
            <a:off x="432000" y="942120"/>
            <a:ext cx="8773920" cy="5465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A file system is an organized collection of regular files and directories. A file system</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is created using the mkfs command.</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One of the strengths of Linux is that it supports a wide variety of file systems,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including the following:</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1. various native UNIX file systems such as the Minix, System V, and BSD file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systems;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2. Microsoft’s FAT, FAT32, and NTFS file systems;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3. the ISO 9660 CD-ROM file system;</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4. Apple Macintosh’s HFS;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5. The traditional ext2 file system;</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6. a range of network file systems, including Sun’s widely used NFS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7. a range of journaling file systems, including ext3, ext4, Reiserfs, JFS, XFS, and Btrfs.</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File system Structure: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basic unit for allocating space in a file system is a logical block, which is some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multiple of contiguous physical blocks on the disk device on which the file system</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resides. For example, the logical block size on ext2 is 1024, 2048, or 4096 bytes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br>
              <a:rPr sz="1600"/>
            </a:b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pic>
        <p:nvPicPr>
          <p:cNvPr id="228" name="" descr=""/>
          <p:cNvPicPr/>
          <p:nvPr/>
        </p:nvPicPr>
        <p:blipFill>
          <a:blip r:embed="rId1"/>
          <a:stretch/>
        </p:blipFill>
        <p:spPr>
          <a:xfrm>
            <a:off x="2520000" y="5328000"/>
            <a:ext cx="6333840" cy="21603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nSpc>
                <a:spcPct val="100000"/>
              </a:lnSpc>
              <a:buNone/>
            </a:pPr>
            <a:r>
              <a:rPr b="0" lang="en-US" sz="1800" spc="-1" strike="noStrike">
                <a:solidFill>
                  <a:srgbClr val="000000"/>
                </a:solidFill>
                <a:latin typeface="Arial"/>
              </a:rPr>
              <a:t>Assignment</a:t>
            </a:r>
            <a:endParaRPr b="0" lang="en-US" sz="1800" spc="-1" strike="noStrike">
              <a:solidFill>
                <a:srgbClr val="000000"/>
              </a:solidFill>
              <a:latin typeface="Arial"/>
            </a:endParaRPr>
          </a:p>
        </p:txBody>
      </p:sp>
      <p:sp>
        <p:nvSpPr>
          <p:cNvPr id="230" name="PlaceHolder 2"/>
          <p:cNvSpPr>
            <a:spLocks noGrp="1"/>
          </p:cNvSpPr>
          <p:nvPr>
            <p:ph/>
          </p:nvPr>
        </p:nvSpPr>
        <p:spPr>
          <a:xfrm>
            <a:off x="504000" y="1769040"/>
            <a:ext cx="9070920" cy="4383720"/>
          </a:xfrm>
          <a:prstGeom prst="rect">
            <a:avLst/>
          </a:prstGeom>
          <a:noFill/>
          <a:ln w="0">
            <a:noFill/>
          </a:ln>
        </p:spPr>
        <p:txBody>
          <a:bodyPr lIns="0" rIns="0" tIns="0" bIns="0" anchor="t">
            <a:noAutofit/>
          </a:bodyPr>
          <a:p>
            <a:pPr marL="432000" indent="-324000">
              <a:lnSpc>
                <a:spcPct val="100000"/>
              </a:lnSpc>
              <a:spcBef>
                <a:spcPts val="1417"/>
              </a:spcBef>
              <a:buClr>
                <a:srgbClr val="000000"/>
              </a:buClr>
              <a:buSzPct val="45000"/>
              <a:buFont typeface="Wingdings" charset="2"/>
              <a:buChar char=""/>
            </a:pPr>
            <a:r>
              <a:rPr b="0" lang="en-IN" sz="3200" spc="-1" strike="noStrike">
                <a:solidFill>
                  <a:srgbClr val="0066cc"/>
                </a:solidFill>
                <a:latin typeface="Arial"/>
              </a:rPr>
              <a:t>losetup --find --show --partscan 2025-05-13-raspios-bookworm-arm64-lite.img</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66cc"/>
                </a:solidFill>
                <a:latin typeface="Arial"/>
              </a:rPr>
              <a:t>/dev/loop34</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66cc"/>
                </a:solidFill>
                <a:latin typeface="Arial"/>
              </a:rPr>
              <a:t>lsblk -f</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66cc"/>
                </a:solidFill>
                <a:latin typeface="Arial"/>
              </a:rPr>
              <a:t>mount /dev/loop34p2  /mnt</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3200" spc="-1" strike="noStrike">
                <a:solidFill>
                  <a:srgbClr val="0066cc"/>
                </a:solidFill>
                <a:latin typeface="Arial"/>
              </a:rPr>
              <a:t>losetup -d /dev/loop34</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32" name=""/>
          <p:cNvSpPr/>
          <p:nvPr/>
        </p:nvSpPr>
        <p:spPr>
          <a:xfrm>
            <a:off x="360000" y="936000"/>
            <a:ext cx="8615520" cy="6233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file system contains the following parts:</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Boot block: </a:t>
            </a:r>
            <a:r>
              <a:rPr b="0" lang="en-IN" sz="1800" spc="-1" strike="noStrike">
                <a:solidFill>
                  <a:srgbClr val="000000"/>
                </a:solidFill>
                <a:latin typeface="Arial"/>
                <a:ea typeface="DejaVu Sans"/>
              </a:rPr>
              <a:t>This is always the first block in a file system. The boot block is not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used by the file system; rather, it contains information used to boot the operat-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ing system. Although only one boot block is needed by the operating system,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all file systems have a boot block (most of which are unused).</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Superblock:</a:t>
            </a:r>
            <a:r>
              <a:rPr b="0" lang="en-IN" sz="1800" spc="-1" strike="noStrike">
                <a:solidFill>
                  <a:srgbClr val="000000"/>
                </a:solidFill>
                <a:latin typeface="Arial"/>
                <a:ea typeface="DejaVu Sans"/>
              </a:rPr>
              <a:t> This is a single block, immediately following the boot block, which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contains parameter information about the file system, including: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the size of the i-node table;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the size of logical blocks in this file system;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the size of the file system in logical blocks.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Different file systems residing on the same physical device can be of different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types and sizes, and have different parameter settings (e.g., block size). This 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one of the reasons for splitting a disk into multiple partitions.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I-node table:</a:t>
            </a:r>
            <a:r>
              <a:rPr b="0" lang="en-IN" sz="1800" spc="-1" strike="noStrike">
                <a:solidFill>
                  <a:srgbClr val="000000"/>
                </a:solidFill>
                <a:latin typeface="Arial"/>
                <a:ea typeface="DejaVu Sans"/>
              </a:rPr>
              <a:t> Each file or directory in the file system has a unique entry in the i-node table. This entry records various information about the file. I-nodes are dis-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cussed in greater detail in the next section. The i-node table is sometimes also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called the i-list.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Data blocks:</a:t>
            </a:r>
            <a:r>
              <a:rPr b="0" lang="en-IN" sz="1800" spc="-1" strike="noStrike">
                <a:solidFill>
                  <a:srgbClr val="000000"/>
                </a:solidFill>
                <a:latin typeface="Arial"/>
                <a:ea typeface="DejaVu Sans"/>
              </a:rPr>
              <a:t> The great majority of space in a file system is used for the blocks of</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data that form the files and directories residing in the file system.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34" name=""/>
          <p:cNvSpPr/>
          <p:nvPr/>
        </p:nvSpPr>
        <p:spPr>
          <a:xfrm>
            <a:off x="144000" y="1080000"/>
            <a:ext cx="9935280" cy="572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I-nodes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file system’s i-node table contains one i-node (short for index node) for each file residing in the file system. I-nodes are identified numerically by their sequential location in the i-node table. The i-node number (or simply i-number) of a file is the first field displayed by the ls –li command. The information maintained in an i-node includes the following: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File type (e.g., regular file, directory, symbolic link, character device).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Owner (also referred to as the user ID or UID) for the file.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Group (also referred to as the group ID or GID) for the file.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Access permissions for three categories of user: owner (sometimes referred to as user), group, and other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Three timestamps: time of last access to the file (shown by ls –lu), time of last modification of the file (the default time shown by ls –l), and time of last status change (last change to i-node information, shown by ls –lc). As on other UNIX implementations, it is notable that most Linux file systems don’t record the creation time of a file.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Number of hard links to the file.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Size of the file in bytes.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Number of blocks actually allocated to the file, measured in units of 512-byteblocks.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Pointers to the data blocks of the file.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root@rama-Inspiron-3501:/home/rama# df -i /dev/nvme0n1p2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Filesystem       Inodes   IUsed   IFree IUse% Mounted 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/dev/nvme0n1p2 15597568 7953145 7644423   51%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File block structure</a:t>
            </a:r>
            <a:endParaRPr b="0" lang="en-US" sz="4400" spc="-1" strike="noStrike">
              <a:solidFill>
                <a:srgbClr val="000000"/>
              </a:solidFill>
              <a:latin typeface="Arial"/>
            </a:endParaRPr>
          </a:p>
        </p:txBody>
      </p:sp>
      <p:pic>
        <p:nvPicPr>
          <p:cNvPr id="236" name="" descr=""/>
          <p:cNvPicPr/>
          <p:nvPr/>
        </p:nvPicPr>
        <p:blipFill>
          <a:blip r:embed="rId1"/>
          <a:stretch/>
        </p:blipFill>
        <p:spPr>
          <a:xfrm>
            <a:off x="2073240" y="1013760"/>
            <a:ext cx="6278040" cy="6257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Assignment (Risky)</a:t>
            </a:r>
            <a:endParaRPr b="0" lang="en-US" sz="4400" spc="-1" strike="noStrike">
              <a:solidFill>
                <a:srgbClr val="000000"/>
              </a:solidFill>
              <a:latin typeface="Arial"/>
            </a:endParaRPr>
          </a:p>
        </p:txBody>
      </p:sp>
      <p:sp>
        <p:nvSpPr>
          <p:cNvPr id="238" name=""/>
          <p:cNvSpPr txBox="1"/>
          <p:nvPr/>
        </p:nvSpPr>
        <p:spPr>
          <a:xfrm>
            <a:off x="617760" y="1290960"/>
            <a:ext cx="3039840" cy="3161880"/>
          </a:xfrm>
          <a:prstGeom prst="rect">
            <a:avLst/>
          </a:prstGeom>
          <a:noFill/>
          <a:ln w="0">
            <a:noFill/>
          </a:ln>
        </p:spPr>
        <p:txBody>
          <a:bodyPr lIns="90000" rIns="90000" tIns="45000" bIns="45000" anchor="t">
            <a:noAutofit/>
          </a:bodyPr>
          <a:p>
            <a:endParaRPr b="0" lang="en-US" sz="1800" spc="-1" strike="noStrike">
              <a:solidFill>
                <a:srgbClr val="000000"/>
              </a:solidFill>
              <a:latin typeface="Arial"/>
            </a:endParaRPr>
          </a:p>
          <a:p>
            <a:r>
              <a:rPr b="0" lang="en-US" sz="1800" spc="-1" strike="noStrike">
                <a:solidFill>
                  <a:srgbClr val="000000"/>
                </a:solidFill>
                <a:latin typeface="Arial"/>
              </a:rPr>
              <a:t>df -i</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mkdir /tmp/inode-test</a:t>
            </a:r>
            <a:endParaRPr b="0" lang="en-US" sz="1800" spc="-1" strike="noStrike">
              <a:solidFill>
                <a:srgbClr val="000000"/>
              </a:solidFill>
              <a:latin typeface="Arial"/>
            </a:endParaRPr>
          </a:p>
          <a:p>
            <a:r>
              <a:rPr b="0" lang="en-US" sz="1800" spc="-1" strike="noStrike">
                <a:solidFill>
                  <a:srgbClr val="000000"/>
                </a:solidFill>
                <a:latin typeface="Arial"/>
              </a:rPr>
              <a:t>cd /tmp/inode-test</a:t>
            </a:r>
            <a:endParaRPr b="0" lang="en-US" sz="1800" spc="-1" strike="noStrike">
              <a:solidFill>
                <a:srgbClr val="000000"/>
              </a:solidFill>
              <a:latin typeface="Arial"/>
            </a:endParaRPr>
          </a:p>
          <a:p>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for i in $(seq 1 1000000); do</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touch file_$i</a:t>
            </a:r>
            <a:endParaRPr b="0" lang="en-US" sz="1800" spc="-1" strike="noStrike">
              <a:solidFill>
                <a:srgbClr val="000000"/>
              </a:solidFill>
              <a:latin typeface="Arial"/>
            </a:endParaRPr>
          </a:p>
          <a:p>
            <a:r>
              <a:rPr b="0" lang="en-US" sz="1800" spc="-1" strike="noStrike">
                <a:solidFill>
                  <a:srgbClr val="000000"/>
                </a:solidFill>
                <a:latin typeface="Arial"/>
              </a:rPr>
              <a:t>done</a:t>
            </a:r>
            <a:endParaRPr b="0" lang="en-US" sz="1800" spc="-1" strike="noStrike">
              <a:solidFill>
                <a:srgbClr val="000000"/>
              </a:solidFill>
              <a:latin typeface="Arial"/>
            </a:endParaRPr>
          </a:p>
          <a:p>
            <a:endParaRPr b="0" lang="en-US" sz="1800" spc="-1" strike="noStrike">
              <a:solidFill>
                <a:srgbClr val="000000"/>
              </a:solidFill>
              <a:latin typeface="Arial"/>
            </a:endParaRPr>
          </a:p>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Journaling File Systems</a:t>
            </a:r>
            <a:endParaRPr b="0" lang="en-US" sz="4400" spc="-1" strike="noStrike">
              <a:solidFill>
                <a:srgbClr val="000000"/>
              </a:solidFill>
              <a:latin typeface="Arial"/>
            </a:endParaRPr>
          </a:p>
        </p:txBody>
      </p:sp>
      <p:sp>
        <p:nvSpPr>
          <p:cNvPr id="240" name=""/>
          <p:cNvSpPr/>
          <p:nvPr/>
        </p:nvSpPr>
        <p:spPr>
          <a:xfrm>
            <a:off x="144000" y="998280"/>
            <a:ext cx="9719280" cy="6489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ext2 file system is a good example of a traditional UNIX file system, and suffers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from a classic limitation of such file systems: after a system crash, a file-system con-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sistency check ( fsck) must be performed on reboot in order to ensure the integrity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of the file system. This is necessary because, at the time of the system crash, a file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update may have been only partially completed, and the file-system metadata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(directory entries, i-node information, and file data block pointers) may be in an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inconsistent state, so that the file system might be further damaged if these incon-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sistencies are not repaired. A file-system consistency check ensures the consistency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of the file-system metadata. Where possible, repairs are performed; otherwise,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information that is not retrievable (possibly including file data) is discarded.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problem is that a consistency check requires examining the entire file sys-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tem. On a small file system, this may take anything from several seconds to a few</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minutes. On a large file system, this may require several hours, which is a serious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problem for systems that must maintain high availability (e.g., network servers).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Journaling file systems eliminate the need for lengthy file-system consis-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tency checks after a system crash. A journaling file system logs (journals) all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metadata updates to a special on-disk journal file before they are actually carried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out. The updates are logged in groups of related metadata updates (transactions). 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event of a system crash in the middle of a transaction, on system reboot, the log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can be used to rapidly redo any incomplete updates and bring the file system back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to a consistent state. (To borrow database parlance, we can say that a journaling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file system ensures that file metadata transactions are always committed as a com-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plete unit.) Even very large journaling file systems can typically be available within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seconds after a system crash, making them very attractive for systems with high-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availability requirements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42" name=""/>
          <p:cNvSpPr/>
          <p:nvPr/>
        </p:nvSpPr>
        <p:spPr>
          <a:xfrm>
            <a:off x="144000" y="1080000"/>
            <a:ext cx="10058400" cy="4362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Ext4</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Ext4 stands for fourth extended file system.</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It was introduced in 2008.</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Starting from Linux Kernel 2.6.19 ext4 was available.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Supports huge individual file size and overall file system size.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Maximum individual file size can be from 16 GB to 16 TB</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Overall maximum ext4 file system size is 1 EB (exabyte).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1 EB = 1024 PB (petabyte). 1 PB = 1024 TB (terabyte).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Directory can contain a maximum of 64,000 subdirectories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(as opposed to 32,000 in ext3)</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You can also mount an existing ext3 fs as ext4 fs (without having to upgrade it).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Several other new features are introduced in ext4: multiblock allocation,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delayed allocation, journal checksum. fast fsck, etc.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In ext4, you also have the option of turning the journaling feature off.</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243" name="" descr=""/>
          <p:cNvPicPr/>
          <p:nvPr/>
        </p:nvPicPr>
        <p:blipFill>
          <a:blip r:embed="rId1"/>
          <a:stretch/>
        </p:blipFill>
        <p:spPr>
          <a:xfrm>
            <a:off x="4608000" y="1152000"/>
            <a:ext cx="5266800" cy="54712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Assignment</a:t>
            </a:r>
            <a:endParaRPr b="0" lang="en-US" sz="4400" spc="-1" strike="noStrike">
              <a:solidFill>
                <a:srgbClr val="000000"/>
              </a:solidFill>
              <a:latin typeface="Arial"/>
            </a:endParaRPr>
          </a:p>
        </p:txBody>
      </p:sp>
      <p:sp>
        <p:nvSpPr>
          <p:cNvPr id="245" name=""/>
          <p:cNvSpPr txBox="1"/>
          <p:nvPr/>
        </p:nvSpPr>
        <p:spPr>
          <a:xfrm>
            <a:off x="150120" y="1069920"/>
            <a:ext cx="7622280" cy="987480"/>
          </a:xfrm>
          <a:prstGeom prst="rect">
            <a:avLst/>
          </a:prstGeom>
          <a:noFill/>
          <a:ln w="0">
            <a:noFill/>
          </a:ln>
        </p:spPr>
        <p:txBody>
          <a:bodyPr lIns="90000" rIns="90000" tIns="45000" bIns="45000" anchor="t">
            <a:noAutofit/>
          </a:bodyPr>
          <a:p>
            <a:endParaRPr b="0" lang="en-US" sz="1600" spc="-1" strike="noStrike">
              <a:solidFill>
                <a:srgbClr val="000000"/>
              </a:solidFill>
              <a:latin typeface="Arial"/>
            </a:endParaRPr>
          </a:p>
          <a:p>
            <a:r>
              <a:rPr b="0" lang="en-IN" sz="1600" spc="-1" strike="noStrike" u="sng">
                <a:solidFill>
                  <a:srgbClr val="0000ff"/>
                </a:solidFill>
                <a:uFillTx/>
                <a:latin typeface="Arial"/>
                <a:ea typeface="DejaVu Sans"/>
                <a:hlinkClick r:id="rId1"/>
              </a:rPr>
              <a:t>https://www.cyberciti.biz/faq/howto-create-linux-ram-disk-filesystem/</a:t>
            </a:r>
            <a:endParaRPr b="0" lang="en-US" sz="1600" spc="-1" strike="noStrike">
              <a:solidFill>
                <a:srgbClr val="000000"/>
              </a:solidFill>
              <a:latin typeface="Arial"/>
            </a:endParaRPr>
          </a:p>
          <a:p>
            <a:endParaRPr b="0" lang="en-US" sz="1600" spc="-1" strike="noStrike">
              <a:solidFill>
                <a:srgbClr val="000000"/>
              </a:solidFill>
              <a:latin typeface="Arial"/>
            </a:endParaRPr>
          </a:p>
        </p:txBody>
      </p:sp>
      <p:sp>
        <p:nvSpPr>
          <p:cNvPr id="246" name=""/>
          <p:cNvSpPr txBox="1"/>
          <p:nvPr/>
        </p:nvSpPr>
        <p:spPr>
          <a:xfrm>
            <a:off x="150480" y="1862280"/>
            <a:ext cx="7622280" cy="993240"/>
          </a:xfrm>
          <a:prstGeom prst="rect">
            <a:avLst/>
          </a:prstGeom>
          <a:noFill/>
          <a:ln w="0">
            <a:noFill/>
          </a:ln>
        </p:spPr>
        <p:txBody>
          <a:bodyPr lIns="90000" rIns="90000" tIns="45000" bIns="45000" anchor="t">
            <a:noAutofit/>
          </a:bodyPr>
          <a:p>
            <a:r>
              <a:rPr b="0" lang="en-IN" sz="1600" spc="-1" strike="noStrike" u="sng">
                <a:solidFill>
                  <a:srgbClr val="0000ff"/>
                </a:solidFill>
                <a:uFillTx/>
                <a:latin typeface="Arial"/>
                <a:ea typeface="DejaVu Sans"/>
              </a:rPr>
              <a:t>Verify Journal file system support with</a:t>
            </a:r>
            <a:br>
              <a:rPr sz="1600"/>
            </a:br>
            <a:r>
              <a:rPr b="0" lang="en-IN" sz="1600" spc="-1" strike="noStrike" u="sng">
                <a:solidFill>
                  <a:srgbClr val="0000ff"/>
                </a:solidFill>
                <a:uFillTx/>
                <a:latin typeface="Arial"/>
                <a:ea typeface="DejaVu Sans"/>
              </a:rPr>
              <a:t>sudo tune2fs -l /dev/sda1 | grep -i journal</a:t>
            </a:r>
            <a:endParaRPr b="0" lang="en-US" sz="1600" spc="-1" strike="noStrike">
              <a:solidFill>
                <a:srgbClr val="000000"/>
              </a:solidFill>
              <a:latin typeface="Arial"/>
            </a:endParaRPr>
          </a:p>
          <a:p>
            <a:endParaRPr b="0" lang="en-US" sz="1600" spc="-1" strike="noStrike">
              <a:solidFill>
                <a:srgbClr val="000000"/>
              </a:solidFill>
              <a:latin typeface="Arial"/>
            </a:endParaRPr>
          </a:p>
          <a:p>
            <a:endParaRPr b="0" lang="en-US" sz="1600" spc="-1" strike="noStrike">
              <a:solidFill>
                <a:srgbClr val="000000"/>
              </a:solidFill>
              <a:latin typeface="Arial"/>
            </a:endParaRPr>
          </a:p>
        </p:txBody>
      </p:sp>
      <p:sp>
        <p:nvSpPr>
          <p:cNvPr id="247" name=""/>
          <p:cNvSpPr txBox="1"/>
          <p:nvPr/>
        </p:nvSpPr>
        <p:spPr>
          <a:xfrm>
            <a:off x="150840" y="1070640"/>
            <a:ext cx="7622280" cy="987480"/>
          </a:xfrm>
          <a:prstGeom prst="rect">
            <a:avLst/>
          </a:prstGeom>
          <a:noFill/>
          <a:ln w="0">
            <a:noFill/>
          </a:ln>
        </p:spPr>
        <p:txBody>
          <a:bodyPr lIns="90000" rIns="90000" tIns="45000" bIns="45000" anchor="t">
            <a:noAutofit/>
          </a:bodyPr>
          <a:p>
            <a:endParaRPr b="0" lang="en-US" sz="1600" spc="-1" strike="noStrike">
              <a:solidFill>
                <a:srgbClr val="000000"/>
              </a:solidFill>
              <a:latin typeface="Arial"/>
            </a:endParaRPr>
          </a:p>
          <a:p>
            <a:r>
              <a:rPr b="0" lang="en-IN" sz="1600" spc="-1" strike="noStrike" u="sng">
                <a:solidFill>
                  <a:srgbClr val="0000ff"/>
                </a:solidFill>
                <a:uFillTx/>
                <a:latin typeface="Arial"/>
                <a:ea typeface="DejaVu Sans"/>
                <a:hlinkClick r:id="rId2"/>
              </a:rPr>
              <a:t>https://www.cyberciti.biz/faq/howto-create-linux-ram-disk-filesystem/</a:t>
            </a:r>
            <a:endParaRPr b="0" lang="en-US" sz="1600" spc="-1" strike="noStrike">
              <a:solidFill>
                <a:srgbClr val="000000"/>
              </a:solidFill>
              <a:latin typeface="Arial"/>
            </a:endParaRPr>
          </a:p>
          <a:p>
            <a:endParaRPr b="0" lang="en-US" sz="1600" spc="-1" strike="noStrike">
              <a:solidFill>
                <a:srgbClr val="000000"/>
              </a:solidFill>
              <a:latin typeface="Arial"/>
            </a:endParaRPr>
          </a:p>
        </p:txBody>
      </p:sp>
      <p:sp>
        <p:nvSpPr>
          <p:cNvPr id="248" name=""/>
          <p:cNvSpPr txBox="1"/>
          <p:nvPr/>
        </p:nvSpPr>
        <p:spPr>
          <a:xfrm>
            <a:off x="150840" y="1070640"/>
            <a:ext cx="7622280" cy="987480"/>
          </a:xfrm>
          <a:prstGeom prst="rect">
            <a:avLst/>
          </a:prstGeom>
          <a:noFill/>
          <a:ln w="0">
            <a:noFill/>
          </a:ln>
        </p:spPr>
        <p:txBody>
          <a:bodyPr lIns="90000" rIns="90000" tIns="45000" bIns="45000" anchor="t">
            <a:noAutofit/>
          </a:bodyPr>
          <a:p>
            <a:endParaRPr b="0" lang="en-US" sz="1600" spc="-1" strike="noStrike">
              <a:solidFill>
                <a:srgbClr val="000000"/>
              </a:solidFill>
              <a:latin typeface="Arial"/>
            </a:endParaRPr>
          </a:p>
          <a:p>
            <a:r>
              <a:rPr b="0" lang="en-IN" sz="1600" spc="-1" strike="noStrike" u="sng">
                <a:solidFill>
                  <a:srgbClr val="0000ff"/>
                </a:solidFill>
                <a:uFillTx/>
                <a:latin typeface="Arial"/>
                <a:ea typeface="DejaVu Sans"/>
                <a:hlinkClick r:id="rId3"/>
              </a:rPr>
              <a:t>https://www.cyberciti.biz/faq/howto-create-linux-ram-disk-filesystem/</a:t>
            </a:r>
            <a:endParaRPr b="0" lang="en-US" sz="1600" spc="-1" strike="noStrike">
              <a:solidFill>
                <a:srgbClr val="000000"/>
              </a:solidFill>
              <a:latin typeface="Arial"/>
            </a:endParaRPr>
          </a:p>
          <a:p>
            <a:endParaRPr b="0" lang="en-US" sz="1600" spc="-1" strike="noStrike">
              <a:solidFill>
                <a:srgbClr val="000000"/>
              </a:solidFill>
              <a:latin typeface="Arial"/>
            </a:endParaRPr>
          </a:p>
        </p:txBody>
      </p:sp>
      <p:sp>
        <p:nvSpPr>
          <p:cNvPr id="249" name=""/>
          <p:cNvSpPr txBox="1"/>
          <p:nvPr/>
        </p:nvSpPr>
        <p:spPr>
          <a:xfrm>
            <a:off x="228600" y="2743200"/>
            <a:ext cx="6629400" cy="3417840"/>
          </a:xfrm>
          <a:prstGeom prst="rect">
            <a:avLst/>
          </a:prstGeom>
          <a:noFill/>
          <a:ln w="0">
            <a:noFill/>
          </a:ln>
        </p:spPr>
        <p:txBody>
          <a:bodyPr lIns="90000" rIns="90000" tIns="45000" bIns="45000" anchor="t">
            <a:noAutofit/>
          </a:bodyPr>
          <a:p>
            <a:r>
              <a:rPr b="0" lang="en-US" sz="1800" spc="-1" strike="noStrike">
                <a:solidFill>
                  <a:srgbClr val="000000"/>
                </a:solidFill>
                <a:latin typeface="Arial"/>
              </a:rPr>
              <a:t>dd if=/dev/zero of=/tmp/testfs.img bs=1M count=100</a:t>
            </a:r>
            <a:endParaRPr b="0" lang="en-US" sz="1800" spc="-1" strike="noStrike">
              <a:solidFill>
                <a:srgbClr val="000000"/>
              </a:solidFill>
              <a:latin typeface="Arial"/>
            </a:endParaRPr>
          </a:p>
          <a:p>
            <a:r>
              <a:rPr b="0" lang="en-US" sz="1800" spc="-1" strike="noStrike">
                <a:solidFill>
                  <a:srgbClr val="000000"/>
                </a:solidFill>
                <a:latin typeface="Arial"/>
              </a:rPr>
              <a:t>sudo mkfs.ext4 /tmp/testfs.img</a:t>
            </a:r>
            <a:endParaRPr b="0" lang="en-US" sz="1800" spc="-1" strike="noStrike">
              <a:solidFill>
                <a:srgbClr val="000000"/>
              </a:solidFill>
              <a:latin typeface="Arial"/>
            </a:endParaRPr>
          </a:p>
          <a:p>
            <a:r>
              <a:rPr b="0" lang="en-US" sz="1800" spc="-1" strike="noStrike">
                <a:solidFill>
                  <a:srgbClr val="000000"/>
                </a:solidFill>
                <a:latin typeface="Arial"/>
              </a:rPr>
              <a:t>sudo mkdir /mnt/testfs</a:t>
            </a:r>
            <a:endParaRPr b="0" lang="en-US" sz="1800" spc="-1" strike="noStrike">
              <a:solidFill>
                <a:srgbClr val="000000"/>
              </a:solidFill>
              <a:latin typeface="Arial"/>
            </a:endParaRPr>
          </a:p>
          <a:p>
            <a:r>
              <a:rPr b="0" lang="en-US" sz="1800" spc="-1" strike="noStrike">
                <a:solidFill>
                  <a:srgbClr val="000000"/>
                </a:solidFill>
                <a:latin typeface="Arial"/>
              </a:rPr>
              <a:t>sudo mount /tmp/testfs.img /mnt/testfs</a:t>
            </a:r>
            <a:endParaRPr b="0" lang="en-US" sz="1800" spc="-1" strike="noStrike">
              <a:solidFill>
                <a:srgbClr val="000000"/>
              </a:solidFill>
              <a:latin typeface="Arial"/>
            </a:endParaRPr>
          </a:p>
          <a:p>
            <a:r>
              <a:rPr b="0" lang="en-US" sz="1800" spc="-1" strike="noStrike">
                <a:solidFill>
                  <a:srgbClr val="000000"/>
                </a:solidFill>
                <a:latin typeface="Arial"/>
              </a:rPr>
              <a:t>sudo tune2fs -l /tmp/testfs.img | grep has_journal</a:t>
            </a:r>
            <a:endParaRPr b="0" lang="en-US" sz="1800" spc="-1" strike="noStrike">
              <a:solidFill>
                <a:srgbClr val="000000"/>
              </a:solidFill>
              <a:latin typeface="Arial"/>
            </a:endParaRPr>
          </a:p>
          <a:p>
            <a:r>
              <a:rPr b="0" lang="en-US" sz="1800" spc="-1" strike="noStrike">
                <a:solidFill>
                  <a:srgbClr val="000000"/>
                </a:solidFill>
                <a:latin typeface="Arial"/>
              </a:rPr>
              <a:t>cd /mnt/testfs</a:t>
            </a:r>
            <a:endParaRPr b="0" lang="en-US" sz="1800" spc="-1" strike="noStrike">
              <a:solidFill>
                <a:srgbClr val="000000"/>
              </a:solidFill>
              <a:latin typeface="Arial"/>
            </a:endParaRPr>
          </a:p>
          <a:p>
            <a:r>
              <a:rPr b="0" lang="en-US" sz="1800" spc="-1" strike="noStrike">
                <a:solidFill>
                  <a:srgbClr val="000000"/>
                </a:solidFill>
                <a:latin typeface="Arial"/>
              </a:rPr>
              <a:t>sudo touch file1</a:t>
            </a:r>
            <a:endParaRPr b="0" lang="en-US" sz="1800" spc="-1" strike="noStrike">
              <a:solidFill>
                <a:srgbClr val="000000"/>
              </a:solidFill>
              <a:latin typeface="Arial"/>
            </a:endParaRPr>
          </a:p>
          <a:p>
            <a:r>
              <a:rPr b="0" lang="en-US" sz="1800" spc="-1" strike="noStrike">
                <a:solidFill>
                  <a:srgbClr val="000000"/>
                </a:solidFill>
                <a:latin typeface="Arial"/>
              </a:rPr>
              <a:t>sudo mkdir demo</a:t>
            </a:r>
            <a:endParaRPr b="0" lang="en-US" sz="1800" spc="-1" strike="noStrike">
              <a:solidFill>
                <a:srgbClr val="000000"/>
              </a:solidFill>
              <a:latin typeface="Arial"/>
            </a:endParaRPr>
          </a:p>
          <a:p>
            <a:r>
              <a:rPr b="0" lang="en-US" sz="1800" spc="-1" strike="noStrike">
                <a:solidFill>
                  <a:srgbClr val="000000"/>
                </a:solidFill>
                <a:latin typeface="Arial"/>
              </a:rPr>
              <a:t>echo "Journaling test" | sudo tee demo/test.txt</a:t>
            </a:r>
            <a:endParaRPr b="0" lang="en-US" sz="1800" spc="-1" strike="noStrike">
              <a:solidFill>
                <a:srgbClr val="000000"/>
              </a:solidFill>
              <a:latin typeface="Arial"/>
            </a:endParaRPr>
          </a:p>
          <a:p>
            <a:r>
              <a:rPr b="0" lang="en-US" sz="1800" spc="-1" strike="noStrike">
                <a:solidFill>
                  <a:srgbClr val="000000"/>
                </a:solidFill>
                <a:latin typeface="Arial"/>
              </a:rPr>
              <a:t>sudo umount -l /mnt/testfs  # lazy unmount (simulate crash)</a:t>
            </a:r>
            <a:endParaRPr b="0" lang="en-US" sz="1800" spc="-1" strike="noStrike">
              <a:solidFill>
                <a:srgbClr val="000000"/>
              </a:solidFill>
              <a:latin typeface="Arial"/>
            </a:endParaRPr>
          </a:p>
          <a:p>
            <a:r>
              <a:rPr b="0" lang="en-US" sz="1800" spc="-1" strike="noStrike">
                <a:solidFill>
                  <a:srgbClr val="000000"/>
                </a:solidFill>
                <a:latin typeface="Arial"/>
              </a:rPr>
              <a:t>sudo tune2fs -l /tmp/testfs.img | grep needs_recovery</a:t>
            </a:r>
            <a:endParaRPr b="0" lang="en-US" sz="1800" spc="-1" strike="noStrike">
              <a:solidFill>
                <a:srgbClr val="000000"/>
              </a:solidFill>
              <a:latin typeface="Arial"/>
            </a:endParaRPr>
          </a:p>
          <a:p>
            <a:r>
              <a:rPr b="0" lang="en-US" sz="1800" spc="-1" strike="noStrike">
                <a:solidFill>
                  <a:srgbClr val="000000"/>
                </a:solidFill>
                <a:latin typeface="Arial"/>
              </a:rPr>
              <a:t>sudo e2fsck -f /tmp/testfs.img</a:t>
            </a:r>
            <a:endParaRPr b="0" lang="en-US" sz="1800" spc="-1" strike="noStrike">
              <a:solidFill>
                <a:srgbClr val="000000"/>
              </a:solidFill>
              <a:latin typeface="Arial"/>
            </a:endParaRPr>
          </a:p>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Virtual File Systems</a:t>
            </a:r>
            <a:endParaRPr b="0" lang="en-US" sz="4400" spc="-1" strike="noStrike">
              <a:solidFill>
                <a:srgbClr val="000000"/>
              </a:solidFill>
              <a:latin typeface="Arial"/>
            </a:endParaRPr>
          </a:p>
        </p:txBody>
      </p:sp>
      <p:sp>
        <p:nvSpPr>
          <p:cNvPr id="251" name=""/>
          <p:cNvSpPr/>
          <p:nvPr/>
        </p:nvSpPr>
        <p:spPr>
          <a:xfrm>
            <a:off x="0" y="870120"/>
            <a:ext cx="9719280" cy="5465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600" spc="-1" strike="noStrike">
                <a:solidFill>
                  <a:srgbClr val="000000"/>
                </a:solidFill>
                <a:latin typeface="Arial"/>
                <a:ea typeface="DejaVu Sans"/>
              </a:rPr>
              <a:t>The Virtual File System (VFS</a:t>
            </a:r>
            <a:r>
              <a:rPr b="0" lang="en-IN" sz="1600" spc="-1" strike="noStrike">
                <a:solidFill>
                  <a:srgbClr val="000000"/>
                </a:solidFill>
                <a:latin typeface="Arial"/>
                <a:ea typeface="DejaVu Sans"/>
              </a:rPr>
              <a: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Each of the file systems available on Linux differs in the details of its implementation. Such differences include, for example, the way in which the blocks of a file are allocated and the manner in which directories are organized. If every program that worked with files needed to understand the specific details of each file system, the task of writing programs that worked with all of the different file systems would benearly impossible. The virtual file system (VFS, sometimes also referred to as the virtual file switch) is a kernel feature that resolves this problem by creating an abstraction layer for file-system operations  </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ideas behind the VFS are straightforward:</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VFS defines a generic interface for file-system operations. All programs that work with files specify their operations in terms of this generic interface. Each file system provides an implementation for the VFS interface. Under this scheme, programs need to understand only the VFS interface and can ignore details of individual file-system implementations.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VFS interface includes operations corresponding to all of the usual system calls for working with file systems and directories, such as open(), read(), write(), lseek(), close(), truncate(), stat(), mount(), umount(), mmap(), mkdir(), link(), unlink(), symlink(), and rename().</a:t>
            </a:r>
            <a:endParaRPr b="0" lang="en-US" sz="1600" spc="-1" strike="noStrike">
              <a:solidFill>
                <a:srgbClr val="000000"/>
              </a:solidFill>
              <a:latin typeface="Arial"/>
            </a:endParaRPr>
          </a:p>
        </p:txBody>
      </p:sp>
      <p:pic>
        <p:nvPicPr>
          <p:cNvPr id="252" name="" descr=""/>
          <p:cNvPicPr/>
          <p:nvPr/>
        </p:nvPicPr>
        <p:blipFill>
          <a:blip r:embed="rId1"/>
          <a:stretch/>
        </p:blipFill>
        <p:spPr>
          <a:xfrm>
            <a:off x="4104000" y="4536000"/>
            <a:ext cx="5685480" cy="2875320"/>
          </a:xfrm>
          <a:prstGeom prst="rect">
            <a:avLst/>
          </a:prstGeom>
          <a:ln w="0">
            <a:noFill/>
          </a:ln>
        </p:spPr>
      </p:pic>
      <p:sp>
        <p:nvSpPr>
          <p:cNvPr id="253" name=""/>
          <p:cNvSpPr/>
          <p:nvPr/>
        </p:nvSpPr>
        <p:spPr>
          <a:xfrm>
            <a:off x="424800" y="4879440"/>
            <a:ext cx="2886480" cy="1027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500" spc="-1" strike="noStrike">
                <a:solidFill>
                  <a:srgbClr val="000000"/>
                </a:solidFill>
                <a:latin typeface="Arial"/>
                <a:ea typeface="DejaVu Sans"/>
              </a:rPr>
              <a:t>cat /proc/filesystems</a:t>
            </a:r>
            <a:endParaRPr b="0" lang="en-US" sz="1500" spc="-1" strike="noStrike">
              <a:solidFill>
                <a:srgbClr val="000000"/>
              </a:solidFill>
              <a:latin typeface="Arial"/>
            </a:endParaRPr>
          </a:p>
          <a:p>
            <a:pPr>
              <a:lnSpc>
                <a:spcPct val="100000"/>
              </a:lnSpc>
            </a:pPr>
            <a:r>
              <a:rPr b="1" lang="en-IN" sz="1500" spc="-1" strike="noStrike">
                <a:solidFill>
                  <a:srgbClr val="000000"/>
                </a:solidFill>
                <a:latin typeface="Arial"/>
                <a:ea typeface="DejaVu Sans"/>
              </a:rPr>
              <a:t>/proc</a:t>
            </a:r>
            <a:endParaRPr b="0" lang="en-US" sz="1500" spc="-1" strike="noStrike">
              <a:solidFill>
                <a:srgbClr val="000000"/>
              </a:solidFill>
              <a:latin typeface="Arial"/>
            </a:endParaRPr>
          </a:p>
          <a:p>
            <a:pPr>
              <a:lnSpc>
                <a:spcPct val="100000"/>
              </a:lnSpc>
            </a:pPr>
            <a:r>
              <a:rPr b="1" lang="en-IN" sz="1500" spc="-1" strike="noStrike">
                <a:solidFill>
                  <a:srgbClr val="000000"/>
                </a:solidFill>
                <a:latin typeface="Arial"/>
                <a:ea typeface="DejaVu Sans"/>
              </a:rPr>
              <a:t>/sys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pic>
        <p:nvPicPr>
          <p:cNvPr id="255" name="" descr=""/>
          <p:cNvPicPr/>
          <p:nvPr/>
        </p:nvPicPr>
        <p:blipFill>
          <a:blip r:embed="rId1"/>
          <a:stretch/>
        </p:blipFill>
        <p:spPr>
          <a:xfrm>
            <a:off x="52200" y="933480"/>
            <a:ext cx="10080360" cy="57337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307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2023-02-09T19:44:42Z</dcterms:created>
  <dc:creator/>
  <dc:description/>
  <dc:language>en-IN</dc:language>
  <cp:lastModifiedBy/>
  <dcterms:modified xsi:type="dcterms:W3CDTF">2025-11-09T23:23:15Z</dcterms:modified>
  <cp:revision>36</cp:revision>
  <dc:subject/>
  <dc:title>Blue Curve</dc:title>
</cp:coreProperties>
</file>

<file path=docProps/custom.xml><?xml version="1.0" encoding="utf-8"?>
<Properties xmlns="http://schemas.openxmlformats.org/officeDocument/2006/custom-properties" xmlns:vt="http://schemas.openxmlformats.org/officeDocument/2006/docPropsVTypes"/>
</file>