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888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1666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2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18333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440" cy="189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833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CustomShape 1"/>
          <p:cNvSpPr/>
          <p:nvPr/>
        </p:nvSpPr>
        <p:spPr>
          <a:xfrm>
            <a:off x="990720" y="1447920"/>
            <a:ext cx="7694640" cy="155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000000"/>
                </a:solidFill>
                <a:latin typeface="Calibri"/>
                <a:ea typeface="DejaVu Sans"/>
              </a:rPr>
              <a:t>Memory Management 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1" lang="en-US" sz="4800" spc="-1" strike="noStrike">
                <a:solidFill>
                  <a:srgbClr val="000000"/>
                </a:solidFill>
                <a:latin typeface="Calibri"/>
                <a:ea typeface="DejaVu Sans"/>
              </a:rPr>
              <a:t>	</a:t>
            </a:r>
            <a:r>
              <a:rPr b="1" lang="en-US" sz="4800" spc="-1" strike="noStrike">
                <a:solidFill>
                  <a:srgbClr val="000000"/>
                </a:solidFill>
                <a:latin typeface="Calibri"/>
                <a:ea typeface="DejaVu Sans"/>
              </a:rPr>
              <a:t>in Linux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2" descr=""/>
          <p:cNvPicPr/>
          <p:nvPr/>
        </p:nvPicPr>
        <p:blipFill>
          <a:blip r:embed="rId1"/>
          <a:stretch/>
        </p:blipFill>
        <p:spPr>
          <a:xfrm>
            <a:off x="0" y="838080"/>
            <a:ext cx="8990280" cy="5180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"/>
          <p:cNvPicPr/>
          <p:nvPr/>
        </p:nvPicPr>
        <p:blipFill>
          <a:blip r:embed="rId1"/>
          <a:stretch/>
        </p:blipFill>
        <p:spPr>
          <a:xfrm>
            <a:off x="257040" y="976320"/>
            <a:ext cx="8628120" cy="4903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 descr=""/>
          <p:cNvPicPr/>
          <p:nvPr/>
        </p:nvPicPr>
        <p:blipFill>
          <a:blip r:embed="rId1"/>
          <a:stretch/>
        </p:blipFill>
        <p:spPr>
          <a:xfrm>
            <a:off x="0" y="914400"/>
            <a:ext cx="8990280" cy="4332600"/>
          </a:xfrm>
          <a:prstGeom prst="rect">
            <a:avLst/>
          </a:prstGeom>
          <a:ln w="0">
            <a:noFill/>
          </a:ln>
        </p:spPr>
      </p:pic>
      <p:sp>
        <p:nvSpPr>
          <p:cNvPr id="68" name="CustomShape 1"/>
          <p:cNvSpPr/>
          <p:nvPr/>
        </p:nvSpPr>
        <p:spPr>
          <a:xfrm>
            <a:off x="304920" y="457200"/>
            <a:ext cx="7694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  <a:ea typeface="DejaVu Sans"/>
              </a:rPr>
              <a:t>Memory Mapped I/O Vs  Port I/O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CustomShape 2"/>
          <p:cNvSpPr/>
          <p:nvPr/>
        </p:nvSpPr>
        <p:spPr>
          <a:xfrm>
            <a:off x="533520" y="5270040"/>
            <a:ext cx="617076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Cat /proc/ioports  --- To display port mapped I/O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Cat /proc/iomem  --  To display memory mapped I/O Ports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3" descr=""/>
          <p:cNvPicPr/>
          <p:nvPr/>
        </p:nvPicPr>
        <p:blipFill>
          <a:blip r:embed="rId1"/>
          <a:stretch/>
        </p:blipFill>
        <p:spPr>
          <a:xfrm>
            <a:off x="152280" y="1295280"/>
            <a:ext cx="8685360" cy="5256360"/>
          </a:xfrm>
          <a:prstGeom prst="rect">
            <a:avLst/>
          </a:prstGeom>
          <a:ln w="0">
            <a:noFill/>
          </a:ln>
        </p:spPr>
      </p:pic>
      <p:sp>
        <p:nvSpPr>
          <p:cNvPr id="71" name="CustomShape 1"/>
          <p:cNvSpPr/>
          <p:nvPr/>
        </p:nvSpPr>
        <p:spPr>
          <a:xfrm>
            <a:off x="762120" y="304920"/>
            <a:ext cx="58658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US" sz="3200" spc="-1" strike="noStrike">
                <a:solidFill>
                  <a:srgbClr val="000000"/>
                </a:solidFill>
                <a:latin typeface="Calibri"/>
                <a:ea typeface="DejaVu Sans"/>
              </a:rPr>
              <a:t>Requesting I/O ports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CustomShape 1"/>
          <p:cNvSpPr/>
          <p:nvPr/>
        </p:nvSpPr>
        <p:spPr>
          <a:xfrm>
            <a:off x="685800" y="228600"/>
            <a:ext cx="7847280" cy="530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Application can access port mapped devices in 2 ways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Running as root application using IOPERM system call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2000">
              <a:lnSpc>
                <a:spcPct val="1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Using operation on the special device file /dev/port (Old method)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addr = 0x378;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int result = ioperm(addr,5,1);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unsigned char data;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data = inb(addr);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outb(data,addr);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short data;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data = inw(addr);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outw(data,addr);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long data;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data = inl(addr);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outl(data,addr);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 descr=""/>
          <p:cNvPicPr/>
          <p:nvPr/>
        </p:nvPicPr>
        <p:blipFill>
          <a:blip r:embed="rId1"/>
          <a:stretch/>
        </p:blipFill>
        <p:spPr>
          <a:xfrm>
            <a:off x="157320" y="914400"/>
            <a:ext cx="8828280" cy="4170600"/>
          </a:xfrm>
          <a:prstGeom prst="rect">
            <a:avLst/>
          </a:prstGeom>
          <a:ln w="0">
            <a:noFill/>
          </a:ln>
        </p:spPr>
      </p:pic>
      <p:sp>
        <p:nvSpPr>
          <p:cNvPr id="74" name="CustomShape 1"/>
          <p:cNvSpPr/>
          <p:nvPr/>
        </p:nvSpPr>
        <p:spPr>
          <a:xfrm>
            <a:off x="533520" y="304920"/>
            <a:ext cx="40370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Accessing IO Ports: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 descr=""/>
          <p:cNvPicPr/>
          <p:nvPr/>
        </p:nvPicPr>
        <p:blipFill>
          <a:blip r:embed="rId1"/>
          <a:stretch/>
        </p:blipFill>
        <p:spPr>
          <a:xfrm>
            <a:off x="33480" y="1276200"/>
            <a:ext cx="9075960" cy="4894560"/>
          </a:xfrm>
          <a:prstGeom prst="rect">
            <a:avLst/>
          </a:prstGeom>
          <a:ln w="0">
            <a:noFill/>
          </a:ln>
        </p:spPr>
      </p:pic>
      <p:sp>
        <p:nvSpPr>
          <p:cNvPr id="76" name="CustomShape 1"/>
          <p:cNvSpPr/>
          <p:nvPr/>
        </p:nvSpPr>
        <p:spPr>
          <a:xfrm>
            <a:off x="533520" y="228600"/>
            <a:ext cx="571356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Mapping IO Ports in Virtual Memory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 descr=""/>
          <p:cNvPicPr/>
          <p:nvPr/>
        </p:nvPicPr>
        <p:blipFill>
          <a:blip r:embed="rId1"/>
          <a:stretch/>
        </p:blipFill>
        <p:spPr>
          <a:xfrm>
            <a:off x="85680" y="866880"/>
            <a:ext cx="8971200" cy="5123160"/>
          </a:xfrm>
          <a:prstGeom prst="rect">
            <a:avLst/>
          </a:prstGeom>
          <a:ln w="0">
            <a:noFill/>
          </a:ln>
        </p:spPr>
      </p:pic>
      <p:sp>
        <p:nvSpPr>
          <p:cNvPr id="78" name="CustomShape 1"/>
          <p:cNvSpPr/>
          <p:nvPr/>
        </p:nvSpPr>
        <p:spPr>
          <a:xfrm>
            <a:off x="533520" y="228600"/>
            <a:ext cx="5637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Accessing I/O memory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3" descr=""/>
          <p:cNvPicPr/>
          <p:nvPr/>
        </p:nvPicPr>
        <p:blipFill>
          <a:blip r:embed="rId1"/>
          <a:stretch/>
        </p:blipFill>
        <p:spPr>
          <a:xfrm>
            <a:off x="433440" y="1209600"/>
            <a:ext cx="8275680" cy="4437360"/>
          </a:xfrm>
          <a:prstGeom prst="rect">
            <a:avLst/>
          </a:prstGeom>
          <a:ln w="0">
            <a:noFill/>
          </a:ln>
        </p:spPr>
      </p:pic>
      <p:sp>
        <p:nvSpPr>
          <p:cNvPr id="80" name="CustomShape 1"/>
          <p:cNvSpPr/>
          <p:nvPr/>
        </p:nvSpPr>
        <p:spPr>
          <a:xfrm>
            <a:off x="533520" y="228600"/>
            <a:ext cx="5637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Port Mapped I/O Execution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CustomShape 2"/>
          <p:cNvSpPr/>
          <p:nvPr/>
        </p:nvSpPr>
        <p:spPr>
          <a:xfrm>
            <a:off x="1143000" y="5648400"/>
            <a:ext cx="989280" cy="5986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CustomShape 3"/>
          <p:cNvSpPr/>
          <p:nvPr/>
        </p:nvSpPr>
        <p:spPr>
          <a:xfrm>
            <a:off x="2362320" y="5648400"/>
            <a:ext cx="5637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Go through CMOS driver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stomShape 1"/>
          <p:cNvSpPr/>
          <p:nvPr/>
        </p:nvSpPr>
        <p:spPr>
          <a:xfrm>
            <a:off x="46800" y="0"/>
            <a:ext cx="85208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Requesting I/O Memory in User Space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CustomShape 2"/>
          <p:cNvSpPr/>
          <p:nvPr/>
        </p:nvSpPr>
        <p:spPr>
          <a:xfrm>
            <a:off x="152280" y="729360"/>
            <a:ext cx="8837640" cy="6124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222222"/>
                </a:solidFill>
                <a:latin typeface="Calibri"/>
                <a:ea typeface="DejaVu Sans"/>
              </a:rPr>
              <a:t>/dev/mem Provides access to the computer's physical memory.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void *mmap(void *</a:t>
            </a:r>
            <a:r>
              <a:rPr b="0" i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addr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, size_t </a:t>
            </a:r>
            <a:r>
              <a:rPr b="0" i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length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, int </a:t>
            </a:r>
            <a:r>
              <a:rPr b="0" i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prot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, int </a:t>
            </a:r>
            <a:r>
              <a:rPr b="0" i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flags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int </a:t>
            </a:r>
            <a:r>
              <a:rPr b="0" i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fd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, off_t </a:t>
            </a:r>
            <a:r>
              <a:rPr b="0" i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offset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); -&gt; man mmap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uint8_t *virt_addr;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fd = open("/dev/mem", O_RDWR);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if (-1 == fd)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{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perror("Mem open failed:");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return -1;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     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virt_addr = (uint8_t *)mmap(NULL, size , PROT_READ | PROT_WRITE, MAP_SHARED, fd, base_addr);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if (NULL == virt_addr)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{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perror("mmap failed:");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       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return -1;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    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                            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Go to mmap and mmap  with  /dev/mem examples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CustomShape 3"/>
          <p:cNvSpPr/>
          <p:nvPr/>
        </p:nvSpPr>
        <p:spPr>
          <a:xfrm>
            <a:off x="533520" y="6324480"/>
            <a:ext cx="1141560" cy="420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f81bd"/>
          </a:solidFill>
          <a:ln>
            <a:solidFill>
              <a:srgbClr val="3a5f8b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2" descr=""/>
          <p:cNvPicPr/>
          <p:nvPr/>
        </p:nvPicPr>
        <p:blipFill>
          <a:blip r:embed="rId1"/>
          <a:stretch/>
        </p:blipFill>
        <p:spPr>
          <a:xfrm>
            <a:off x="0" y="947880"/>
            <a:ext cx="9142560" cy="5299200"/>
          </a:xfrm>
          <a:prstGeom prst="rect">
            <a:avLst/>
          </a:prstGeom>
          <a:ln w="0">
            <a:noFill/>
          </a:ln>
        </p:spPr>
      </p:pic>
      <p:sp>
        <p:nvSpPr>
          <p:cNvPr id="87" name="CustomShape 1"/>
          <p:cNvSpPr/>
          <p:nvPr/>
        </p:nvSpPr>
        <p:spPr>
          <a:xfrm>
            <a:off x="533520" y="228600"/>
            <a:ext cx="662796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Requesting I/O Memory in Kernel Space 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1988640" y="9720"/>
            <a:ext cx="5207040" cy="685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2" descr=""/>
          <p:cNvPicPr/>
          <p:nvPr/>
        </p:nvPicPr>
        <p:blipFill>
          <a:blip r:embed="rId1"/>
          <a:stretch/>
        </p:blipFill>
        <p:spPr>
          <a:xfrm>
            <a:off x="52200" y="576000"/>
            <a:ext cx="9018720" cy="5142240"/>
          </a:xfrm>
          <a:prstGeom prst="rect">
            <a:avLst/>
          </a:prstGeom>
          <a:ln w="0">
            <a:noFill/>
          </a:ln>
        </p:spPr>
      </p:pic>
      <p:sp>
        <p:nvSpPr>
          <p:cNvPr id="90" name="CustomShape 1"/>
          <p:cNvSpPr/>
          <p:nvPr/>
        </p:nvSpPr>
        <p:spPr>
          <a:xfrm>
            <a:off x="291960" y="72000"/>
            <a:ext cx="84189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Mapping I/O Memory in Virtual address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CustomShape 2"/>
          <p:cNvSpPr/>
          <p:nvPr/>
        </p:nvSpPr>
        <p:spPr>
          <a:xfrm>
            <a:off x="216000" y="5472000"/>
            <a:ext cx="8509680" cy="11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devm_ioremap_resource() managed API performs the job of (validity) checking the requested I/O memory region, requesting it from the kernel (internally via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the devm_request_mem_region() API), and remapping it (internally via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devm_ioremap() 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CustomShape 1"/>
          <p:cNvSpPr/>
          <p:nvPr/>
        </p:nvSpPr>
        <p:spPr>
          <a:xfrm>
            <a:off x="792000" y="469440"/>
            <a:ext cx="6622920" cy="11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char val;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void __iomem *base = devm_ioremap_resource(dev, r);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[...]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val = ioread8(base+3);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CustomShape 2"/>
          <p:cNvSpPr/>
          <p:nvPr/>
        </p:nvSpPr>
        <p:spPr>
          <a:xfrm>
            <a:off x="22680" y="1877760"/>
            <a:ext cx="9264600" cy="31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memory barrier.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What does it mean?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Sometimes, a program flow becomes unknown to the human programmer as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the microprocessor, the memory controllers, and the compiler can reorder memory reads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and writes. In the majority of cases, these "tricks" remain benign and optimized. But there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are cases – typically across hardware boundaries, such as CPU cores on multicore systems,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CPU to peripheral device, and vice versa on UniProcessor (UP) – where this reordering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should not occur; the original and intended memory load and store sequences must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be honored. The memory barrier (typically machine-level instructions embedded within the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*mb*() macros) is a means to suppress such reordering; it's a way to force both the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CPU/memory controllers and the compiler to order instruction/data in a desired sequence.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ustomShape 1"/>
          <p:cNvSpPr/>
          <p:nvPr/>
        </p:nvSpPr>
        <p:spPr>
          <a:xfrm>
            <a:off x="72000" y="229680"/>
            <a:ext cx="8783280" cy="264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Memory barriers can be placed into the code path by using the following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macros: #include &lt;asm/barrier.h&gt; 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rmb() : Inserts a read (or load) memory barrier into the instruction stream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wmb() : Inserts a write (or store) memory barrier into the instruction stream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mb() :  A general memory barrier gives a guarantee that all the LOAD and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STORE operations specified before the barrier will appear to happen before all the LOAD and STORE operations specified after the barrier with respect to the other components of the system."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CustomShape 2"/>
          <p:cNvSpPr/>
          <p:nvPr/>
        </p:nvSpPr>
        <p:spPr>
          <a:xfrm>
            <a:off x="720000" y="2415960"/>
            <a:ext cx="7415280" cy="444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// drivers/net/ethernet/realtek/8139cp.c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[ ... ]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static netdev_tx_t cp_start_xmit([...])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{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[ ... ]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len = skb-&gt;len;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mapping = dma_map_single(&amp;cp-&gt;pdev-&gt;dev, skb-&gt;data, len,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PCI_DMA_TODEVICE);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[ ... ]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struct cp_desc *txd;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[ ... ]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txd-&gt;opts2 = opts2;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txd-&gt;addr = cpu_to_le64(mapping);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wmb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();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opts1 |= eor | len | FirstFrag | LastFrag;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txd-&gt;opts1 = cpu_to_le32(opts1);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wmb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();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413</TotalTime>
  <Application>LibreOffice/24.2.7.2$Linux_X86_64 LibreOffice_project/420$Build-2</Application>
  <AppVersion>15.0000</AppVersion>
  <Words>260</Words>
  <Paragraphs>52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RAMA KRISHNA KATTA (ramakatt)</dc:creator>
  <dc:description/>
  <dc:language>en-IN</dc:language>
  <cp:lastModifiedBy/>
  <dcterms:modified xsi:type="dcterms:W3CDTF">2026-01-14T15:17:53Z</dcterms:modified>
  <cp:revision>63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0</vt:i4>
  </property>
  <property fmtid="{D5CDD505-2E9C-101B-9397-08002B2CF9AE}" pid="3" name="HyperlinksChanged">
    <vt:bool>0</vt:bool>
  </property>
  <property fmtid="{D5CDD505-2E9C-101B-9397-08002B2CF9AE}" pid="4" name="LinksUpToDate">
    <vt:bool>0</vt:bool>
  </property>
  <property fmtid="{D5CDD505-2E9C-101B-9397-08002B2CF9AE}" pid="5" name="MMClips">
    <vt:i4>0</vt:i4>
  </property>
  <property fmtid="{D5CDD505-2E9C-101B-9397-08002B2CF9AE}" pid="6" name="Notes">
    <vt:i4>0</vt:i4>
  </property>
  <property fmtid="{D5CDD505-2E9C-101B-9397-08002B2CF9AE}" pid="7" name="PresentationFormat">
    <vt:lpwstr>On-screen Show (4:3)</vt:lpwstr>
  </property>
  <property fmtid="{D5CDD505-2E9C-101B-9397-08002B2CF9AE}" pid="8" name="ScaleCrop">
    <vt:bool>0</vt:bool>
  </property>
  <property fmtid="{D5CDD505-2E9C-101B-9397-08002B2CF9AE}" pid="9" name="ShareDoc">
    <vt:bool>0</vt:bool>
  </property>
  <property fmtid="{D5CDD505-2E9C-101B-9397-08002B2CF9AE}" pid="10" name="Slides">
    <vt:i4>13</vt:i4>
  </property>
</Properties>
</file>