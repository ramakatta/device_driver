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8"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entered Text">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a:t>
            </a:r>
            <a:r>
              <a:rPr b="0" lang="en-US" sz="1800" spc="-1" strike="noStrike">
                <a:solidFill>
                  <a:srgbClr val="000000"/>
                </a:solidFill>
                <a:latin typeface="Arial"/>
              </a:rPr>
              <a:t>the title text </a:t>
            </a:r>
            <a:r>
              <a:rPr b="0" lang="en-US" sz="1800" spc="-1" strike="noStrike">
                <a:solidFill>
                  <a:srgbClr val="000000"/>
                </a:solidFill>
                <a:latin typeface="Arial"/>
              </a:rPr>
              <a:t>format</a:t>
            </a:r>
            <a:endParaRPr b="0" lang="en-US" sz="1800" spc="-1" strike="noStrike">
              <a:solidFill>
                <a:srgbClr val="000000"/>
              </a:solidFill>
              <a:latin typeface="Arial"/>
            </a:endParaRPr>
          </a:p>
        </p:txBody>
      </p:sp>
      <p:sp>
        <p:nvSpPr>
          <p:cNvPr id="15"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a:t>
            </a:r>
            <a:r>
              <a:rPr b="0" lang="en-US" sz="4400" spc="-1" strike="noStrike">
                <a:solidFill>
                  <a:srgbClr val="000000"/>
                </a:solidFill>
                <a:latin typeface="Arial"/>
              </a:rPr>
              <a:t>the title text </a:t>
            </a:r>
            <a:r>
              <a:rPr b="0" lang="en-US" sz="4400" spc="-1" strike="noStrike">
                <a:solidFill>
                  <a:srgbClr val="000000"/>
                </a:solidFill>
                <a:latin typeface="Arial"/>
              </a:rPr>
              <a:t>format</a:t>
            </a:r>
            <a:endParaRPr b="0" lang="en-US" sz="4400" spc="-1" strike="noStrike">
              <a:solidFill>
                <a:srgbClr val="000000"/>
              </a:solidFill>
              <a:latin typeface="Arial"/>
            </a:endParaRPr>
          </a:p>
        </p:txBody>
      </p:sp>
      <p:sp>
        <p:nvSpPr>
          <p:cNvPr id="25"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a:t>
            </a:r>
            <a:r>
              <a:rPr b="0" lang="en-US" sz="1800" spc="-1" strike="noStrike">
                <a:solidFill>
                  <a:srgbClr val="000000"/>
                </a:solidFill>
                <a:latin typeface="Arial"/>
              </a:rPr>
              <a:t>format</a:t>
            </a:r>
            <a:endParaRPr b="0" lang="en-US" sz="1800" spc="-1" strike="noStrike">
              <a:solidFill>
                <a:srgbClr val="000000"/>
              </a:solidFill>
              <a:latin typeface="Arial"/>
            </a:endParaRPr>
          </a:p>
        </p:txBody>
      </p:sp>
      <p:sp>
        <p:nvSpPr>
          <p:cNvPr id="27"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1"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6"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3"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4"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5"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1"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3"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CustomShape 1"/>
          <p:cNvSpPr/>
          <p:nvPr/>
        </p:nvSpPr>
        <p:spPr>
          <a:xfrm>
            <a:off x="685800" y="2130480"/>
            <a:ext cx="7768440" cy="146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Times New Roman"/>
                <a:ea typeface="WenQuanYi Micro Hei"/>
              </a:rPr>
              <a:t>File and I/O services</a:t>
            </a:r>
            <a:endParaRPr b="0" lang="en-US" sz="44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Times New Roman"/>
                <a:ea typeface="WenQuanYi Micro Hei"/>
              </a:rPr>
              <a:t>(System calls)</a:t>
            </a:r>
            <a:endParaRPr b="0" lang="en-US" sz="4400" spc="-1" strike="noStrike">
              <a:solidFill>
                <a:srgbClr val="000000"/>
              </a:solidFill>
              <a:latin typeface="Arial"/>
            </a:endParaRPr>
          </a:p>
        </p:txBody>
      </p:sp>
      <p:sp>
        <p:nvSpPr>
          <p:cNvPr id="59" name="CustomShape 2"/>
          <p:cNvSpPr/>
          <p:nvPr/>
        </p:nvSpPr>
        <p:spPr>
          <a:xfrm>
            <a:off x="1371600" y="3886200"/>
            <a:ext cx="6396840" cy="17485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a typeface="DejaVu Sans"/>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 name="Picture 2" descr=""/>
          <p:cNvPicPr/>
          <p:nvPr/>
        </p:nvPicPr>
        <p:blipFill>
          <a:blip r:embed="rId1"/>
          <a:stretch/>
        </p:blipFill>
        <p:spPr>
          <a:xfrm>
            <a:off x="2433960" y="1371600"/>
            <a:ext cx="6711120" cy="5025240"/>
          </a:xfrm>
          <a:prstGeom prst="rect">
            <a:avLst/>
          </a:prstGeom>
          <a:ln w="0">
            <a:noFill/>
          </a:ln>
        </p:spPr>
      </p:pic>
      <p:sp>
        <p:nvSpPr>
          <p:cNvPr id="61" name="CustomShape 1"/>
          <p:cNvSpPr/>
          <p:nvPr/>
        </p:nvSpPr>
        <p:spPr>
          <a:xfrm>
            <a:off x="0" y="990720"/>
            <a:ext cx="2430000" cy="14659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Times New Roman"/>
                <a:ea typeface="WenQuanYi Micro Hei"/>
              </a:rPr>
              <a:t>      </a:t>
            </a:r>
            <a:r>
              <a:rPr b="0" lang="en-US" sz="2000" spc="-1" strike="noStrike">
                <a:solidFill>
                  <a:srgbClr val="000000"/>
                </a:solidFill>
                <a:latin typeface="Times New Roman"/>
                <a:ea typeface="WenQuanYi Micro Hei"/>
              </a:rPr>
              <a:t>Applications</a:t>
            </a:r>
            <a:endParaRPr b="0" lang="en-US" sz="2000" spc="-1" strike="noStrike">
              <a:solidFill>
                <a:srgbClr val="000000"/>
              </a:solidFill>
              <a:latin typeface="Arial"/>
            </a:endParaRPr>
          </a:p>
        </p:txBody>
      </p:sp>
      <p:sp>
        <p:nvSpPr>
          <p:cNvPr id="62" name="CustomShape 2"/>
          <p:cNvSpPr/>
          <p:nvPr/>
        </p:nvSpPr>
        <p:spPr>
          <a:xfrm>
            <a:off x="2057400" y="1600200"/>
            <a:ext cx="372600" cy="300960"/>
          </a:xfrm>
          <a:prstGeom prst="rightArrow">
            <a:avLst>
              <a:gd name="adj1" fmla="val 50000"/>
              <a:gd name="adj2" fmla="val 50000"/>
            </a:avLst>
          </a:prstGeom>
          <a:solidFill>
            <a:srgbClr val="00b8ff"/>
          </a:solidFill>
          <a:ln w="936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63" name="CustomShape 3"/>
          <p:cNvSpPr/>
          <p:nvPr/>
        </p:nvSpPr>
        <p:spPr>
          <a:xfrm>
            <a:off x="-76320" y="2590920"/>
            <a:ext cx="2430000" cy="14659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Times New Roman"/>
                <a:ea typeface="WenQuanYi Micro Hei"/>
              </a:rPr>
              <a:t>               </a:t>
            </a:r>
            <a:r>
              <a:rPr b="0" lang="en-US" sz="2000" spc="-1" strike="noStrike">
                <a:solidFill>
                  <a:srgbClr val="000000"/>
                </a:solidFill>
                <a:latin typeface="Times New Roman"/>
                <a:ea typeface="WenQuanYi Micro Hei"/>
              </a:rPr>
              <a:t>Kernel</a:t>
            </a:r>
            <a:endParaRPr b="0" lang="en-US" sz="2000" spc="-1" strike="noStrike">
              <a:solidFill>
                <a:srgbClr val="000000"/>
              </a:solidFill>
              <a:latin typeface="Arial"/>
            </a:endParaRPr>
          </a:p>
        </p:txBody>
      </p:sp>
      <p:sp>
        <p:nvSpPr>
          <p:cNvPr id="64" name="CustomShape 4"/>
          <p:cNvSpPr/>
          <p:nvPr/>
        </p:nvSpPr>
        <p:spPr>
          <a:xfrm>
            <a:off x="1873440" y="3192480"/>
            <a:ext cx="372600" cy="300960"/>
          </a:xfrm>
          <a:prstGeom prst="rightArrow">
            <a:avLst>
              <a:gd name="adj1" fmla="val 50000"/>
              <a:gd name="adj2" fmla="val 50000"/>
            </a:avLst>
          </a:prstGeom>
          <a:solidFill>
            <a:srgbClr val="00b8ff"/>
          </a:solidFill>
          <a:ln w="9360">
            <a:solidFill>
              <a:srgbClr val="000000"/>
            </a:solidFill>
            <a:round/>
          </a:ln>
        </p:spPr>
        <p:style>
          <a:lnRef idx="0"/>
          <a:fillRef idx="0"/>
          <a:effectRef idx="0"/>
          <a:fontRef idx="minor"/>
        </p:style>
        <p:txBody>
          <a:bodyPr lIns="90000" rIns="90000" tIns="75240" bIns="75240" anchor="t">
            <a:noAutofit/>
          </a:bodyPr>
          <a:p>
            <a:pPr>
              <a:lnSpc>
                <a:spcPct val="100000"/>
              </a:lnSpc>
              <a:tabLst>
                <a:tab algn="l" pos="0"/>
              </a:tabLst>
            </a:pPr>
            <a:r>
              <a:rPr b="0" lang="en-US" sz="2400" spc="-1" strike="noStrike">
                <a:solidFill>
                  <a:srgbClr val="ffffff"/>
                </a:solidFill>
                <a:latin typeface="Times New Roman"/>
                <a:ea typeface="DejaVu Sans"/>
              </a:rPr>
              <a:t>  </a:t>
            </a:r>
            <a:endParaRPr b="0" lang="en-US" sz="2400" spc="-1" strike="noStrike">
              <a:solidFill>
                <a:srgbClr val="ffffff"/>
              </a:solidFill>
              <a:latin typeface="Arial"/>
            </a:endParaRPr>
          </a:p>
        </p:txBody>
      </p:sp>
      <p:sp>
        <p:nvSpPr>
          <p:cNvPr id="65" name="CustomShape 5"/>
          <p:cNvSpPr/>
          <p:nvPr/>
        </p:nvSpPr>
        <p:spPr>
          <a:xfrm>
            <a:off x="1833120" y="5257800"/>
            <a:ext cx="372600" cy="300960"/>
          </a:xfrm>
          <a:prstGeom prst="rightArrow">
            <a:avLst>
              <a:gd name="adj1" fmla="val 50000"/>
              <a:gd name="adj2" fmla="val 50000"/>
            </a:avLst>
          </a:prstGeom>
          <a:solidFill>
            <a:srgbClr val="00b8ff"/>
          </a:solidFill>
          <a:ln w="936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66" name="CustomShape 6"/>
          <p:cNvSpPr/>
          <p:nvPr/>
        </p:nvSpPr>
        <p:spPr>
          <a:xfrm>
            <a:off x="76320" y="4626000"/>
            <a:ext cx="2430000" cy="1465920"/>
          </a:xfrm>
          <a:prstGeom prst="rect">
            <a:avLst/>
          </a:prstGeom>
          <a:noFill/>
          <a:ln w="0">
            <a:noFill/>
          </a:ln>
        </p:spPr>
        <p:style>
          <a:lnRef idx="0"/>
          <a:fillRef idx="0"/>
          <a:effectRef idx="0"/>
          <a:fontRef idx="minor"/>
        </p:style>
        <p:txBody>
          <a:bodyPr lIns="90000" rIns="90000" tIns="45000" bIns="450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Times New Roman"/>
                <a:ea typeface="WenQuanYi Micro Hei"/>
              </a:rPr>
              <a:t>      </a:t>
            </a:r>
            <a:r>
              <a:rPr b="0" lang="en-US" sz="2000" spc="-1" strike="noStrike">
                <a:solidFill>
                  <a:srgbClr val="000000"/>
                </a:solidFill>
                <a:latin typeface="Times New Roman"/>
                <a:ea typeface="WenQuanYi Micro Hei"/>
              </a:rPr>
              <a:t>Hardware</a:t>
            </a:r>
            <a:endParaRPr b="0" lang="en-US" sz="2000" spc="-1" strike="noStrike">
              <a:solidFill>
                <a:srgbClr val="000000"/>
              </a:solidFill>
              <a:latin typeface="Arial"/>
            </a:endParaRPr>
          </a:p>
        </p:txBody>
      </p:sp>
      <p:sp>
        <p:nvSpPr>
          <p:cNvPr id="67" name="CustomShape 7"/>
          <p:cNvSpPr/>
          <p:nvPr/>
        </p:nvSpPr>
        <p:spPr>
          <a:xfrm>
            <a:off x="914400" y="217440"/>
            <a:ext cx="7920720" cy="1614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000" spc="-1" strike="noStrike">
                <a:solidFill>
                  <a:srgbClr val="000000"/>
                </a:solidFill>
                <a:latin typeface="Calibri"/>
                <a:ea typeface="DejaVu Sans"/>
              </a:rPr>
              <a:t>The following diagram shows the three important layers of a System. </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Applications</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Kernel</a:t>
            </a:r>
            <a:endParaRPr b="0" lang="en-US" sz="2000" spc="-1" strike="noStrike">
              <a:solidFill>
                <a:srgbClr val="000000"/>
              </a:solidFill>
              <a:latin typeface="Arial"/>
            </a:endParaRPr>
          </a:p>
          <a:p>
            <a:pPr>
              <a:lnSpc>
                <a:spcPct val="100000"/>
              </a:lnSpc>
            </a:pPr>
            <a:r>
              <a:rPr b="0" lang="en-US" sz="2000" spc="-1" strike="noStrike">
                <a:solidFill>
                  <a:srgbClr val="000000"/>
                </a:solidFill>
                <a:latin typeface="Calibri"/>
                <a:ea typeface="DejaVu Sans"/>
              </a:rPr>
              <a:t> </a:t>
            </a:r>
            <a:r>
              <a:rPr b="0" lang="en-US" sz="2000" spc="-1" strike="noStrike">
                <a:solidFill>
                  <a:srgbClr val="000000"/>
                </a:solidFill>
                <a:latin typeface="Calibri"/>
                <a:ea typeface="DejaVu Sans"/>
              </a:rPr>
              <a:t>Hardware</a:t>
            </a:r>
            <a:endParaRPr b="0" lang="en-US" sz="2000" spc="-1" strike="noStrike">
              <a:solidFill>
                <a:srgbClr val="000000"/>
              </a:solidFill>
              <a:latin typeface="Arial"/>
            </a:endParaRPr>
          </a:p>
        </p:txBody>
      </p:sp>
      <p:pic>
        <p:nvPicPr>
          <p:cNvPr id="68" name="Picture 2" descr=""/>
          <p:cNvPicPr/>
          <p:nvPr/>
        </p:nvPicPr>
        <p:blipFill>
          <a:blip r:embed="rId2"/>
          <a:stretch/>
        </p:blipFill>
        <p:spPr>
          <a:xfrm>
            <a:off x="0" y="0"/>
            <a:ext cx="9140040" cy="6206400"/>
          </a:xfrm>
          <a:prstGeom prst="rect">
            <a:avLst/>
          </a:prstGeom>
          <a:ln w="0">
            <a:noFill/>
          </a:ln>
        </p:spPr>
      </p:pic>
      <p:sp>
        <p:nvSpPr>
          <p:cNvPr id="69" name="CustomShape 8"/>
          <p:cNvSpPr/>
          <p:nvPr/>
        </p:nvSpPr>
        <p:spPr>
          <a:xfrm>
            <a:off x="3124080" y="6356520"/>
            <a:ext cx="2891520" cy="361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IN" sz="1200" spc="-1" strike="noStrike">
                <a:solidFill>
                  <a:srgbClr val="898989"/>
                </a:solidFill>
                <a:latin typeface="Calibri"/>
                <a:ea typeface="DejaVu Sans"/>
              </a:rPr>
              <a:t>Linux Programming Essentials</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CustomShape 1"/>
          <p:cNvSpPr/>
          <p:nvPr/>
        </p:nvSpPr>
        <p:spPr>
          <a:xfrm>
            <a:off x="228600" y="7560"/>
            <a:ext cx="8759160" cy="8593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DejaVu Sans"/>
              </a:rPr>
              <a:t>A </a:t>
            </a:r>
            <a:r>
              <a:rPr b="0" i="1" lang="en-US" sz="1800" spc="-1" strike="noStrike">
                <a:solidFill>
                  <a:srgbClr val="000000"/>
                </a:solidFill>
                <a:latin typeface="Calibri"/>
                <a:ea typeface="DejaVu Sans"/>
              </a:rPr>
              <a:t>system call </a:t>
            </a:r>
            <a:r>
              <a:rPr b="0" lang="en-US" sz="1800" spc="-1" strike="noStrike">
                <a:solidFill>
                  <a:srgbClr val="000000"/>
                </a:solidFill>
                <a:latin typeface="Calibri"/>
                <a:ea typeface="DejaVu Sans"/>
              </a:rPr>
              <a:t>is implemented in the Linux kernel. When a program makes a system call, the arguments are packaged up and handed to the kernel, which takes over executionof the program until the call completes.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A system call isn’t an ordinary function call, and a special procedure is required to transfer control to the kernel. However, the C library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(the implementation of the standard C library provided with Unix systems) wraps system calls with functions so that you can call them easily.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Low-level I/O functions such as open and read  are examples of system calls on Linux.</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A system call is used by application (user) programs to request service from the operating system. The following statements illustrate why system calls are needed.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An operating system can access a system's hardware directly, but a user program is not given direct access to the hardware. This is done so that the kernel can keep the system safe and secure from malicious user programs. But often, a user program requires some information from the hardware (e.g., from a web camera to show you the picture),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but it cannot get the information directly. So, it requests the operating system to supply it the information. This request is made by using an appropriate system call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A system call executes in the kernel mode. Every system call has a number associated with it.  This number is passed to the kernel and that's how the kernel knows which system call was made.  When a user program issues a system call, it is actually calling a library routine. The library routine  issues a trap to the Linux operating system by executing INT 0x80 assembly instruction.  It also passes the system call number to the kernel using the EAX register.  The arguments of the system call are also passed to the kernel using other registers (EBX, ECX, etc.).  The kernel executes the system call and returns the result to the user program using a register.  If the system call needs to supply the user program with large amounts of data, it will  use another mechanism (e.g., copy_to_user call).</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CustomShape 1"/>
          <p:cNvSpPr/>
          <p:nvPr/>
        </p:nvSpPr>
        <p:spPr>
          <a:xfrm>
            <a:off x="1879560" y="193680"/>
            <a:ext cx="3373560" cy="4590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400" spc="-1" strike="noStrike" u="sng">
                <a:solidFill>
                  <a:srgbClr val="000000"/>
                </a:solidFill>
                <a:uFillTx/>
                <a:latin typeface="Times New Roman"/>
                <a:ea typeface="WenQuanYi Micro Hei"/>
              </a:rPr>
              <a:t>System calls &amp; ‘C’ library</a:t>
            </a:r>
            <a:endParaRPr b="0" lang="en-US" sz="2400" spc="-1" strike="noStrike">
              <a:solidFill>
                <a:srgbClr val="000000"/>
              </a:solidFill>
              <a:latin typeface="Arial"/>
            </a:endParaRPr>
          </a:p>
        </p:txBody>
      </p:sp>
      <p:sp>
        <p:nvSpPr>
          <p:cNvPr id="72" name="CustomShape 2"/>
          <p:cNvSpPr/>
          <p:nvPr/>
        </p:nvSpPr>
        <p:spPr>
          <a:xfrm>
            <a:off x="-12600" y="760680"/>
            <a:ext cx="9515160" cy="5581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A </a:t>
            </a:r>
            <a:r>
              <a:rPr b="0" i="1" lang="en-US" sz="2000" spc="-1" strike="noStrike">
                <a:solidFill>
                  <a:srgbClr val="000000"/>
                </a:solidFill>
                <a:latin typeface="Times New Roman"/>
                <a:ea typeface="WenQuanYi Micro Hei"/>
              </a:rPr>
              <a:t>library function </a:t>
            </a:r>
            <a:r>
              <a:rPr b="0" lang="en-US" sz="2000" spc="-1" strike="noStrike">
                <a:solidFill>
                  <a:srgbClr val="000000"/>
                </a:solidFill>
                <a:latin typeface="Times New Roman"/>
                <a:ea typeface="WenQuanYi Micro Hei"/>
              </a:rPr>
              <a:t>is an ordinary function that resides in a library external to your program. </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For example, getopt_long and fopen are functions provided in the C library.</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A call to a library function is just like any other function call. The</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arguments are placed in processor registers or onto the stack, and </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execution is transferred to the start of the function’s code, which</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typically resides in a loaded shared library.</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Many library functions don’t make any use of system calls (e.g., the string-</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manipulation functions). On the other hand, some library functions are layered on</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top of system calls. </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For example, the fopen() library function uses the open() system</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call to actually open a file. Often, library functions are designed to provide a more</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caller-friendly interface than the underlying system call. </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For example, the printf() function provides output formatting and data buffering, </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whereas the write() systemcall just outputs a block of bytes. </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Similarly, the malloc() and free() functions performvarious bookkeeping tasks </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that make them a much easier way to allocate and free memory than the </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2000" spc="-1" strike="noStrike">
                <a:solidFill>
                  <a:srgbClr val="000000"/>
                </a:solidFill>
                <a:latin typeface="Times New Roman"/>
                <a:ea typeface="WenQuanYi Micro Hei"/>
              </a:rPr>
              <a:t>underlying brk() system call.</a:t>
            </a:r>
            <a:endParaRPr b="0" lang="en-US" sz="20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CustomShape 1"/>
          <p:cNvSpPr/>
          <p:nvPr/>
        </p:nvSpPr>
        <p:spPr>
          <a:xfrm>
            <a:off x="178560" y="144000"/>
            <a:ext cx="8601840" cy="1622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Handling Errors from System Calls and Library Functions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Almost every system call and library function returns some type of status value indicating whether the call succeeded or failed. This status value should always be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checked to see whether the call succeeded. If it did not, then appropriate action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should be taken—at the very least, the program should display an error message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warning that something unexpected occurred.</a:t>
            </a:r>
            <a:endParaRPr b="0" lang="en-US" sz="1800" spc="-1" strike="noStrike">
              <a:solidFill>
                <a:srgbClr val="000000"/>
              </a:solidFill>
              <a:latin typeface="Arial"/>
            </a:endParaRPr>
          </a:p>
        </p:txBody>
      </p:sp>
      <p:sp>
        <p:nvSpPr>
          <p:cNvPr id="74" name="CustomShape 2"/>
          <p:cNvSpPr/>
          <p:nvPr/>
        </p:nvSpPr>
        <p:spPr>
          <a:xfrm>
            <a:off x="421920" y="5256000"/>
            <a:ext cx="5551920" cy="599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#include &lt;stdio.h&gt;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void perror(const char * msg );</a:t>
            </a:r>
            <a:endParaRPr b="0" lang="en-US" sz="1800" spc="-1" strike="noStrike">
              <a:solidFill>
                <a:srgbClr val="000000"/>
              </a:solidFill>
              <a:latin typeface="Arial"/>
            </a:endParaRPr>
          </a:p>
        </p:txBody>
      </p:sp>
      <p:sp>
        <p:nvSpPr>
          <p:cNvPr id="75" name="CustomShape 3"/>
          <p:cNvSpPr/>
          <p:nvPr/>
        </p:nvSpPr>
        <p:spPr>
          <a:xfrm>
            <a:off x="432000" y="2159640"/>
            <a:ext cx="5326560" cy="1366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fd = open(pathname, flags,mode);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if (fd == -1)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perror("open");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exit(EXIT_FAILURE);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t>
            </a:r>
            <a:endParaRPr b="0" lang="en-US" sz="1800" spc="-1" strike="noStrike">
              <a:solidFill>
                <a:srgbClr val="000000"/>
              </a:solidFill>
              <a:latin typeface="Arial"/>
            </a:endParaRPr>
          </a:p>
        </p:txBody>
      </p:sp>
      <p:sp>
        <p:nvSpPr>
          <p:cNvPr id="76" name="CustomShape 4"/>
          <p:cNvSpPr/>
          <p:nvPr/>
        </p:nvSpPr>
        <p:spPr>
          <a:xfrm>
            <a:off x="318240" y="4104000"/>
            <a:ext cx="8030160" cy="599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perror() function prints the string pointed to by its msg argument, followed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by a message corresponding to the current value of errno.</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7" name="" descr=""/>
          <p:cNvPicPr/>
          <p:nvPr/>
        </p:nvPicPr>
        <p:blipFill>
          <a:blip r:embed="rId1"/>
          <a:stretch/>
        </p:blipFill>
        <p:spPr>
          <a:xfrm>
            <a:off x="864000" y="-305640"/>
            <a:ext cx="7515720" cy="685404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8" name="Picture 1" descr=""/>
          <p:cNvPicPr/>
          <p:nvPr/>
        </p:nvPicPr>
        <p:blipFill>
          <a:blip r:embed="rId1"/>
          <a:stretch/>
        </p:blipFill>
        <p:spPr>
          <a:xfrm>
            <a:off x="152280" y="76320"/>
            <a:ext cx="8987760" cy="67777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CustomShape 1"/>
          <p:cNvSpPr/>
          <p:nvPr/>
        </p:nvSpPr>
        <p:spPr>
          <a:xfrm>
            <a:off x="41400" y="144000"/>
            <a:ext cx="8955000" cy="9045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A system call changes the processor state from user mode to kernel mode, so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that the CPU can access protected kernel memory.</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set of system calls is fixed. Each system call is identified by a unique number.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(This numbering scheme is not normally visible to programs, which identify</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system calls by name.) Each system call may have a set of arguments that specify information to be transferred from user space (i.e., the process’s virtual address space) to kernel space and vice versa.</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System Call execution sequence: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1. The application program makes a system call by invoking a wrapper function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 the C library.</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2. The wrapper function must make all of the system call arguments available to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system call trap-handling routine. These arguments are passed to the wrapper via the stack, but the kernel expects them in specific registers. The wrapper function copies the arguments to these registers.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3. Since all system calls enter the kernel in the same way, the kernel needs some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method of identifying the system call. To permit this, the wrapper function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copies the system call number into a specific CPU register ( %eax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4. The wrapper function executes a trap machine instruction ( int 0x80 ), which</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causes the processor to switch from user mode to kernel mode and execute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code pointed to by location 0x80 (128 decimal) of the system’s trap vector.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5. In response to the trap to location 0x80 , the kernel invokes its system_call() rou-</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tine (located in the assembler file arch/i386/entry.S ) to handle the trap. This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handler: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 Saves register values onto the kernel stack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 Checks the validity of the system call number.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 Invokes the appropriate system call service routine, which is found by using the system call number to index a table of all system call service routines (the kernel variable sys_call_table).  Service routine performs required task. service routine returns a result status to the system_call() routine.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d) Restores register values from the kernel stack and places the system call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return value on the stack.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e)If the return value of the system call service routine indicated an error, the wrapper function sets the global variable errno</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
          <p:cNvSpPr/>
          <p:nvPr/>
        </p:nvSpPr>
        <p:spPr>
          <a:xfrm>
            <a:off x="347040" y="487440"/>
            <a:ext cx="2963160" cy="230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1. Application Calls a Standard C Library Function</a:t>
            </a:r>
            <a:endParaRPr b="0" lang="en-US" sz="1200" spc="-1" strike="noStrike">
              <a:solidFill>
                <a:srgbClr val="000000"/>
              </a:solidFill>
              <a:latin typeface="Arial"/>
            </a:endParaRPr>
          </a:p>
        </p:txBody>
      </p:sp>
      <p:sp>
        <p:nvSpPr>
          <p:cNvPr id="81" name=""/>
          <p:cNvSpPr/>
          <p:nvPr/>
        </p:nvSpPr>
        <p:spPr>
          <a:xfrm>
            <a:off x="1066680" y="792000"/>
            <a:ext cx="3504960" cy="344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write(1, "hello", 5);</a:t>
            </a:r>
            <a:endParaRPr b="0" lang="en-US" sz="1800" spc="-1" strike="noStrike">
              <a:solidFill>
                <a:srgbClr val="000000"/>
              </a:solidFill>
              <a:latin typeface="Arial"/>
            </a:endParaRPr>
          </a:p>
        </p:txBody>
      </p:sp>
      <p:sp>
        <p:nvSpPr>
          <p:cNvPr id="82" name=""/>
          <p:cNvSpPr/>
          <p:nvPr/>
        </p:nvSpPr>
        <p:spPr>
          <a:xfrm>
            <a:off x="2290680" y="0"/>
            <a:ext cx="6491520" cy="1112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System call Execution sequence on 64-bit OS</a:t>
            </a:r>
            <a:endParaRPr b="0" lang="en-US" sz="1800" spc="-1" strike="noStrike">
              <a:solidFill>
                <a:srgbClr val="000000"/>
              </a:solidFill>
              <a:latin typeface="Arial"/>
            </a:endParaRPr>
          </a:p>
        </p:txBody>
      </p:sp>
      <p:sp>
        <p:nvSpPr>
          <p:cNvPr id="83" name=""/>
          <p:cNvSpPr/>
          <p:nvPr/>
        </p:nvSpPr>
        <p:spPr>
          <a:xfrm>
            <a:off x="417600" y="1207440"/>
            <a:ext cx="1524600" cy="230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2. glibc Wrapper: libc.so</a:t>
            </a:r>
            <a:endParaRPr b="0" lang="en-US" sz="1400" spc="-1" strike="noStrike">
              <a:solidFill>
                <a:srgbClr val="000000"/>
              </a:solidFill>
              <a:latin typeface="Arial"/>
            </a:endParaRPr>
          </a:p>
        </p:txBody>
      </p:sp>
      <p:sp>
        <p:nvSpPr>
          <p:cNvPr id="84" name=""/>
          <p:cNvSpPr/>
          <p:nvPr/>
        </p:nvSpPr>
        <p:spPr>
          <a:xfrm>
            <a:off x="648000" y="1642320"/>
            <a:ext cx="7414200" cy="791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File (glibc source): sysdeps/unix/sysv/linux/x86_64/write.S . This is an assembly file that wraps the actual syscall. It loads syscall number and arguments into registers, and issues the syscall instruction. </a:t>
            </a:r>
            <a:r>
              <a:rPr b="1" lang="en-IN" sz="1400" spc="-1" strike="noStrike">
                <a:solidFill>
                  <a:srgbClr val="000000"/>
                </a:solidFill>
                <a:latin typeface="Arial"/>
                <a:ea typeface="DejaVu Sans"/>
              </a:rPr>
              <a:t>/usr/include/x86_64-linux-gnu/asm/unistd_64.h</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
        <p:nvSpPr>
          <p:cNvPr id="85" name=""/>
          <p:cNvSpPr/>
          <p:nvPr/>
        </p:nvSpPr>
        <p:spPr>
          <a:xfrm>
            <a:off x="1985760" y="2369880"/>
            <a:ext cx="5598720" cy="1368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mov    rax, __NR_write    ; syscall number (1)</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mov    rdi, arg1          ; file descriptor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mov    rsi, arg2          ; pointer to buffer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mov    rdx, arg3          ; number of bytes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syscall                   ; enter kernel</a:t>
            </a:r>
            <a:endParaRPr b="0" lang="en-US" sz="1800" spc="-1" strike="noStrike">
              <a:solidFill>
                <a:srgbClr val="000000"/>
              </a:solidFill>
              <a:latin typeface="Arial"/>
            </a:endParaRPr>
          </a:p>
        </p:txBody>
      </p:sp>
      <p:sp>
        <p:nvSpPr>
          <p:cNvPr id="86" name=""/>
          <p:cNvSpPr/>
          <p:nvPr/>
        </p:nvSpPr>
        <p:spPr>
          <a:xfrm>
            <a:off x="480600" y="3891240"/>
            <a:ext cx="8298000" cy="417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3. CPU executes syscall instruction : CPU switches from user mode (Ring 3) to kernel mode (Ring 0).</a:t>
            </a:r>
            <a:endParaRPr b="0" lang="en-US" sz="14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87" name=""/>
          <p:cNvSpPr/>
          <p:nvPr/>
        </p:nvSpPr>
        <p:spPr>
          <a:xfrm>
            <a:off x="484200" y="4203720"/>
            <a:ext cx="8494200" cy="710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4. </a:t>
            </a:r>
            <a:r>
              <a:rPr b="0" lang="en-IN" sz="1400" spc="-1" strike="noStrike">
                <a:solidFill>
                  <a:srgbClr val="000000"/>
                </a:solidFill>
                <a:latin typeface="Arial"/>
                <a:ea typeface="DejaVu Sans"/>
              </a:rPr>
              <a:t>Kernel Entry: entry_SYSCALL_64</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File: arch/x86/entry/entry_64.S This assembly file:  , Saves registers, Sets up kernel stack, Transfers control to C code: do_syscall_64()</a:t>
            </a:r>
            <a:endParaRPr b="0" lang="en-US" sz="14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88" name=""/>
          <p:cNvSpPr/>
          <p:nvPr/>
        </p:nvSpPr>
        <p:spPr>
          <a:xfrm>
            <a:off x="518400" y="4914720"/>
            <a:ext cx="8396640" cy="1316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5. Handler: do_syscall_64()</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File: arch/x86/entry/common.c This: Reads syscall number from regs-&gt;ax Dispatches to sys_call_table[rax]</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6. System Call Table Lookup File: arch/x86/entry/syscalls/syscall_64.tbl</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This tells the kernel to use sys_write() for syscall 1.</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7. Actual System Call Implementation  </a:t>
            </a:r>
            <a:r>
              <a:rPr b="1" lang="en-IN" sz="1400" spc="-1" strike="noStrike">
                <a:solidFill>
                  <a:srgbClr val="000000"/>
                </a:solidFill>
                <a:latin typeface="Arial"/>
                <a:ea typeface="DejaVu Sans"/>
              </a:rPr>
              <a:t>File: fs/read_write.c</a:t>
            </a:r>
            <a:endParaRPr b="0" lang="en-US" sz="14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 name="" descr=""/>
          <p:cNvPicPr/>
          <p:nvPr/>
        </p:nvPicPr>
        <p:blipFill>
          <a:blip r:embed="rId1"/>
          <a:stretch/>
        </p:blipFill>
        <p:spPr>
          <a:xfrm>
            <a:off x="1980720" y="54360"/>
            <a:ext cx="4569840" cy="678420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CustomShape 1"/>
          <p:cNvSpPr/>
          <p:nvPr/>
        </p:nvSpPr>
        <p:spPr>
          <a:xfrm>
            <a:off x="84600" y="196200"/>
            <a:ext cx="8839800" cy="6124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pc="-1" strike="noStrike">
                <a:solidFill>
                  <a:srgbClr val="000000"/>
                </a:solidFill>
                <a:latin typeface="Calibri"/>
                <a:ea typeface="DejaVu Sans"/>
              </a:rPr>
              <a:t>Linux provides uniform interface to various kinds of objects through its basic I/O system calls. All these objects are called files.  But these files could refer to different things like, regular file,  character device, block device, named pipe (FIFO), symbolic link,  or a network socket. This means that the same four system calls—open(), read(), write(), and close()—are used to perform I/O on all types of files, including devices such as terminals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So we can use read() and write() system calls to: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Read and write to files on hard disk or floppy disk</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Read and write to I/O devices like printers, modems, terminals, Audio devices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Read and write to IPC object such as Pipes and FIFOs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Read and write to network objects such as Sockets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open(),read(),write(),lseek(),fcntl(),ioctl(),close() dup() dup2() unlink()</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Noto Sans CJK SC"/>
              </a:rPr>
              <a:t>$./copy test test.old </a:t>
            </a:r>
            <a:r>
              <a:rPr b="0" lang="en-US" sz="1800" spc="-1" strike="noStrike">
                <a:solidFill>
                  <a:srgbClr val="000000"/>
                </a:solidFill>
                <a:latin typeface="Calibri"/>
                <a:ea typeface="DejaVu Sans"/>
              </a:rPr>
              <a:t>Copy a regular file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Noto Sans CJK SC"/>
              </a:rPr>
              <a:t>$./copy a.txt /dev/tty </a:t>
            </a:r>
            <a:r>
              <a:rPr b="0" lang="en-US" sz="1800" spc="-1" strike="noStrike">
                <a:solidFill>
                  <a:srgbClr val="000000"/>
                </a:solidFill>
                <a:latin typeface="Calibri"/>
                <a:ea typeface="DejaVu Sans"/>
              </a:rPr>
              <a:t>Copy a regular file to this terminal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Noto Sans CJK SC"/>
              </a:rPr>
              <a:t>$./copy /dev/tty b.txt </a:t>
            </a:r>
            <a:r>
              <a:rPr b="0" lang="en-US" sz="1800" spc="-1" strike="noStrike">
                <a:solidFill>
                  <a:srgbClr val="000000"/>
                </a:solidFill>
                <a:latin typeface="Calibri"/>
                <a:ea typeface="DejaVu Sans"/>
              </a:rPr>
              <a:t>Copy input from this terminal to a regular file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Noto Sans CJK SC"/>
              </a:rPr>
              <a:t>$./copy /dev/pts/16 /dev/tty </a:t>
            </a:r>
            <a:r>
              <a:rPr b="0" lang="en-US" sz="1800" spc="-1" strike="noStrike">
                <a:solidFill>
                  <a:srgbClr val="000000"/>
                </a:solidFill>
                <a:latin typeface="Calibri"/>
                <a:ea typeface="DejaVu Sans"/>
              </a:rPr>
              <a:t>Copy input from another terminal</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Programs on open, read, write, lseek and stat </a:t>
            </a:r>
            <a:r>
              <a:rPr b="1" lang="en-US" sz="1800" spc="-1" strike="noStrike">
                <a:solidFill>
                  <a:srgbClr val="000000"/>
                </a:solidFill>
                <a:latin typeface="Calibri"/>
                <a:ea typeface="DejaVu Sans"/>
              </a:rPr>
              <a:t>Execute Program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 </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Calibri"/>
                <a:ea typeface="DejaVu Sans"/>
              </a:rPr>
              <a:t>About fd redirection, Dup System call </a:t>
            </a:r>
            <a:r>
              <a:rPr b="1" lang="en-US" sz="1800" spc="-1" strike="noStrike">
                <a:solidFill>
                  <a:srgbClr val="000000"/>
                </a:solidFill>
                <a:latin typeface="Calibri"/>
                <a:ea typeface="DejaVu Sans"/>
              </a:rPr>
              <a:t>Execute Program</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CustomShape 1"/>
          <p:cNvSpPr/>
          <p:nvPr/>
        </p:nvSpPr>
        <p:spPr>
          <a:xfrm>
            <a:off x="116280" y="144000"/>
            <a:ext cx="8664120" cy="1110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File I/O at a Specified Offset: pread() and pwrite()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pread() and pwrite() system calls operate just like read() and write(), except that the file I/O is performed at the location specified by offset, rather than at the current file offset. The file offset is left unchanged by these calls.</a:t>
            </a:r>
            <a:endParaRPr b="0" lang="en-US" sz="1800" spc="-1" strike="noStrike">
              <a:solidFill>
                <a:srgbClr val="000000"/>
              </a:solidFill>
              <a:latin typeface="Arial"/>
            </a:endParaRPr>
          </a:p>
        </p:txBody>
      </p:sp>
      <p:sp>
        <p:nvSpPr>
          <p:cNvPr id="92" name="CustomShape 2"/>
          <p:cNvSpPr/>
          <p:nvPr/>
        </p:nvSpPr>
        <p:spPr>
          <a:xfrm>
            <a:off x="371520" y="1461600"/>
            <a:ext cx="7400880" cy="2134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Calling pread() is equivalent to atomically performing the following calls: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off_t orig;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orig = lseek(fd, 0, SEEK_CUR);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lseek(fd, offset, SEEK_SET);  /* Save current offset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s = read(fd, buf, len);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lseek(fd, orig, SEEK_SET); /* Restore original file offset */</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
        <p:nvSpPr>
          <p:cNvPr id="93" name="CustomShape 3"/>
          <p:cNvSpPr/>
          <p:nvPr/>
        </p:nvSpPr>
        <p:spPr>
          <a:xfrm>
            <a:off x="267480" y="3181320"/>
            <a:ext cx="8584920" cy="2646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These system calls can be particularly useful in multithreaded applications. This means that the file offset for each open file is global to all threads. Using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pread() or pwrite(), multiple threads can simultaneously perform I/O on the same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file descriptor without being affected by changes made to the file offset by other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threads. If we attempted to use lseek() plus read() (or write()) instead, then we would create a race condition</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-&gt; </a:t>
            </a:r>
            <a:r>
              <a:rPr b="1" lang="en-IN" sz="1800" spc="-1" strike="noStrike">
                <a:solidFill>
                  <a:srgbClr val="000000"/>
                </a:solidFill>
                <a:latin typeface="Arial"/>
                <a:ea typeface="Noto Sans CJK SC"/>
              </a:rPr>
              <a:t>Execute programs on pread, pwrite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CustomShape 1"/>
          <p:cNvSpPr/>
          <p:nvPr/>
        </p:nvSpPr>
        <p:spPr>
          <a:xfrm>
            <a:off x="87480" y="216000"/>
            <a:ext cx="8909280" cy="5206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Vector I/O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readv() and writev() system calls perform scatter-gather I/O.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#include &lt;sys/uio.h&gt;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ssize_t readv(int fd , const struct iovec * iov , int iovcnt );</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Returns number of bytes read, 0 on EOF, or –1 on error</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ssize_t writev(int fd , const struct iovec * iov , int iovcnt );</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Returns number of bytes written, or –1 on error</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Instead of accepting a single buffer of data to be read or written, these functions transfer multiple buffers of data in a single system call. The set of buffers to be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transferred is defined by the array iov. The integer iovcnt specifies the number of elements in iov. Each element of iov is a structure of the following form:</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struct iovec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void *iov_base; /* Start address of buffer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size_t iov_len; /* Number of bytes to transfer to/from buffer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-&gt; </a:t>
            </a:r>
            <a:r>
              <a:rPr b="1" lang="en-IN" sz="1800" spc="-1" strike="noStrike">
                <a:solidFill>
                  <a:srgbClr val="000000"/>
                </a:solidFill>
                <a:latin typeface="Arial"/>
                <a:ea typeface="Noto Sans CJK SC"/>
              </a:rPr>
              <a:t>Execute program on sg_iovector</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387</TotalTime>
  <Application>LibreOffice/24.2.7.2$Linux_X86_64 LibreOffice_project/420$Build-2</Application>
  <AppVersion>15.0000</AppVersion>
  <Company>Cisco Systems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2014-02-20T12:45:55Z</dcterms:created>
  <dc:creator>RAMA KRISHNA KATTA (ramakatt)</dc:creator>
  <dc:description/>
  <dc:language>en-IN</dc:language>
  <cp:lastModifiedBy/>
  <dcterms:modified xsi:type="dcterms:W3CDTF">2025-11-09T22:42:35Z</dcterms:modified>
  <cp:revision>68</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0</vt:r8>
  </property>
  <property fmtid="{D5CDD505-2E9C-101B-9397-08002B2CF9AE}" pid="3" name="HyperlinksChanged">
    <vt:bool>0</vt:bool>
  </property>
  <property fmtid="{D5CDD505-2E9C-101B-9397-08002B2CF9AE}" pid="4" name="LinksUpToDate">
    <vt:bool>0</vt:bool>
  </property>
  <property fmtid="{D5CDD505-2E9C-101B-9397-08002B2CF9AE}" pid="5" name="MMClips">
    <vt:r8>0</vt:r8>
  </property>
  <property fmtid="{D5CDD505-2E9C-101B-9397-08002B2CF9AE}" pid="6" name="Notes">
    <vt:r8>0</vt:r8>
  </property>
  <property fmtid="{D5CDD505-2E9C-101B-9397-08002B2CF9AE}" pid="7" name="PresentationFormat">
    <vt:lpwstr>On-screen Show (4:3)</vt:lpwstr>
  </property>
  <property fmtid="{D5CDD505-2E9C-101B-9397-08002B2CF9AE}" pid="8" name="ScaleCrop">
    <vt:bool>0</vt:bool>
  </property>
  <property fmtid="{D5CDD505-2E9C-101B-9397-08002B2CF9AE}" pid="9" name="ShareDoc">
    <vt:bool>0</vt:bool>
  </property>
  <property fmtid="{D5CDD505-2E9C-101B-9397-08002B2CF9AE}" pid="10" name="Slides">
    <vt:r8>6</vt:r8>
  </property>
</Properties>
</file>