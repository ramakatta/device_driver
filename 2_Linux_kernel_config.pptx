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9.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a:t>
            </a:r>
            <a:r>
              <a:rPr b="0" lang="en-US" sz="1800" spc="-1" strike="noStrike">
                <a:solidFill>
                  <a:srgbClr val="000000"/>
                </a:solidFill>
                <a:latin typeface="Arial"/>
              </a:rPr>
              <a:t>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9"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hyperlink" Target="https://mirrors.edge.kernel.org/pub/linux/kernel/v6.x/" TargetMode="External"/><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7.xml"/>
</Relationships>
</file>

<file path=ppt/slides/_rels/slide2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0.png"/><Relationship Id="rId3" Type="http://schemas.openxmlformats.org/officeDocument/2006/relationships/slideLayout" Target="../slideLayouts/slideLayout17.xml"/>
</Relationships>
</file>

<file path=ppt/slides/_rels/slide2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1.png"/><Relationship Id="rId3" Type="http://schemas.openxmlformats.org/officeDocument/2006/relationships/slideLayout" Target="../slideLayouts/slideLayout17.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2.png"/><Relationship Id="rId3"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 descr=""/>
          <p:cNvPicPr/>
          <p:nvPr/>
        </p:nvPicPr>
        <p:blipFill>
          <a:blip r:embed="rId1"/>
          <a:stretch/>
        </p:blipFill>
        <p:spPr>
          <a:xfrm>
            <a:off x="3600" y="-1634040"/>
            <a:ext cx="9141480" cy="60933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Picture 1_1" descr=""/>
          <p:cNvPicPr/>
          <p:nvPr/>
        </p:nvPicPr>
        <p:blipFill>
          <a:blip r:embed="rId1"/>
          <a:stretch/>
        </p:blipFill>
        <p:spPr>
          <a:xfrm>
            <a:off x="0" y="0"/>
            <a:ext cx="9135720" cy="6837120"/>
          </a:xfrm>
          <a:prstGeom prst="rect">
            <a:avLst/>
          </a:prstGeom>
          <a:ln w="0">
            <a:noFill/>
          </a:ln>
        </p:spPr>
      </p:pic>
      <p:sp>
        <p:nvSpPr>
          <p:cNvPr id="118" name="CustomShape 1"/>
          <p:cNvSpPr/>
          <p:nvPr/>
        </p:nvSpPr>
        <p:spPr>
          <a:xfrm>
            <a:off x="2285640" y="658440"/>
            <a:ext cx="50216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90" spc="-1" strike="noStrike">
                <a:solidFill>
                  <a:srgbClr val="000000"/>
                </a:solidFill>
                <a:latin typeface="Arial Bold"/>
                <a:ea typeface="DejaVu Sans"/>
              </a:rPr>
              <a:t>Kernel Development on x86 platform</a:t>
            </a:r>
            <a:endParaRPr b="0" lang="en-US" sz="2290" spc="-1" strike="noStrike">
              <a:solidFill>
                <a:srgbClr val="000000"/>
              </a:solidFill>
              <a:latin typeface="Arial"/>
            </a:endParaRPr>
          </a:p>
        </p:txBody>
      </p:sp>
      <p:sp>
        <p:nvSpPr>
          <p:cNvPr id="119" name="CustomShape 2"/>
          <p:cNvSpPr/>
          <p:nvPr/>
        </p:nvSpPr>
        <p:spPr>
          <a:xfrm>
            <a:off x="1398600" y="1384200"/>
            <a:ext cx="701172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The Linux kernel development requires following steps:</a:t>
            </a:r>
            <a:endParaRPr b="0" lang="en-US" sz="2280" spc="-1" strike="noStrike">
              <a:solidFill>
                <a:srgbClr val="000000"/>
              </a:solidFill>
              <a:latin typeface="Arial"/>
            </a:endParaRPr>
          </a:p>
        </p:txBody>
      </p:sp>
      <p:sp>
        <p:nvSpPr>
          <p:cNvPr id="120" name="CustomShape 3"/>
          <p:cNvSpPr/>
          <p:nvPr/>
        </p:nvSpPr>
        <p:spPr>
          <a:xfrm>
            <a:off x="3040920" y="2034360"/>
            <a:ext cx="214272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a:t>
            </a:r>
            <a:r>
              <a:rPr b="0" lang="en-US" sz="2280" spc="-1" strike="noStrike">
                <a:solidFill>
                  <a:srgbClr val="000000"/>
                </a:solidFill>
                <a:latin typeface="Arial"/>
                <a:ea typeface="DejaVu Sans"/>
              </a:rPr>
              <a:t>Selecting kernel</a:t>
            </a:r>
            <a:endParaRPr b="0" lang="en-US" sz="2280" spc="-1" strike="noStrike">
              <a:solidFill>
                <a:srgbClr val="000000"/>
              </a:solidFill>
              <a:latin typeface="Arial"/>
            </a:endParaRPr>
          </a:p>
        </p:txBody>
      </p:sp>
      <p:sp>
        <p:nvSpPr>
          <p:cNvPr id="121" name="CustomShape 4"/>
          <p:cNvSpPr/>
          <p:nvPr/>
        </p:nvSpPr>
        <p:spPr>
          <a:xfrm>
            <a:off x="3005280" y="2601360"/>
            <a:ext cx="24300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a:t>
            </a:r>
            <a:r>
              <a:rPr b="0" lang="en-US" sz="2280" spc="-1" strike="noStrike">
                <a:solidFill>
                  <a:srgbClr val="000000"/>
                </a:solidFill>
                <a:latin typeface="Arial"/>
                <a:ea typeface="DejaVu Sans"/>
              </a:rPr>
              <a:t>Configuring kernel</a:t>
            </a:r>
            <a:endParaRPr b="0" lang="en-US" sz="2280" spc="-1" strike="noStrike">
              <a:solidFill>
                <a:srgbClr val="000000"/>
              </a:solidFill>
              <a:latin typeface="Arial"/>
            </a:endParaRPr>
          </a:p>
        </p:txBody>
      </p:sp>
      <p:sp>
        <p:nvSpPr>
          <p:cNvPr id="122" name="CustomShape 5"/>
          <p:cNvSpPr/>
          <p:nvPr/>
        </p:nvSpPr>
        <p:spPr>
          <a:xfrm>
            <a:off x="3029760" y="3168720"/>
            <a:ext cx="22370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a:t>
            </a:r>
            <a:r>
              <a:rPr b="0" lang="en-US" sz="2280" spc="-1" strike="noStrike">
                <a:solidFill>
                  <a:srgbClr val="000000"/>
                </a:solidFill>
                <a:latin typeface="Arial"/>
                <a:ea typeface="DejaVu Sans"/>
              </a:rPr>
              <a:t>Compiling kernel</a:t>
            </a:r>
            <a:endParaRPr b="0" lang="en-US" sz="2280" spc="-1" strike="noStrike">
              <a:solidFill>
                <a:srgbClr val="000000"/>
              </a:solidFill>
              <a:latin typeface="Arial"/>
            </a:endParaRPr>
          </a:p>
        </p:txBody>
      </p:sp>
      <p:sp>
        <p:nvSpPr>
          <p:cNvPr id="123" name="CustomShape 6"/>
          <p:cNvSpPr/>
          <p:nvPr/>
        </p:nvSpPr>
        <p:spPr>
          <a:xfrm>
            <a:off x="2969640" y="3664080"/>
            <a:ext cx="257328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a:t>
            </a:r>
            <a:r>
              <a:rPr b="0" lang="en-US" sz="2280" spc="-1" strike="noStrike">
                <a:solidFill>
                  <a:srgbClr val="000000"/>
                </a:solidFill>
                <a:latin typeface="Arial"/>
                <a:ea typeface="DejaVu Sans"/>
              </a:rPr>
              <a:t>Installing the kernel</a:t>
            </a:r>
            <a:endParaRPr b="0" lang="en-US" sz="22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CustomShape 1"/>
          <p:cNvSpPr/>
          <p:nvPr/>
        </p:nvSpPr>
        <p:spPr>
          <a:xfrm>
            <a:off x="60840" y="298080"/>
            <a:ext cx="7709400" cy="2900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vector@vector:~$ </a:t>
            </a:r>
            <a:r>
              <a:rPr b="0" lang="en-IN" sz="1800" spc="-1" strike="noStrike">
                <a:solidFill>
                  <a:srgbClr val="55308d"/>
                </a:solidFill>
                <a:latin typeface="Arial"/>
                <a:ea typeface="DejaVu Sans"/>
              </a:rPr>
              <a:t>curl -L https://www.kernel.org/finger_banner</a:t>
            </a:r>
            <a:endParaRPr b="0" lang="en-US" sz="1800" spc="-1" strike="noStrike">
              <a:solidFill>
                <a:srgbClr val="000000"/>
              </a:solidFill>
              <a:latin typeface="Arial"/>
            </a:endParaRPr>
          </a:p>
          <a:p>
            <a:pPr>
              <a:lnSpc>
                <a:spcPct val="100000"/>
              </a:lnSpc>
            </a:pPr>
            <a:br>
              <a:rPr sz="1800"/>
            </a:br>
            <a:r>
              <a:rPr b="0" lang="en-IN" sz="1800" spc="-1" strike="noStrike">
                <a:solidFill>
                  <a:srgbClr val="000000"/>
                </a:solidFill>
                <a:latin typeface="Arial"/>
                <a:ea typeface="DejaVu Sans"/>
              </a:rPr>
              <a:t>The latest stable version of the Linux kernel is:             6.18.2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mainline version of the Linux kernel is:           6.19-rc2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stable 6.18 version of the Linux kernel is:        6.18.2</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stable 6.17 version of the Linux kernel is:        6.17.13 (EOL)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6.12 version of the Linux kernel is:      6.12.63</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6.6 version of the Linux kernel is:       6.6.119</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6.1 version of the Linux kernel is:       6.1.159</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5.15 version of the Linux kernel is:      5.15.197</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5.10 version of the Linux kernel is:      5.10.247</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longterm 5.4 version of the Linux kernel is:       5.4.302 (EOL)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latest linux-next version of the Linux kernel is:         next-20251219</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CustomShape 1"/>
          <p:cNvSpPr/>
          <p:nvPr/>
        </p:nvSpPr>
        <p:spPr>
          <a:xfrm>
            <a:off x="467640" y="72000"/>
            <a:ext cx="8200800" cy="1454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Calibri"/>
                <a:ea typeface="DejaVu Sans"/>
              </a:rPr>
              <a:t>wget --https-only -O ~/Downloads/linux-6.4.2.tar.xz   </a:t>
            </a:r>
            <a:endParaRPr b="0" lang="en-US" sz="1600" spc="-1" strike="noStrike">
              <a:solidFill>
                <a:srgbClr val="000000"/>
              </a:solidFill>
              <a:latin typeface="Arial"/>
            </a:endParaRPr>
          </a:p>
          <a:p>
            <a:pPr>
              <a:lnSpc>
                <a:spcPct val="100000"/>
              </a:lnSpc>
            </a:pPr>
            <a:r>
              <a:rPr b="0" lang="en-US" sz="1600" spc="-1" strike="noStrike" u="sng">
                <a:solidFill>
                  <a:srgbClr val="0000ff"/>
                </a:solidFill>
                <a:uFillTx/>
                <a:latin typeface="Calibri"/>
                <a:ea typeface="DejaVu Sans"/>
                <a:hlinkClick r:id="rId1"/>
              </a:rPr>
              <a:t>https://mirrors.edge.kernel.org/pub/linux/kernel/v6.x/</a:t>
            </a:r>
            <a:r>
              <a:rPr b="0" lang="en-US" sz="1600" spc="-1" strike="noStrike">
                <a:solidFill>
                  <a:srgbClr val="000000"/>
                </a:solidFill>
                <a:latin typeface="Calibri"/>
                <a:ea typeface="DejaVu Sans"/>
              </a:rPr>
              <a:t>linux-6.4.2.tar.xz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sudo apt-get install git fakeroot build-essential ncurses-dev xz-utils libssl-dev bc flex libelf-dev bison</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600" spc="-1" strike="noStrike">
                <a:solidFill>
                  <a:srgbClr val="8d1d75"/>
                </a:solidFill>
                <a:latin typeface="Calibri"/>
                <a:ea typeface="DejaVu Sans"/>
              </a:rPr>
              <a:t>Linux Source version control system git: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You can use Git to obtain a copy of the latest “pushed” version of Linus’s tree:</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  git clone --depth=3</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https://git.kernel.org/pub/scm/linux/kernel/git/torvalds/linux.git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Calibri"/>
                <a:ea typeface="DejaVu Sans"/>
              </a:rPr>
              <a:t>When checked out, you can update your tree to Linus’s latest:</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 git pull</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rama@rama-Inspiron-3501:~$ uname -r</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5.14.0-1056-oem</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Major # (or w): 5</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Minor # (or x): 14</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[patchlevel] (or y): 0</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[-EXTRAVERSION] (or -z): -1056-oem</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tar xf ~/Downloads/linux-5.4.tar.xz</a:t>
            </a:r>
            <a:endParaRPr b="0" lang="en-US" sz="1600" spc="-1" strike="noStrike">
              <a:solidFill>
                <a:srgbClr val="000000"/>
              </a:solidFill>
              <a:latin typeface="Arial"/>
            </a:endParaRPr>
          </a:p>
          <a:p>
            <a:pPr>
              <a:lnSpc>
                <a:spcPct val="100000"/>
              </a:lnSpc>
            </a:pPr>
            <a:r>
              <a:rPr b="1" lang="en-US" sz="1600" spc="-1" strike="noStrike">
                <a:solidFill>
                  <a:srgbClr val="000000"/>
                </a:solidFill>
                <a:latin typeface="Calibri"/>
                <a:ea typeface="DejaVu Sans"/>
              </a:rPr>
              <a:t>Use cregit-Linux to view kernel source code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
          <p:cNvSpPr/>
          <p:nvPr/>
        </p:nvSpPr>
        <p:spPr>
          <a:xfrm>
            <a:off x="183600" y="147600"/>
            <a:ext cx="8957880" cy="2391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The Linux kernel is licensed under the GNU General Public License version 2</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This license gives you the right to use, study, modify and share the software freely</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a:t>
            </a:r>
            <a:r>
              <a:rPr b="0" lang="en-US" sz="1800" spc="-1" strike="noStrike">
                <a:solidFill>
                  <a:srgbClr val="000000"/>
                </a:solidFill>
                <a:latin typeface="Arial"/>
                <a:ea typeface="DejaVu Sans"/>
              </a:rPr>
              <a:t>However, when the software is redistributed, either modified or unmodified, the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GPL requires that you redistribute the software under the same license, with the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source code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If modifications are made to the Linux kernel (for example to adapt it to your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hardware), it is a derivative work of the kernel, and therefore must be released under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GPLv2.</a:t>
            </a:r>
            <a:endParaRPr b="0" lang="en-US" sz="1800" spc="-1" strike="noStrike">
              <a:solidFill>
                <a:srgbClr val="000000"/>
              </a:solidFill>
              <a:latin typeface="Arial"/>
            </a:endParaRPr>
          </a:p>
        </p:txBody>
      </p:sp>
      <p:sp>
        <p:nvSpPr>
          <p:cNvPr id="127" name=""/>
          <p:cNvSpPr/>
          <p:nvPr/>
        </p:nvSpPr>
        <p:spPr>
          <a:xfrm>
            <a:off x="192600" y="2658600"/>
            <a:ext cx="8684640" cy="2903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User space device drivers:</a:t>
            </a:r>
            <a:br>
              <a:rPr sz="1800"/>
            </a:br>
            <a:r>
              <a:rPr b="0" lang="en-US" sz="1800" spc="-1" strike="noStrike">
                <a:solidFill>
                  <a:srgbClr val="000000"/>
                </a:solidFill>
                <a:latin typeface="Arial"/>
                <a:ea typeface="DejaVu Sans"/>
              </a:rPr>
              <a:t>The kernel provides some mechanisms to access hardware from userspace: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USB devices with libusb, https://libusb.info/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SPI devices with spidev, spi/spidev</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I2C devices with i2cdev, i2c/dev-interface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GPIOs with libgpiod, https://libgpiod.readthedocs.io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Memory-mapped devices with UIO, including interrupt handling,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driver-api/uio-howto</a:t>
            </a:r>
            <a:br>
              <a:rPr sz="1800"/>
            </a:b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Lab activity:</a:t>
            </a:r>
            <a:br>
              <a:rPr sz="1800"/>
            </a:br>
            <a:r>
              <a:rPr b="0" lang="en-US" sz="1800" spc="-1" strike="noStrike">
                <a:solidFill>
                  <a:srgbClr val="000000"/>
                </a:solidFill>
                <a:latin typeface="Arial"/>
                <a:ea typeface="DejaVu Sans"/>
              </a:rPr>
              <a:t>▶ Explore kernel sources manually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 automated tools to explore the source code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 name="Picture 1_0" descr=""/>
          <p:cNvPicPr/>
          <p:nvPr/>
        </p:nvPicPr>
        <p:blipFill>
          <a:blip r:embed="rId1"/>
          <a:stretch/>
        </p:blipFill>
        <p:spPr>
          <a:xfrm>
            <a:off x="1371600" y="228600"/>
            <a:ext cx="7111800" cy="3920040"/>
          </a:xfrm>
          <a:prstGeom prst="rect">
            <a:avLst/>
          </a:prstGeom>
          <a:ln w="0">
            <a:noFill/>
          </a:ln>
        </p:spPr>
      </p:pic>
      <p:sp>
        <p:nvSpPr>
          <p:cNvPr id="129" name="CustomShape 1"/>
          <p:cNvSpPr/>
          <p:nvPr/>
        </p:nvSpPr>
        <p:spPr>
          <a:xfrm>
            <a:off x="2541960" y="648000"/>
            <a:ext cx="24933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The Kernel Source</a:t>
            </a:r>
            <a:endParaRPr b="0" lang="en-US" sz="2240" spc="-1" strike="noStrike">
              <a:solidFill>
                <a:srgbClr val="000000"/>
              </a:solidFill>
              <a:latin typeface="Arial"/>
            </a:endParaRPr>
          </a:p>
        </p:txBody>
      </p:sp>
      <p:sp>
        <p:nvSpPr>
          <p:cNvPr id="130" name="CustomShape 2"/>
          <p:cNvSpPr/>
          <p:nvPr/>
        </p:nvSpPr>
        <p:spPr>
          <a:xfrm>
            <a:off x="204120" y="1008000"/>
            <a:ext cx="8789760" cy="181332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2240" spc="-1" strike="noStrike">
                <a:solidFill>
                  <a:srgbClr val="000000"/>
                </a:solidFill>
                <a:latin typeface="Arial Bold"/>
                <a:ea typeface="DejaVu Sans"/>
              </a:rPr>
              <a:t>1. arch</a:t>
            </a:r>
            <a:r>
              <a:rPr b="0" lang="en-US" sz="2230" spc="-1" strike="noStrike">
                <a:solidFill>
                  <a:srgbClr val="000000"/>
                </a:solidFill>
                <a:latin typeface="Arial"/>
                <a:ea typeface="DejaVu Sans"/>
              </a:rPr>
              <a:t> - This sub directory contains all of the architecture specific code</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for each supported architecture (MIPS, ARM, 386 and so on),  there</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is sub directory under "arch". Each supported architecture sub directory</a:t>
            </a:r>
            <a:endParaRPr b="0" lang="en-US" sz="2230" spc="-1" strike="noStrike">
              <a:solidFill>
                <a:srgbClr val="000000"/>
              </a:solidFill>
              <a:latin typeface="Arial"/>
            </a:endParaRPr>
          </a:p>
          <a:p>
            <a:pPr>
              <a:lnSpc>
                <a:spcPct val="100000"/>
              </a:lnSpc>
            </a:pPr>
            <a:endParaRPr b="0" lang="en-US" sz="2230" spc="-1" strike="noStrike">
              <a:solidFill>
                <a:srgbClr val="000000"/>
              </a:solidFill>
              <a:latin typeface="Arial"/>
            </a:endParaRPr>
          </a:p>
          <a:p>
            <a:pPr>
              <a:lnSpc>
                <a:spcPts val="1012"/>
              </a:lnSpc>
            </a:pPr>
            <a:r>
              <a:rPr b="0" lang="en-US" sz="2230" spc="-1" strike="noStrike">
                <a:solidFill>
                  <a:srgbClr val="000000"/>
                </a:solidFill>
                <a:latin typeface="Arial"/>
                <a:ea typeface="DejaVu Sans"/>
              </a:rPr>
              <a:t>has four major sub directories:</a:t>
            </a:r>
            <a:endParaRPr b="0" lang="en-US" sz="2230" spc="-1" strike="noStrike">
              <a:solidFill>
                <a:srgbClr val="000000"/>
              </a:solidFill>
              <a:latin typeface="Arial"/>
            </a:endParaRPr>
          </a:p>
          <a:p>
            <a:pPr>
              <a:lnSpc>
                <a:spcPts val="1012"/>
              </a:lnSpc>
            </a:pPr>
            <a:r>
              <a:rPr b="0" lang="en-IN" sz="2230" spc="-1" strike="noStrike">
                <a:solidFill>
                  <a:srgbClr val="000000"/>
                </a:solidFill>
                <a:latin typeface="Arial"/>
                <a:ea typeface="DejaVu Sans"/>
              </a:rPr>
              <a:t>  </a:t>
            </a:r>
            <a:endParaRPr b="0" lang="en-US" sz="2230" spc="-1" strike="noStrike">
              <a:solidFill>
                <a:srgbClr val="000000"/>
              </a:solidFill>
              <a:latin typeface="Arial"/>
            </a:endParaRPr>
          </a:p>
        </p:txBody>
      </p:sp>
      <p:sp>
        <p:nvSpPr>
          <p:cNvPr id="131" name="CustomShape 3"/>
          <p:cNvSpPr/>
          <p:nvPr/>
        </p:nvSpPr>
        <p:spPr>
          <a:xfrm>
            <a:off x="224280" y="2869920"/>
            <a:ext cx="77745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kernel - which contains the architecture specific kernel cod</a:t>
            </a:r>
            <a:endParaRPr b="0" lang="en-US" sz="2230" spc="-1" strike="noStrike">
              <a:solidFill>
                <a:srgbClr val="000000"/>
              </a:solidFill>
              <a:latin typeface="Arial"/>
            </a:endParaRPr>
          </a:p>
        </p:txBody>
      </p:sp>
      <p:sp>
        <p:nvSpPr>
          <p:cNvPr id="132" name="CustomShape 4"/>
          <p:cNvSpPr/>
          <p:nvPr/>
        </p:nvSpPr>
        <p:spPr>
          <a:xfrm>
            <a:off x="225720" y="3009600"/>
            <a:ext cx="9033480" cy="180936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mm - which contains the architecture specific memory mgmt code.</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lib - which contains architecture specific library code (vsprintf…)</a:t>
            </a:r>
            <a:endParaRPr b="0" lang="en-US" sz="2230" spc="-1" strike="noStrike">
              <a:solidFill>
                <a:srgbClr val="000000"/>
              </a:solidFill>
              <a:latin typeface="Arial"/>
            </a:endParaRPr>
          </a:p>
          <a:p>
            <a:pPr>
              <a:lnSpc>
                <a:spcPct val="100000"/>
              </a:lnSpc>
            </a:pPr>
            <a:endParaRPr b="0" lang="en-US" sz="2230" spc="-1" strike="noStrike">
              <a:solidFill>
                <a:srgbClr val="000000"/>
              </a:solidFill>
              <a:latin typeface="Arial"/>
            </a:endParaRPr>
          </a:p>
          <a:p>
            <a:pPr>
              <a:lnSpc>
                <a:spcPts val="1006"/>
              </a:lnSpc>
            </a:pPr>
            <a:r>
              <a:rPr b="0" lang="en-US" sz="2230" spc="-1" strike="noStrike">
                <a:solidFill>
                  <a:srgbClr val="000000"/>
                </a:solidFill>
                <a:latin typeface="Arial"/>
                <a:ea typeface="DejaVu Sans"/>
              </a:rPr>
              <a:t>target platform directory - which contains platform specific code</a:t>
            </a:r>
            <a:endParaRPr b="0" lang="en-US" sz="2230" spc="-1" strike="noStrike">
              <a:solidFill>
                <a:srgbClr val="000000"/>
              </a:solidFill>
              <a:latin typeface="Arial"/>
            </a:endParaRPr>
          </a:p>
          <a:p>
            <a:pPr>
              <a:lnSpc>
                <a:spcPts val="1006"/>
              </a:lnSpc>
            </a:pPr>
            <a:endParaRPr b="0" lang="en-US" sz="2230" spc="-1" strike="noStrike">
              <a:solidFill>
                <a:srgbClr val="000000"/>
              </a:solidFill>
              <a:latin typeface="Arial"/>
            </a:endParaRPr>
          </a:p>
          <a:p>
            <a:pPr>
              <a:lnSpc>
                <a:spcPts val="1006"/>
              </a:lnSpc>
            </a:pPr>
            <a:endParaRPr b="0" lang="en-US" sz="2230" spc="-1" strike="noStrike">
              <a:solidFill>
                <a:srgbClr val="000000"/>
              </a:solidFill>
              <a:latin typeface="Arial"/>
            </a:endParaRPr>
          </a:p>
        </p:txBody>
      </p:sp>
      <p:sp>
        <p:nvSpPr>
          <p:cNvPr id="133" name="CustomShape 5"/>
          <p:cNvSpPr/>
          <p:nvPr/>
        </p:nvSpPr>
        <p:spPr>
          <a:xfrm>
            <a:off x="216000" y="4343400"/>
            <a:ext cx="8697240" cy="109656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Note: Linux ports to processors without memory management units</a:t>
            </a: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	</a:t>
            </a: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(MMU) are also available. </a:t>
            </a:r>
            <a:r>
              <a:rPr b="0" lang="en-IN" sz="2230" spc="-1" strike="noStrike">
                <a:solidFill>
                  <a:srgbClr val="000000"/>
                </a:solidFill>
                <a:latin typeface="Arial"/>
                <a:ea typeface="DejaVu Sans"/>
              </a:rPr>
              <a:t>The kernel has access to neither the </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IN" sz="2230" spc="-1" strike="noStrike">
                <a:solidFill>
                  <a:srgbClr val="000000"/>
                </a:solidFill>
                <a:latin typeface="Arial"/>
                <a:ea typeface="DejaVu Sans"/>
              </a:rPr>
              <a:t>C libray nor the standards C Headers.</a:t>
            </a:r>
            <a:endParaRPr b="0" lang="en-US" sz="2230" spc="-1" strike="noStrike">
              <a:solidFill>
                <a:srgbClr val="000000"/>
              </a:solidFill>
              <a:latin typeface="Arial"/>
            </a:endParaRPr>
          </a:p>
        </p:txBody>
      </p:sp>
      <p:sp>
        <p:nvSpPr>
          <p:cNvPr id="134" name="CustomShape 6"/>
          <p:cNvSpPr/>
          <p:nvPr/>
        </p:nvSpPr>
        <p:spPr>
          <a:xfrm>
            <a:off x="108000" y="5297760"/>
            <a:ext cx="8897760" cy="852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30" spc="-1" strike="noStrike">
                <a:solidFill>
                  <a:srgbClr val="000000"/>
                </a:solidFill>
                <a:latin typeface="Arial"/>
                <a:ea typeface="DejaVu Sans"/>
              </a:rPr>
              <a:t>Core kernel subsystem: </a:t>
            </a:r>
            <a:r>
              <a:rPr b="0" lang="en-US" sz="2230" spc="-1" strike="noStrike">
                <a:solidFill>
                  <a:srgbClr val="000000"/>
                </a:solidFill>
                <a:latin typeface="Arial"/>
                <a:ea typeface="DejaVu Sans"/>
              </a:rPr>
              <a:t>the code here deals with process/thread life cycle, CPU scheduling, locking, cgroups, timers, interrupts, signaling, modules, tracing, and more</a:t>
            </a:r>
            <a:r>
              <a:rPr b="0" lang="en-IN" sz="1800" spc="-1" strike="noStrike">
                <a:solidFill>
                  <a:srgbClr val="000000"/>
                </a:solidFill>
                <a:latin typeface="Arial"/>
                <a:ea typeface="DejaVu Sans"/>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5" name="Picture 1" descr=""/>
          <p:cNvPicPr/>
          <p:nvPr/>
        </p:nvPicPr>
        <p:blipFill>
          <a:blip r:embed="rId1"/>
          <a:stretch/>
        </p:blipFill>
        <p:spPr>
          <a:xfrm>
            <a:off x="0" y="-76320"/>
            <a:ext cx="9135720" cy="6837120"/>
          </a:xfrm>
          <a:prstGeom prst="rect">
            <a:avLst/>
          </a:prstGeom>
          <a:ln w="0">
            <a:noFill/>
          </a:ln>
        </p:spPr>
      </p:pic>
      <p:sp>
        <p:nvSpPr>
          <p:cNvPr id="136" name="CustomShape 1"/>
          <p:cNvSpPr/>
          <p:nvPr/>
        </p:nvSpPr>
        <p:spPr>
          <a:xfrm>
            <a:off x="271080" y="266760"/>
            <a:ext cx="8642160" cy="90648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block:</a:t>
            </a:r>
            <a:r>
              <a:rPr b="0" lang="en-US" sz="1860" spc="-1" strike="noStrike">
                <a:solidFill>
                  <a:srgbClr val="000000"/>
                </a:solidFill>
                <a:latin typeface="Arial"/>
                <a:ea typeface="DejaVu Sans"/>
              </a:rPr>
              <a:t>This primarily contains the implementation of I/O scheduling algorithms</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0" lang="en-US" sz="1860" spc="-1" strike="noStrike">
                <a:solidFill>
                  <a:srgbClr val="000000"/>
                </a:solidFill>
                <a:latin typeface="Arial"/>
                <a:ea typeface="DejaVu Sans"/>
              </a:rPr>
              <a:t>for block storage devices. The underlying (to the VFS/FS) block I/O code path. </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0" lang="en-US" sz="1860" spc="-1" strike="noStrike">
                <a:solidFill>
                  <a:srgbClr val="000000"/>
                </a:solidFill>
                <a:latin typeface="Arial"/>
                <a:ea typeface="DejaVu Sans"/>
              </a:rPr>
              <a:t>It includes the code implementing the page cache, a generic block IO</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0" lang="en-US" sz="1860" spc="-1" strike="noStrike">
                <a:solidFill>
                  <a:srgbClr val="000000"/>
                </a:solidFill>
                <a:latin typeface="Arial"/>
                <a:ea typeface="DejaVu Sans"/>
              </a:rPr>
              <a:t>layer, IO schedulers, and so on. </a:t>
            </a:r>
            <a:endParaRPr b="0" lang="en-US" sz="1860" spc="-1" strike="noStrike">
              <a:solidFill>
                <a:srgbClr val="000000"/>
              </a:solidFill>
              <a:latin typeface="Arial"/>
            </a:endParaRPr>
          </a:p>
        </p:txBody>
      </p:sp>
      <p:sp>
        <p:nvSpPr>
          <p:cNvPr id="137" name="CustomShape 2"/>
          <p:cNvSpPr/>
          <p:nvPr/>
        </p:nvSpPr>
        <p:spPr>
          <a:xfrm>
            <a:off x="416520" y="876240"/>
            <a:ext cx="8506440" cy="5949360"/>
          </a:xfrm>
          <a:prstGeom prst="rect">
            <a:avLst/>
          </a:prstGeom>
          <a:noFill/>
          <a:ln w="0">
            <a:noFill/>
          </a:ln>
        </p:spPr>
        <p:style>
          <a:lnRef idx="0"/>
          <a:fillRef idx="0"/>
          <a:effectRef idx="0"/>
          <a:fontRef idx="minor"/>
        </p:style>
        <p:txBody>
          <a:bodyPr wrap="none" lIns="0" rIns="0" tIns="0" bIns="0" anchor="t">
            <a:spAutoFit/>
          </a:bodyPr>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r>
              <a:rPr b="1" lang="en-US" sz="1860" spc="-1" strike="noStrike">
                <a:solidFill>
                  <a:srgbClr val="000000"/>
                </a:solidFill>
                <a:latin typeface="Arial"/>
                <a:ea typeface="DejaVu Sans"/>
              </a:rPr>
              <a:t>crypto:</a:t>
            </a:r>
            <a:r>
              <a:rPr b="0" lang="en-US" sz="1860" spc="-1" strike="noStrike">
                <a:solidFill>
                  <a:srgbClr val="000000"/>
                </a:solidFill>
                <a:latin typeface="Arial"/>
                <a:ea typeface="DejaVu Sans"/>
              </a:rPr>
              <a:t>This directory implements cipher operations and the cryptographic API,</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used, for example, by some WiFi device drivers for implementing encryption </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Algorithms. Kernel level implementation of ciphers kernel API to serve consumers</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that require cryptography services. </a:t>
            </a:r>
            <a:endParaRPr b="0" lang="en-US" sz="1860" spc="-1" strike="noStrike">
              <a:solidFill>
                <a:srgbClr val="000000"/>
              </a:solidFill>
              <a:latin typeface="Arial"/>
            </a:endParaRPr>
          </a:p>
        </p:txBody>
      </p:sp>
      <p:sp>
        <p:nvSpPr>
          <p:cNvPr id="138" name="CustomShape 3"/>
          <p:cNvSpPr/>
          <p:nvPr/>
        </p:nvSpPr>
        <p:spPr>
          <a:xfrm>
            <a:off x="252360" y="1371600"/>
            <a:ext cx="7778160" cy="12114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Documentation:</a:t>
            </a:r>
            <a:r>
              <a:rPr b="0" lang="en-US" sz="1860" spc="-1" strike="noStrike">
                <a:solidFill>
                  <a:srgbClr val="000000"/>
                </a:solidFill>
                <a:latin typeface="Arial"/>
                <a:ea typeface="DejaVu Sans"/>
              </a:rPr>
              <a:t>This  directory  has  brief  descriptions  of  various  kernel</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subsystems. This can be your first stop to dig for answers to kernel-related</a:t>
            </a:r>
            <a:endParaRPr b="0" lang="en-US" sz="1860" spc="-1" strike="noStrike">
              <a:solidFill>
                <a:srgbClr val="000000"/>
              </a:solidFill>
              <a:latin typeface="Arial"/>
            </a:endParaRPr>
          </a:p>
          <a:p>
            <a:pPr>
              <a:lnSpc>
                <a:spcPts val="848"/>
              </a:lnSpc>
            </a:pPr>
            <a:br>
              <a:rPr sz="1800"/>
            </a:br>
            <a:r>
              <a:rPr b="0" lang="en-US" sz="1860" spc="-1" strike="noStrike">
                <a:solidFill>
                  <a:srgbClr val="000000"/>
                </a:solidFill>
                <a:latin typeface="Arial"/>
                <a:ea typeface="DejaVu Sans"/>
              </a:rPr>
              <a:t>queries.</a:t>
            </a:r>
            <a:endParaRPr b="0" lang="en-US" sz="1860" spc="-1" strike="noStrike">
              <a:solidFill>
                <a:srgbClr val="000000"/>
              </a:solidFill>
              <a:latin typeface="Arial"/>
            </a:endParaRPr>
          </a:p>
        </p:txBody>
      </p:sp>
      <p:sp>
        <p:nvSpPr>
          <p:cNvPr id="139" name="CustomShape 4"/>
          <p:cNvSpPr/>
          <p:nvPr/>
        </p:nvSpPr>
        <p:spPr>
          <a:xfrm>
            <a:off x="267120" y="2309040"/>
            <a:ext cx="8228520" cy="334584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drivers</a:t>
            </a:r>
            <a:r>
              <a:rPr b="0" lang="en-US" sz="1860" spc="-1" strike="noStrike">
                <a:solidFill>
                  <a:srgbClr val="000000"/>
                </a:solidFill>
                <a:latin typeface="Arial"/>
                <a:ea typeface="DejaVu Sans"/>
              </a:rPr>
              <a:t> - Device drivers for numerous device classes and peripheral controllers</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reside   in   this   directory.   The   device   classes   include   character,   serial,</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Inter-Integrated Circuit(I2C), Personal Computer Memory Card International</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Association(PCMCIA), Peripheral Component Interconnect (PCI), Universal</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Serial Bus (USB), video, audio, block, Integrated Drive Electronics (IDE), Small</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Computer System Interface (SCSI), CD-ROM, network adapters, Asynchronous</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Transfer Mode (ATM), Bluetooth, and Memory Technology Devices (MTD).</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Each of these classes live in a separate sub directory under drivers/. You will, for</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instance, find PCMCIA driver sources inside the drivers/pcmcia/ directory and </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MTD drivers inside the drivers/mtd/ directory.  </a:t>
            </a:r>
            <a:endParaRPr b="0" lang="en-US" sz="18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288000" y="187560"/>
            <a:ext cx="7916760" cy="182124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fs:</a:t>
            </a:r>
            <a:r>
              <a:rPr b="0" lang="en-US" sz="1860" spc="-1" strike="noStrike">
                <a:solidFill>
                  <a:srgbClr val="000000"/>
                </a:solidFill>
                <a:latin typeface="Arial"/>
                <a:ea typeface="DejaVu Sans"/>
              </a:rPr>
              <a:t> This directory contains the implementation of file systems such as EXT3,</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EXT4, reiserfs, FAT, VFAT, sysfs, procfs, isofs, JFFS2, XFS, NTFS, </a:t>
            </a:r>
            <a:endParaRPr b="0" lang="en-US" sz="1860" spc="-1" strike="noStrike">
              <a:solidFill>
                <a:srgbClr val="000000"/>
              </a:solidFill>
              <a:latin typeface="Arial"/>
            </a:endParaRPr>
          </a:p>
          <a:p>
            <a:pPr>
              <a:lnSpc>
                <a:spcPct val="100000"/>
              </a:lnSpc>
            </a:pPr>
            <a:endParaRPr b="0" lang="en-US" sz="1860" spc="-1" strike="noStrike">
              <a:solidFill>
                <a:srgbClr val="000000"/>
              </a:solidFill>
              <a:latin typeface="Arial"/>
            </a:endParaRPr>
          </a:p>
          <a:p>
            <a:pPr>
              <a:lnSpc>
                <a:spcPct val="100000"/>
              </a:lnSpc>
            </a:pPr>
            <a:r>
              <a:rPr b="1" lang="en-US" sz="1870" spc="-1" strike="noStrike">
                <a:solidFill>
                  <a:srgbClr val="000000"/>
                </a:solidFill>
                <a:latin typeface="Arial Bold"/>
                <a:ea typeface="DejaVu Sans"/>
              </a:rPr>
              <a:t>include. </a:t>
            </a:r>
            <a:r>
              <a:rPr b="0" lang="en-US" sz="1860" spc="-1" strike="noStrike">
                <a:solidFill>
                  <a:srgbClr val="000000"/>
                </a:solidFill>
                <a:latin typeface="Arial"/>
                <a:ea typeface="DejaVu Sans"/>
              </a:rPr>
              <a:t>Kernel header files live here. Sub directories prefixed with asm cont</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headers specific to the particular architecture. So the directory include/asm-x</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0" lang="en-US" sz="1860" spc="-1" strike="noStrike">
                <a:solidFill>
                  <a:srgbClr val="000000"/>
                </a:solidFill>
                <a:latin typeface="Arial"/>
                <a:ea typeface="DejaVu Sans"/>
              </a:rPr>
              <a:t>contains header files pertaining to the x86 architecture, whereas include/asm</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0" lang="en-IN" sz="1860" spc="-1" strike="noStrike">
                <a:solidFill>
                  <a:srgbClr val="000000"/>
                </a:solidFill>
                <a:latin typeface="Arial"/>
                <a:ea typeface="DejaVu Sans"/>
              </a:rPr>
              <a:t> </a:t>
            </a:r>
            <a:endParaRPr b="0" lang="en-US" sz="1860" spc="-1" strike="noStrike">
              <a:solidFill>
                <a:srgbClr val="000000"/>
              </a:solidFill>
              <a:latin typeface="Arial"/>
            </a:endParaRPr>
          </a:p>
        </p:txBody>
      </p:sp>
      <p:sp>
        <p:nvSpPr>
          <p:cNvPr id="141" name="CustomShape 2"/>
          <p:cNvSpPr/>
          <p:nvPr/>
        </p:nvSpPr>
        <p:spPr>
          <a:xfrm>
            <a:off x="288000" y="1924200"/>
            <a:ext cx="411120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holds headers for  he ARM architecture.</a:t>
            </a:r>
            <a:endParaRPr b="0" lang="en-US" sz="1860" spc="-1" strike="noStrike">
              <a:solidFill>
                <a:srgbClr val="000000"/>
              </a:solidFill>
              <a:latin typeface="Arial"/>
            </a:endParaRPr>
          </a:p>
        </p:txBody>
      </p:sp>
      <p:sp>
        <p:nvSpPr>
          <p:cNvPr id="142" name="CustomShape 3"/>
          <p:cNvSpPr/>
          <p:nvPr/>
        </p:nvSpPr>
        <p:spPr>
          <a:xfrm>
            <a:off x="312120" y="2083680"/>
            <a:ext cx="7023240" cy="588600"/>
          </a:xfrm>
          <a:prstGeom prst="rect">
            <a:avLst/>
          </a:prstGeom>
          <a:noFill/>
          <a:ln w="0">
            <a:noFill/>
          </a:ln>
        </p:spPr>
        <p:style>
          <a:lnRef idx="0"/>
          <a:fillRef idx="0"/>
          <a:effectRef idx="0"/>
          <a:fontRef idx="minor"/>
        </p:style>
        <p:txBody>
          <a:bodyPr wrap="none" lIns="0" rIns="0" tIns="0" bIns="0" anchor="t">
            <a:noAutofit/>
          </a:bodyPr>
          <a:p>
            <a:pPr>
              <a:lnSpc>
                <a:spcPts val="811"/>
              </a:lnSpc>
            </a:pPr>
            <a:endParaRPr b="0" lang="en-US" sz="1800" spc="-1" strike="noStrike">
              <a:solidFill>
                <a:srgbClr val="000000"/>
              </a:solidFill>
              <a:latin typeface="Arial"/>
            </a:endParaRPr>
          </a:p>
          <a:p>
            <a:pPr>
              <a:lnSpc>
                <a:spcPts val="811"/>
              </a:lnSpc>
            </a:pPr>
            <a:endParaRPr b="0" lang="en-US" sz="1800" spc="-1" strike="noStrike">
              <a:solidFill>
                <a:srgbClr val="000000"/>
              </a:solidFill>
              <a:latin typeface="Arial"/>
            </a:endParaRPr>
          </a:p>
          <a:p>
            <a:pPr>
              <a:lnSpc>
                <a:spcPts val="811"/>
              </a:lnSpc>
            </a:pPr>
            <a:r>
              <a:rPr b="1" lang="en-US" sz="1870" spc="-1" strike="noStrike">
                <a:solidFill>
                  <a:srgbClr val="000000"/>
                </a:solidFill>
                <a:latin typeface="Arial Bold"/>
                <a:ea typeface="DejaVu Sans"/>
              </a:rPr>
              <a:t>Init: </a:t>
            </a:r>
            <a:r>
              <a:rPr b="0" lang="en-US" sz="1860" spc="-1" strike="noStrike">
                <a:solidFill>
                  <a:srgbClr val="000000"/>
                </a:solidFill>
                <a:latin typeface="Arial"/>
                <a:ea typeface="DejaVu Sans"/>
              </a:rPr>
              <a:t>This directory contains high-level initialization and startup code.</a:t>
            </a:r>
            <a:endParaRPr b="0" lang="en-US" sz="1860" spc="-1" strike="noStrike">
              <a:solidFill>
                <a:srgbClr val="000000"/>
              </a:solidFill>
              <a:latin typeface="Arial"/>
            </a:endParaRPr>
          </a:p>
          <a:p>
            <a:pPr>
              <a:lnSpc>
                <a:spcPts val="811"/>
              </a:lnSpc>
            </a:pPr>
            <a:endParaRPr b="0" lang="en-US" sz="1860" spc="-1" strike="noStrike">
              <a:solidFill>
                <a:srgbClr val="000000"/>
              </a:solidFill>
              <a:latin typeface="Arial"/>
            </a:endParaRPr>
          </a:p>
          <a:p>
            <a:pPr>
              <a:lnSpc>
                <a:spcPts val="811"/>
              </a:lnSpc>
            </a:pPr>
            <a:endParaRPr b="0" lang="en-US" sz="1860" spc="-1" strike="noStrike">
              <a:solidFill>
                <a:srgbClr val="000000"/>
              </a:solidFill>
              <a:latin typeface="Arial"/>
            </a:endParaRPr>
          </a:p>
        </p:txBody>
      </p:sp>
      <p:sp>
        <p:nvSpPr>
          <p:cNvPr id="143" name="CustomShape 4"/>
          <p:cNvSpPr/>
          <p:nvPr/>
        </p:nvSpPr>
        <p:spPr>
          <a:xfrm>
            <a:off x="288000" y="2480040"/>
            <a:ext cx="8063280" cy="334584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Ipc:</a:t>
            </a:r>
            <a:r>
              <a:rPr b="0" lang="en-US" sz="1860" spc="-1" strike="noStrike">
                <a:solidFill>
                  <a:srgbClr val="000000"/>
                </a:solidFill>
                <a:latin typeface="Arial"/>
                <a:ea typeface="DejaVu Sans"/>
              </a:rPr>
              <a:t>This contains support for Inter-Process Communication (IPC) mechanis</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such as message queues, semaphores, and shared memory kernel. The archit</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Independent  portions of the  base kernel can be found here.</a:t>
            </a:r>
            <a:endParaRPr b="0" lang="en-US" sz="1860" spc="-1" strike="noStrike">
              <a:solidFill>
                <a:srgbClr val="000000"/>
              </a:solidFill>
              <a:latin typeface="Arial"/>
            </a:endParaRPr>
          </a:p>
          <a:p>
            <a:pPr>
              <a:lnSpc>
                <a:spcPct val="100000"/>
              </a:lnSpc>
            </a:pPr>
            <a:r>
              <a:rPr b="1" lang="en-US" sz="1870" spc="-1" strike="noStrike">
                <a:solidFill>
                  <a:srgbClr val="000000"/>
                </a:solidFill>
                <a:latin typeface="Arial Bold"/>
                <a:ea typeface="DejaVu Sans"/>
              </a:rPr>
              <a:t>lib. </a:t>
            </a:r>
            <a:r>
              <a:rPr b="0" lang="en-US" sz="1860" spc="-1" strike="noStrike">
                <a:solidFill>
                  <a:srgbClr val="000000"/>
                </a:solidFill>
                <a:latin typeface="Arial"/>
                <a:ea typeface="DejaVu Sans"/>
              </a:rPr>
              <a:t>Library routines such as generic kernel object (kobject) handlers and</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Cyclic Redundancy Code (CRC) computation functions stay here.</a:t>
            </a:r>
            <a:endParaRPr b="0" lang="en-US" sz="1860" spc="-1" strike="noStrike">
              <a:solidFill>
                <a:srgbClr val="000000"/>
              </a:solidFill>
              <a:latin typeface="Arial"/>
            </a:endParaRPr>
          </a:p>
          <a:p>
            <a:pPr>
              <a:lnSpc>
                <a:spcPct val="100000"/>
              </a:lnSpc>
            </a:pPr>
            <a:r>
              <a:rPr b="1" lang="en-US" sz="1870" spc="-1" strike="noStrike">
                <a:solidFill>
                  <a:srgbClr val="000000"/>
                </a:solidFill>
                <a:latin typeface="Arial Bold"/>
                <a:ea typeface="DejaVu Sans"/>
              </a:rPr>
              <a:t>mm.</a:t>
            </a:r>
            <a:r>
              <a:rPr b="0" lang="en-US" sz="1860" spc="-1" strike="noStrike">
                <a:solidFill>
                  <a:srgbClr val="000000"/>
                </a:solidFill>
                <a:latin typeface="Arial"/>
                <a:ea typeface="DejaVu Sans"/>
              </a:rPr>
              <a:t> The memory management implementation lives here.</a:t>
            </a:r>
            <a:endParaRPr b="0" lang="en-US" sz="1860" spc="-1" strike="noStrike">
              <a:solidFill>
                <a:srgbClr val="000000"/>
              </a:solidFill>
              <a:latin typeface="Arial"/>
            </a:endParaRPr>
          </a:p>
          <a:p>
            <a:pPr>
              <a:lnSpc>
                <a:spcPct val="100000"/>
              </a:lnSpc>
            </a:pPr>
            <a:r>
              <a:rPr b="1" lang="en-US" sz="1870" spc="-1" strike="noStrike">
                <a:solidFill>
                  <a:srgbClr val="000000"/>
                </a:solidFill>
                <a:latin typeface="Arial Bold"/>
                <a:ea typeface="DejaVu Sans"/>
              </a:rPr>
              <a:t>net.</a:t>
            </a:r>
            <a:r>
              <a:rPr b="0" lang="en-US" sz="1860" spc="-1" strike="noStrike">
                <a:solidFill>
                  <a:srgbClr val="000000"/>
                </a:solidFill>
                <a:latin typeface="Arial"/>
                <a:ea typeface="DejaVu Sans"/>
              </a:rPr>
              <a:t> Networking protocols reside under this directory. Protocols implemente</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Internet Protocol version 4 (IPv4), IPv6, Internetwork Protocol eXchange (IP</a:t>
            </a:r>
            <a:endParaRPr b="0" lang="en-US" sz="1860" spc="-1" strike="noStrike">
              <a:solidFill>
                <a:srgbClr val="000000"/>
              </a:solidFill>
              <a:latin typeface="Arial"/>
            </a:endParaRPr>
          </a:p>
          <a:p>
            <a:pPr>
              <a:lnSpc>
                <a:spcPct val="100000"/>
              </a:lnSpc>
            </a:pPr>
            <a:r>
              <a:rPr b="0" lang="en-US" sz="1860" spc="-1" strike="noStrike">
                <a:solidFill>
                  <a:srgbClr val="000000"/>
                </a:solidFill>
                <a:latin typeface="Arial"/>
                <a:ea typeface="DejaVu Sans"/>
              </a:rPr>
              <a:t>ATM, Infrared, Link Access Procedure Balanced (LAPB), and Logical Link</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1" lang="en-US" sz="1870" spc="-1" strike="noStrike">
                <a:solidFill>
                  <a:srgbClr val="000000"/>
                </a:solidFill>
                <a:latin typeface="Arial Bold"/>
                <a:ea typeface="DejaVu Sans"/>
              </a:rPr>
              <a:t>Scripts:</a:t>
            </a:r>
            <a:r>
              <a:rPr b="0" lang="en-US" sz="1860" spc="-1" strike="noStrike">
                <a:solidFill>
                  <a:srgbClr val="000000"/>
                </a:solidFill>
                <a:latin typeface="Arial"/>
                <a:ea typeface="DejaVu Sans"/>
              </a:rPr>
              <a:t> Scripts used during kernel build reside here.</a:t>
            </a:r>
            <a:endParaRPr b="0" lang="en-US" sz="1860" spc="-1" strike="noStrike">
              <a:solidFill>
                <a:srgbClr val="000000"/>
              </a:solidFill>
              <a:latin typeface="Arial"/>
            </a:endParaRPr>
          </a:p>
        </p:txBody>
      </p:sp>
      <p:sp>
        <p:nvSpPr>
          <p:cNvPr id="144" name="CustomShape 5"/>
          <p:cNvSpPr/>
          <p:nvPr/>
        </p:nvSpPr>
        <p:spPr>
          <a:xfrm>
            <a:off x="331560" y="5496480"/>
            <a:ext cx="8353080" cy="12114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1" lang="en-US" sz="1870" spc="-1" strike="noStrike">
                <a:solidFill>
                  <a:srgbClr val="000000"/>
                </a:solidFill>
                <a:latin typeface="Arial Bold"/>
                <a:ea typeface="DejaVu Sans"/>
              </a:rPr>
              <a:t>Security:</a:t>
            </a:r>
            <a:r>
              <a:rPr b="0" lang="en-US" sz="1860" spc="-1" strike="noStrike">
                <a:solidFill>
                  <a:srgbClr val="000000"/>
                </a:solidFill>
                <a:latin typeface="Arial"/>
                <a:ea typeface="DejaVu Sans"/>
              </a:rPr>
              <a:t> This directory contains the framework for security.</a:t>
            </a:r>
            <a:endParaRPr b="0" lang="en-US" sz="1860" spc="-1" strike="noStrike">
              <a:solidFill>
                <a:srgbClr val="000000"/>
              </a:solidFill>
              <a:latin typeface="Arial"/>
            </a:endParaRPr>
          </a:p>
          <a:p>
            <a:pPr>
              <a:lnSpc>
                <a:spcPct val="100000"/>
              </a:lnSpc>
            </a:pPr>
            <a:r>
              <a:rPr b="1" lang="en-US" sz="1870" spc="-1" strike="noStrike">
                <a:solidFill>
                  <a:srgbClr val="000000"/>
                </a:solidFill>
                <a:latin typeface="Arial Bold"/>
                <a:ea typeface="DejaVu Sans"/>
              </a:rPr>
              <a:t>Sound:</a:t>
            </a:r>
            <a:r>
              <a:rPr b="0" lang="en-US" sz="1860" spc="-1" strike="noStrike">
                <a:solidFill>
                  <a:srgbClr val="000000"/>
                </a:solidFill>
                <a:latin typeface="Arial"/>
                <a:ea typeface="DejaVu Sans"/>
              </a:rPr>
              <a:t> The Linux audio subsystem is based in this directory.</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r>
              <a:rPr b="1" lang="en-US" sz="1870" spc="-1" strike="noStrike">
                <a:solidFill>
                  <a:srgbClr val="000000"/>
                </a:solidFill>
                <a:latin typeface="Arial Bold"/>
                <a:ea typeface="DejaVu Sans"/>
              </a:rPr>
              <a:t>Usr:</a:t>
            </a:r>
            <a:r>
              <a:rPr b="0" lang="en-US" sz="1860" spc="-1" strike="noStrike">
                <a:solidFill>
                  <a:srgbClr val="000000"/>
                </a:solidFill>
                <a:latin typeface="Arial"/>
                <a:ea typeface="DejaVu Sans"/>
              </a:rPr>
              <a:t>This currently contains the initramfs implementation.</a:t>
            </a: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a:p>
            <a:pPr>
              <a:lnSpc>
                <a:spcPts val="848"/>
              </a:lnSpc>
            </a:pPr>
            <a:endParaRPr b="0" lang="en-US" sz="18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CustomShape 1"/>
          <p:cNvSpPr/>
          <p:nvPr/>
        </p:nvSpPr>
        <p:spPr>
          <a:xfrm>
            <a:off x="432000" y="360000"/>
            <a:ext cx="8709840" cy="187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IPC </a:t>
            </a:r>
            <a:r>
              <a:rPr b="0" lang="en-IN" sz="1800" spc="-1" strike="noStrike">
                <a:solidFill>
                  <a:srgbClr val="000000"/>
                </a:solidFill>
                <a:latin typeface="Arial"/>
                <a:ea typeface="DejaVu Sans"/>
              </a:rPr>
              <a:t>The Inter-Process Communication (IPC) subsystem code; covers IPC mechanisms such as (both SysV and POSIX) message queues, shared memory, semaphores, and so 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Sound</a:t>
            </a:r>
            <a:r>
              <a:rPr b="0" lang="en-IN" sz="1800" spc="-1" strike="noStrike">
                <a:solidFill>
                  <a:srgbClr val="000000"/>
                </a:solidFill>
                <a:latin typeface="Arial"/>
                <a:ea typeface="DejaVu Sans"/>
              </a:rPr>
              <a:t> The audio subsystem code, also known as Advanced Linux</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Sound Architecture (ALSA).</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Virt</a:t>
            </a:r>
            <a:r>
              <a:rPr b="0" lang="en-IN" sz="1800" spc="-1" strike="noStrike">
                <a:solidFill>
                  <a:srgbClr val="000000"/>
                </a:solidFill>
                <a:latin typeface="Arial"/>
                <a:ea typeface="DejaVu Sans"/>
              </a:rPr>
              <a:t> The virtualization (hypervisor) code; the popular and powerful Kernel Virtual Machine (KVM) is implemented here.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a933"/>
                </a:solidFill>
                <a:latin typeface="Arial"/>
                <a:ea typeface="DejaVu Sans"/>
              </a:rPr>
              <a:t>Linux Kernl build procedure on X86:</a:t>
            </a:r>
            <a:br>
              <a:rPr sz="1800"/>
            </a:b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https://kernel.org/     -&gt; Download 6.12 kernel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tar -xvf linux-6.12.tar.xz  -&gt; Un tar file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#Install dependency packages on Ubuntu setup</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3. $sudo apt update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r>
              <a:rPr b="0" lang="en-IN" sz="1800" spc="-1" strike="noStrike">
                <a:solidFill>
                  <a:srgbClr val="000000"/>
                </a:solidFill>
                <a:latin typeface="Arial"/>
                <a:ea typeface="DejaVu Sans"/>
              </a:rPr>
              <a:t>$sudo apt install build-essential libncurses-dev bison flex libssl-dev bc</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Picture 1" descr=""/>
          <p:cNvPicPr/>
          <p:nvPr/>
        </p:nvPicPr>
        <p:blipFill>
          <a:blip r:embed="rId1"/>
          <a:stretch/>
        </p:blipFill>
        <p:spPr>
          <a:xfrm>
            <a:off x="0" y="0"/>
            <a:ext cx="9135720" cy="6837120"/>
          </a:xfrm>
          <a:prstGeom prst="rect">
            <a:avLst/>
          </a:prstGeom>
          <a:ln w="0">
            <a:noFill/>
          </a:ln>
        </p:spPr>
      </p:pic>
      <p:sp>
        <p:nvSpPr>
          <p:cNvPr id="147" name="CustomShape 1"/>
          <p:cNvSpPr/>
          <p:nvPr/>
        </p:nvSpPr>
        <p:spPr>
          <a:xfrm>
            <a:off x="3271320" y="285840"/>
            <a:ext cx="28044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Kernel Configuration</a:t>
            </a:r>
            <a:endParaRPr b="0" lang="en-US" sz="2240" spc="-1" strike="noStrike">
              <a:solidFill>
                <a:srgbClr val="000000"/>
              </a:solidFill>
              <a:latin typeface="Arial"/>
            </a:endParaRPr>
          </a:p>
        </p:txBody>
      </p:sp>
      <p:sp>
        <p:nvSpPr>
          <p:cNvPr id="148" name="CustomShape 2"/>
          <p:cNvSpPr/>
          <p:nvPr/>
        </p:nvSpPr>
        <p:spPr>
          <a:xfrm>
            <a:off x="208080" y="582120"/>
            <a:ext cx="8282880" cy="14778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The Linux kernel configuration is usually found in the kernel source</a:t>
            </a:r>
            <a:endParaRPr b="0" lang="en-US" sz="2230" spc="-1" strike="noStrike">
              <a:solidFill>
                <a:srgbClr val="000000"/>
              </a:solidFill>
              <a:latin typeface="Arial"/>
            </a:endParaRPr>
          </a:p>
          <a:p>
            <a:pPr>
              <a:lnSpc>
                <a:spcPts val="1375"/>
              </a:lnSpc>
            </a:pPr>
            <a:endParaRPr b="0" lang="en-US" sz="2230" spc="-1" strike="noStrike">
              <a:solidFill>
                <a:srgbClr val="000000"/>
              </a:solidFill>
              <a:latin typeface="Arial"/>
            </a:endParaRPr>
          </a:p>
          <a:p>
            <a:pPr>
              <a:lnSpc>
                <a:spcPts val="1375"/>
              </a:lnSpc>
            </a:pPr>
            <a:r>
              <a:rPr b="0" lang="en-US" sz="2230" spc="-1" strike="noStrike">
                <a:solidFill>
                  <a:srgbClr val="000000"/>
                </a:solidFill>
                <a:latin typeface="Arial"/>
                <a:ea typeface="DejaVu Sans"/>
              </a:rPr>
              <a:t>in the file: /xxx/src/linux/.config .</a:t>
            </a:r>
            <a:endParaRPr b="0" lang="en-US" sz="2230" spc="-1" strike="noStrike">
              <a:solidFill>
                <a:srgbClr val="000000"/>
              </a:solidFill>
              <a:latin typeface="Arial"/>
            </a:endParaRPr>
          </a:p>
        </p:txBody>
      </p:sp>
      <p:sp>
        <p:nvSpPr>
          <p:cNvPr id="149" name="CustomShape 3"/>
          <p:cNvSpPr/>
          <p:nvPr/>
        </p:nvSpPr>
        <p:spPr>
          <a:xfrm>
            <a:off x="231480" y="1739880"/>
            <a:ext cx="8681760" cy="14778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The kernel can be configured using text mode or graphical mode</a:t>
            </a:r>
            <a:endParaRPr b="0" lang="en-US" sz="2230" spc="-1" strike="noStrike">
              <a:solidFill>
                <a:srgbClr val="000000"/>
              </a:solidFill>
              <a:latin typeface="Arial"/>
            </a:endParaRPr>
          </a:p>
          <a:p>
            <a:pPr>
              <a:lnSpc>
                <a:spcPts val="1375"/>
              </a:lnSpc>
            </a:pPr>
            <a:endParaRPr b="0" lang="en-US" sz="2230" spc="-1" strike="noStrike">
              <a:solidFill>
                <a:srgbClr val="000000"/>
              </a:solidFill>
              <a:latin typeface="Arial"/>
            </a:endParaRPr>
          </a:p>
          <a:p>
            <a:pPr>
              <a:lnSpc>
                <a:spcPts val="1375"/>
              </a:lnSpc>
            </a:pPr>
            <a:endParaRPr b="0" lang="en-US" sz="2230" spc="-1" strike="noStrike">
              <a:solidFill>
                <a:srgbClr val="000000"/>
              </a:solidFill>
              <a:latin typeface="Arial"/>
            </a:endParaRPr>
          </a:p>
        </p:txBody>
      </p:sp>
      <p:sp>
        <p:nvSpPr>
          <p:cNvPr id="150" name="CustomShape 4"/>
          <p:cNvSpPr/>
          <p:nvPr/>
        </p:nvSpPr>
        <p:spPr>
          <a:xfrm>
            <a:off x="251640" y="2514600"/>
            <a:ext cx="8704800" cy="4061880"/>
          </a:xfrm>
          <a:prstGeom prst="rect">
            <a:avLst/>
          </a:prstGeom>
          <a:noFill/>
          <a:ln w="0">
            <a:noFill/>
          </a:ln>
        </p:spPr>
        <p:style>
          <a:lnRef idx="0"/>
          <a:fillRef idx="0"/>
          <a:effectRef idx="0"/>
          <a:fontRef idx="minor"/>
        </p:style>
        <p:txBody>
          <a:bodyPr lIns="0" rIns="0" tIns="0" bIns="0" anchor="t">
            <a:noAutofit/>
          </a:bodyPr>
          <a:p>
            <a:pPr>
              <a:lnSpc>
                <a:spcPts val="1375"/>
              </a:lnSpc>
            </a:pPr>
            <a:r>
              <a:rPr b="1" lang="en-US" sz="1800" spc="-1" strike="noStrike">
                <a:solidFill>
                  <a:srgbClr val="000000"/>
                </a:solidFill>
                <a:latin typeface="Calibri"/>
                <a:ea typeface="DejaVu Sans"/>
              </a:rPr>
              <a:t>make config </a:t>
            </a:r>
            <a:r>
              <a:rPr b="0" lang="en-US" sz="1800" spc="-1" strike="noStrike">
                <a:solidFill>
                  <a:srgbClr val="000000"/>
                </a:solidFill>
                <a:latin typeface="Calibri"/>
                <a:ea typeface="DejaVu Sans"/>
              </a:rPr>
              <a:t>- starts a character based questions and answer session</a:t>
            </a:r>
            <a:endParaRPr b="0" lang="en-US" sz="1800" spc="-1" strike="noStrike">
              <a:solidFill>
                <a:srgbClr val="000000"/>
              </a:solidFill>
              <a:latin typeface="Arial"/>
            </a:endParaRPr>
          </a:p>
          <a:p>
            <a:pPr>
              <a:lnSpc>
                <a:spcPts val="1375"/>
              </a:lnSpc>
            </a:pPr>
            <a:endParaRPr b="0" lang="en-US" sz="1800" spc="-1" strike="noStrike">
              <a:solidFill>
                <a:srgbClr val="000000"/>
              </a:solidFill>
              <a:latin typeface="Arial"/>
            </a:endParaRPr>
          </a:p>
          <a:p>
            <a:pPr>
              <a:lnSpc>
                <a:spcPts val="1375"/>
              </a:lnSpc>
            </a:pPr>
            <a:r>
              <a:rPr b="1" lang="en-US" sz="1800" spc="-1" strike="noStrike">
                <a:solidFill>
                  <a:srgbClr val="000000"/>
                </a:solidFill>
                <a:latin typeface="Calibri"/>
                <a:ea typeface="DejaVu Sans"/>
              </a:rPr>
              <a:t>make menuconfig</a:t>
            </a:r>
            <a:r>
              <a:rPr b="0" lang="en-US" sz="1800" spc="-1" strike="noStrike">
                <a:solidFill>
                  <a:srgbClr val="000000"/>
                </a:solidFill>
                <a:latin typeface="Calibri"/>
                <a:ea typeface="DejaVu Sans"/>
              </a:rPr>
              <a:t> - starts a terminal-oriented configuration tool (using </a:t>
            </a:r>
            <a:endParaRPr b="0" lang="en-US" sz="1800" spc="-1" strike="noStrike">
              <a:solidFill>
                <a:srgbClr val="000000"/>
              </a:solidFill>
              <a:latin typeface="Arial"/>
            </a:endParaRPr>
          </a:p>
          <a:p>
            <a:pPr>
              <a:lnSpc>
                <a:spcPts val="1375"/>
              </a:lnSpc>
            </a:pPr>
            <a:r>
              <a:rPr b="0" lang="en-US" sz="1800" spc="-1" strike="noStrike">
                <a:solidFill>
                  <a:srgbClr val="000000"/>
                </a:solidFill>
                <a:latin typeface="Calibri"/>
                <a:ea typeface="DejaVu Sans"/>
              </a:rPr>
              <a:t>ncurses)</a:t>
            </a:r>
            <a:endParaRPr b="0" lang="en-US" sz="1800" spc="-1" strike="noStrike">
              <a:solidFill>
                <a:srgbClr val="000000"/>
              </a:solidFill>
              <a:latin typeface="Arial"/>
            </a:endParaRPr>
          </a:p>
          <a:p>
            <a:pPr>
              <a:lnSpc>
                <a:spcPts val="1375"/>
              </a:lnSpc>
            </a:pPr>
            <a:endParaRPr b="0" lang="en-US" sz="1800" spc="-1" strike="noStrike">
              <a:solidFill>
                <a:srgbClr val="000000"/>
              </a:solidFill>
              <a:latin typeface="Arial"/>
            </a:endParaRPr>
          </a:p>
          <a:p>
            <a:pPr>
              <a:lnSpc>
                <a:spcPts val="1375"/>
              </a:lnSpc>
            </a:pPr>
            <a:r>
              <a:rPr b="1" lang="en-US" sz="1800" spc="-1" strike="noStrike">
                <a:solidFill>
                  <a:srgbClr val="000000"/>
                </a:solidFill>
                <a:latin typeface="Calibri"/>
                <a:ea typeface="DejaVu Sans"/>
              </a:rPr>
              <a:t>make defconfig </a:t>
            </a:r>
            <a:r>
              <a:rPr b="0" lang="en-US" sz="1800" spc="-1" strike="noStrike">
                <a:solidFill>
                  <a:srgbClr val="000000"/>
                </a:solidFill>
                <a:latin typeface="Calibri"/>
                <a:ea typeface="DejaVu Sans"/>
              </a:rPr>
              <a:t>- This command creates a configuration based on the defaults for your architecture options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make oldconfig: </a:t>
            </a:r>
            <a:r>
              <a:rPr b="0" lang="en-US" sz="1800" spc="-1" strike="noStrike">
                <a:solidFill>
                  <a:srgbClr val="000000"/>
                </a:solidFill>
                <a:latin typeface="Calibri"/>
                <a:ea typeface="DejaVu Sans"/>
              </a:rPr>
              <a:t>After making changes to your configuration file, or when using an existing configuration file on a new kernel tree, you can validate and update the configuration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zcat /proc/config.gz &gt; .config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make oldconfig</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US" sz="1800" spc="-1" strike="noStrike">
                <a:solidFill>
                  <a:srgbClr val="000000"/>
                </a:solidFill>
                <a:latin typeface="Calibri"/>
                <a:ea typeface="DejaVu Sans"/>
              </a:rPr>
              <a:t>make olddefconfig</a:t>
            </a:r>
            <a:endParaRPr b="0" lang="en-US" sz="1800" spc="-1" strike="noStrike">
              <a:solidFill>
                <a:srgbClr val="000000"/>
              </a:solidFill>
              <a:latin typeface="Arial"/>
            </a:endParaRPr>
          </a:p>
          <a:p>
            <a:pPr>
              <a:lnSpc>
                <a:spcPts val="1375"/>
              </a:lnSpc>
            </a:pPr>
            <a:endParaRPr b="0" lang="en-US" sz="1800" spc="-1" strike="noStrike">
              <a:solidFill>
                <a:srgbClr val="000000"/>
              </a:solidFill>
              <a:latin typeface="Arial"/>
            </a:endParaRPr>
          </a:p>
        </p:txBody>
      </p:sp>
      <p:sp>
        <p:nvSpPr>
          <p:cNvPr id="151" name="CustomShape 5"/>
          <p:cNvSpPr/>
          <p:nvPr/>
        </p:nvSpPr>
        <p:spPr>
          <a:xfrm>
            <a:off x="1727280" y="3479760"/>
            <a:ext cx="91440" cy="499680"/>
          </a:xfrm>
          <a:prstGeom prst="rect">
            <a:avLst/>
          </a:prstGeom>
          <a:noFill/>
          <a:ln w="0">
            <a:noFill/>
          </a:ln>
        </p:spPr>
        <p:style>
          <a:lnRef idx="0"/>
          <a:fillRef idx="0"/>
          <a:effectRef idx="0"/>
          <a:fontRef idx="minor"/>
        </p:style>
        <p:txBody>
          <a:bodyPr wrap="none" lIns="0" rIns="0" tIns="0" bIns="0" anchor="t">
            <a:noAutofit/>
          </a:bodyPr>
          <a:p>
            <a:pPr>
              <a:lnSpc>
                <a:spcPts val="1412"/>
              </a:lnSpc>
            </a:pPr>
            <a:r>
              <a:rPr b="0" lang="en-US" sz="2230" spc="-1" strike="noStrike">
                <a:solidFill>
                  <a:srgbClr val="000000"/>
                </a:solidFill>
                <a:latin typeface="Arial Unicode MS"/>
                <a:ea typeface="DejaVu Sans"/>
              </a:rPr>
              <a:t>•</a:t>
            </a:r>
            <a:endParaRPr b="0" lang="en-US" sz="2230" spc="-1" strike="noStrike">
              <a:solidFill>
                <a:srgbClr val="000000"/>
              </a:solidFill>
              <a:latin typeface="Arial"/>
            </a:endParaRPr>
          </a:p>
        </p:txBody>
      </p:sp>
      <p:sp>
        <p:nvSpPr>
          <p:cNvPr id="152" name="CustomShape 6"/>
          <p:cNvSpPr/>
          <p:nvPr/>
        </p:nvSpPr>
        <p:spPr>
          <a:xfrm>
            <a:off x="32040" y="4508280"/>
            <a:ext cx="360" cy="708840"/>
          </a:xfrm>
          <a:prstGeom prst="rect">
            <a:avLst/>
          </a:prstGeom>
          <a:noFill/>
          <a:ln w="0">
            <a:noFill/>
          </a:ln>
        </p:spPr>
        <p:style>
          <a:lnRef idx="0"/>
          <a:fillRef idx="0"/>
          <a:effectRef idx="0"/>
          <a:fontRef idx="minor"/>
        </p:style>
        <p:txBody>
          <a:bodyPr wrap="none" lIns="0" rIns="0" tIns="0" bIns="0" anchor="t">
            <a:noAutofit/>
          </a:bodyPr>
          <a:p>
            <a:pPr>
              <a:lnSpc>
                <a:spcPts val="975"/>
              </a:lnSpc>
            </a:pPr>
            <a:endParaRPr b="0" lang="en-US" sz="1800" spc="-1" strike="noStrike">
              <a:solidFill>
                <a:srgbClr val="000000"/>
              </a:solidFill>
              <a:latin typeface="Arial"/>
            </a:endParaRPr>
          </a:p>
          <a:p>
            <a:pPr>
              <a:lnSpc>
                <a:spcPts val="975"/>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3" name="Picture 1" descr=""/>
          <p:cNvPicPr/>
          <p:nvPr/>
        </p:nvPicPr>
        <p:blipFill>
          <a:blip r:embed="rId1"/>
          <a:stretch/>
        </p:blipFill>
        <p:spPr>
          <a:xfrm>
            <a:off x="0" y="0"/>
            <a:ext cx="9135720" cy="6837120"/>
          </a:xfrm>
          <a:prstGeom prst="rect">
            <a:avLst/>
          </a:prstGeom>
          <a:ln w="0">
            <a:noFill/>
          </a:ln>
        </p:spPr>
      </p:pic>
      <p:sp>
        <p:nvSpPr>
          <p:cNvPr id="154" name="CustomShape 1"/>
          <p:cNvSpPr/>
          <p:nvPr/>
        </p:nvSpPr>
        <p:spPr>
          <a:xfrm>
            <a:off x="2966400" y="524880"/>
            <a:ext cx="308808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Kernel Configuration…</a:t>
            </a:r>
            <a:endParaRPr b="0" lang="en-US" sz="2240" spc="-1" strike="noStrike">
              <a:solidFill>
                <a:srgbClr val="000000"/>
              </a:solidFill>
              <a:latin typeface="Arial"/>
            </a:endParaRPr>
          </a:p>
        </p:txBody>
      </p:sp>
      <p:sp>
        <p:nvSpPr>
          <p:cNvPr id="155" name="CustomShape 2"/>
          <p:cNvSpPr/>
          <p:nvPr/>
        </p:nvSpPr>
        <p:spPr>
          <a:xfrm>
            <a:off x="226080" y="1191600"/>
            <a:ext cx="86871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When the kernel configuration runs, it reads the main kernel</a:t>
            </a:r>
            <a:endParaRPr b="0" lang="en-US" sz="2230" spc="-1" strike="noStrike">
              <a:solidFill>
                <a:srgbClr val="000000"/>
              </a:solidFill>
              <a:latin typeface="Arial"/>
            </a:endParaRPr>
          </a:p>
        </p:txBody>
      </p:sp>
      <p:sp>
        <p:nvSpPr>
          <p:cNvPr id="156" name="CustomShape 3"/>
          <p:cNvSpPr/>
          <p:nvPr/>
        </p:nvSpPr>
        <p:spPr>
          <a:xfrm>
            <a:off x="934200" y="1866960"/>
            <a:ext cx="57128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configuration file, located in arch/i386/Kconfig.</a:t>
            </a:r>
            <a:endParaRPr b="0" lang="en-US" sz="2230" spc="-1" strike="noStrike">
              <a:solidFill>
                <a:srgbClr val="000000"/>
              </a:solidFill>
              <a:latin typeface="Arial"/>
            </a:endParaRPr>
          </a:p>
        </p:txBody>
      </p:sp>
      <p:sp>
        <p:nvSpPr>
          <p:cNvPr id="157" name="CustomShape 4"/>
          <p:cNvSpPr/>
          <p:nvPr/>
        </p:nvSpPr>
        <p:spPr>
          <a:xfrm>
            <a:off x="413280" y="2127240"/>
            <a:ext cx="8499960" cy="14778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This configuration file also includes other configuration files as</a:t>
            </a:r>
            <a:endParaRPr b="0" lang="en-US" sz="2230" spc="-1" strike="noStrike">
              <a:solidFill>
                <a:srgbClr val="000000"/>
              </a:solidFill>
              <a:latin typeface="Arial"/>
            </a:endParaRPr>
          </a:p>
          <a:p>
            <a:pPr>
              <a:lnSpc>
                <a:spcPts val="1375"/>
              </a:lnSpc>
            </a:pPr>
            <a:endParaRPr b="0" lang="en-US" sz="2230" spc="-1" strike="noStrike">
              <a:solidFill>
                <a:srgbClr val="000000"/>
              </a:solidFill>
              <a:latin typeface="Arial"/>
            </a:endParaRPr>
          </a:p>
          <a:p>
            <a:pPr>
              <a:lnSpc>
                <a:spcPts val="1375"/>
              </a:lnSpc>
            </a:pPr>
            <a:r>
              <a:rPr b="0" lang="en-US" sz="2230" spc="-1" strike="noStrike">
                <a:solidFill>
                  <a:srgbClr val="000000"/>
                </a:solidFill>
                <a:latin typeface="Arial"/>
                <a:ea typeface="DejaVu Sans"/>
              </a:rPr>
              <a:t>needed.</a:t>
            </a:r>
            <a:endParaRPr b="0" lang="en-US" sz="2230" spc="-1" strike="noStrike">
              <a:solidFill>
                <a:srgbClr val="000000"/>
              </a:solidFill>
              <a:latin typeface="Arial"/>
            </a:endParaRPr>
          </a:p>
        </p:txBody>
      </p:sp>
      <p:sp>
        <p:nvSpPr>
          <p:cNvPr id="158" name="CustomShape 5"/>
          <p:cNvSpPr/>
          <p:nvPr/>
        </p:nvSpPr>
        <p:spPr>
          <a:xfrm>
            <a:off x="1804680" y="2865960"/>
            <a:ext cx="5339880" cy="147780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For example arch/i386/Kconfig file includes</a:t>
            </a:r>
            <a:endParaRPr b="0" lang="en-US" sz="2230" spc="-1" strike="noStrike">
              <a:solidFill>
                <a:srgbClr val="000000"/>
              </a:solidFill>
              <a:latin typeface="Arial"/>
            </a:endParaRPr>
          </a:p>
          <a:p>
            <a:pPr>
              <a:lnSpc>
                <a:spcPts val="1375"/>
              </a:lnSpc>
            </a:pPr>
            <a:r>
              <a:rPr b="0" lang="en-US" sz="2230" spc="-1" strike="noStrike">
                <a:solidFill>
                  <a:srgbClr val="000000"/>
                </a:solidFill>
                <a:latin typeface="Arial"/>
                <a:ea typeface="DejaVu Sans"/>
              </a:rPr>
              <a:t>	</a:t>
            </a:r>
            <a:endParaRPr b="0" lang="en-US" sz="2230" spc="-1" strike="noStrike">
              <a:solidFill>
                <a:srgbClr val="000000"/>
              </a:solidFill>
              <a:latin typeface="Arial"/>
            </a:endParaRPr>
          </a:p>
          <a:p>
            <a:pPr>
              <a:lnSpc>
                <a:spcPts val="1375"/>
              </a:lnSpc>
            </a:pPr>
            <a:r>
              <a:rPr b="0" lang="en-US" sz="2230" spc="-1" strike="noStrike">
                <a:solidFill>
                  <a:srgbClr val="000000"/>
                </a:solidFill>
                <a:latin typeface="Arial"/>
                <a:ea typeface="DejaVu Sans"/>
              </a:rPr>
              <a:t>source “sound/core/Kconfig”</a:t>
            </a:r>
            <a:endParaRPr b="0" lang="en-US" sz="2230" spc="-1" strike="noStrike">
              <a:solidFill>
                <a:srgbClr val="000000"/>
              </a:solidFill>
              <a:latin typeface="Arial"/>
            </a:endParaRPr>
          </a:p>
        </p:txBody>
      </p:sp>
      <p:sp>
        <p:nvSpPr>
          <p:cNvPr id="159" name="CustomShape 6"/>
          <p:cNvSpPr/>
          <p:nvPr/>
        </p:nvSpPr>
        <p:spPr>
          <a:xfrm>
            <a:off x="2562120" y="4186800"/>
            <a:ext cx="18810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Which includes</a:t>
            </a:r>
            <a:endParaRPr b="0" lang="en-US" sz="2230" spc="-1" strike="noStrike">
              <a:solidFill>
                <a:srgbClr val="000000"/>
              </a:solidFill>
              <a:latin typeface="Arial"/>
            </a:endParaRPr>
          </a:p>
        </p:txBody>
      </p:sp>
      <p:sp>
        <p:nvSpPr>
          <p:cNvPr id="160" name="CustomShape 7"/>
          <p:cNvSpPr/>
          <p:nvPr/>
        </p:nvSpPr>
        <p:spPr>
          <a:xfrm>
            <a:off x="3203280" y="4813200"/>
            <a:ext cx="350388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source “sound/core/Kconfig”</a:t>
            </a:r>
            <a:endParaRPr b="0" lang="en-US" sz="2230" spc="-1" strike="noStrike">
              <a:solidFill>
                <a:srgbClr val="000000"/>
              </a:solidFill>
              <a:latin typeface="Arial"/>
            </a:endParaRPr>
          </a:p>
        </p:txBody>
      </p:sp>
      <p:sp>
        <p:nvSpPr>
          <p:cNvPr id="161" name="CustomShape 8"/>
          <p:cNvSpPr/>
          <p:nvPr/>
        </p:nvSpPr>
        <p:spPr>
          <a:xfrm>
            <a:off x="3199320" y="5200560"/>
            <a:ext cx="37994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source “sound/drivers/Kconfig”</a:t>
            </a:r>
            <a:endParaRPr b="0" lang="en-US" sz="22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CustomShape 1"/>
          <p:cNvSpPr/>
          <p:nvPr/>
        </p:nvSpPr>
        <p:spPr>
          <a:xfrm>
            <a:off x="0" y="0"/>
            <a:ext cx="9065160" cy="6010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500" spc="-1" strike="noStrike">
                <a:solidFill>
                  <a:srgbClr val="000000"/>
                </a:solidFill>
                <a:latin typeface="Arial"/>
                <a:ea typeface="DejaVu Sans"/>
              </a:rPr>
              <a:t>                                                     </a:t>
            </a:r>
            <a:r>
              <a:rPr b="1" lang="en-IN" sz="1500" spc="-1" strike="noStrike">
                <a:solidFill>
                  <a:srgbClr val="000000"/>
                </a:solidFill>
                <a:latin typeface="Arial"/>
                <a:ea typeface="DejaVu Sans"/>
              </a:rPr>
              <a:t> </a:t>
            </a:r>
            <a:r>
              <a:rPr b="1" lang="en-IN" sz="1500" spc="-1" strike="noStrike">
                <a:solidFill>
                  <a:srgbClr val="000000"/>
                </a:solidFill>
                <a:latin typeface="Arial"/>
                <a:ea typeface="DejaVu Sans"/>
              </a:rPr>
              <a:t>Debug Kernel Configurations</a:t>
            </a:r>
            <a:br>
              <a:rPr sz="1500"/>
            </a:br>
            <a:r>
              <a:rPr b="0" lang="en-IN" sz="1500" spc="-1" strike="noStrike">
                <a:solidFill>
                  <a:srgbClr val="000000"/>
                </a:solidFill>
                <a:latin typeface="Arial"/>
                <a:ea typeface="DejaVu Sans"/>
              </a:rPr>
              <a:t>CONFIG_DEBUG_INFO</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CONFIG_DEBUG_FS (the debugfs pseudo filesystem)</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CONFIG_MAGIC_SYSRQ (the Magic SysRq hotkeys feature)</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CONFIG_DEBUG_KERNEL</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CONFIG_DEBUG_MISC</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Memory debugging:</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CONFIG_SLUB_DEBUG .</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CONFIG_DEBUG_MEMORY_INIT</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CONFIG_KASAN : this is the Kernel Address Sanitizer port; however, as of the time of writing, it only works on 64-bit systems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CONFIG_DEBUG_SHIRQ  - Shared IRQ</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CONFIG_SCHED_STACK_END_CHECK Detect stack corruption on calls to schedule()</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Lock debugging:</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CONFIG_PROVE_LOCKING : the very powerful lockdep feature to catch locking bugs! This turns on several other lock debug configs as well. Prove locking correctness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CONFIG_LOCK_STAT Lock usage statistics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CONFIG_DEBUG_ATOMIC_SLEEP - Sleep inside atomic section checkin</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CONFIG_STACKTRACE -  Stack backtrace support</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CONFIG_DEBUG_BUGVERBOSE – printk and dmesg options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CONFIG_FTRACE ( ftrace : within its sub-menu, turn on at least a couple of "tracers")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enable/disable function tracing dynamically</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CONFIG_BUG_ON_DATA_CORRUPTION - Trigger a BUG when data corruption is detected</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CONFIG_KGDB (kernel GDB; optional)</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CONFIG_UBSAN - Undefined behaviour sanity checker </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CONFIG_EARLY_PRINTK</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CONFIG_DEBUG_BOOT_PARAMS</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CONFIG_UNWINDER_FRAME_POINTER (selects FRAME_POINTER and CONFIG_STACK_VALIDATION )</a:t>
            </a:r>
            <a:endParaRPr b="0" lang="en-US" sz="1500" spc="-1" strike="noStrike">
              <a:solidFill>
                <a:srgbClr val="000000"/>
              </a:solidFill>
              <a:latin typeface="Arial"/>
            </a:endParaRPr>
          </a:p>
          <a:p>
            <a:pPr>
              <a:lnSpc>
                <a:spcPct val="100000"/>
              </a:lnSpc>
            </a:pPr>
            <a:r>
              <a:rPr b="0" lang="en-IN" sz="1500" spc="-1" strike="noStrike">
                <a:solidFill>
                  <a:srgbClr val="000000"/>
                </a:solidFill>
                <a:latin typeface="Arial"/>
                <a:ea typeface="DejaVu Sans"/>
              </a:rPr>
              <a:t>CONFIG_FRAME_WARN – High kernel stack usage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CustomShape 1"/>
          <p:cNvSpPr/>
          <p:nvPr/>
        </p:nvSpPr>
        <p:spPr>
          <a:xfrm>
            <a:off x="3717000" y="355680"/>
            <a:ext cx="20826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Building Kernel</a:t>
            </a:r>
            <a:endParaRPr b="0" lang="en-US" sz="2240" spc="-1" strike="noStrike">
              <a:solidFill>
                <a:srgbClr val="000000"/>
              </a:solidFill>
              <a:latin typeface="Arial"/>
            </a:endParaRPr>
          </a:p>
        </p:txBody>
      </p:sp>
      <p:sp>
        <p:nvSpPr>
          <p:cNvPr id="164" name="CustomShape 2"/>
          <p:cNvSpPr/>
          <p:nvPr/>
        </p:nvSpPr>
        <p:spPr>
          <a:xfrm>
            <a:off x="72000" y="792000"/>
            <a:ext cx="8851680" cy="924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The "</a:t>
            </a:r>
            <a:r>
              <a:rPr b="1" lang="en-US" sz="2240" spc="-1" strike="noStrike">
                <a:solidFill>
                  <a:srgbClr val="000000"/>
                </a:solidFill>
                <a:latin typeface="Courier New Bold"/>
                <a:ea typeface="DejaVu Sans"/>
              </a:rPr>
              <a:t>make</a:t>
            </a:r>
            <a:r>
              <a:rPr b="0" lang="en-US" sz="2230" spc="-1" strike="noStrike">
                <a:solidFill>
                  <a:srgbClr val="000000"/>
                </a:solidFill>
                <a:latin typeface="Arial"/>
                <a:ea typeface="DejaVu Sans"/>
              </a:rPr>
              <a:t>" command (with no arguments) now automatically </a:t>
            </a:r>
            <a:endParaRPr b="0" lang="en-US" sz="2230" spc="-1" strike="noStrike">
              <a:solidFill>
                <a:srgbClr val="000000"/>
              </a:solidFill>
              <a:latin typeface="Arial"/>
            </a:endParaRPr>
          </a:p>
        </p:txBody>
      </p:sp>
      <p:sp>
        <p:nvSpPr>
          <p:cNvPr id="165" name="CustomShape 3"/>
          <p:cNvSpPr/>
          <p:nvPr/>
        </p:nvSpPr>
        <p:spPr>
          <a:xfrm>
            <a:off x="444240" y="1447920"/>
            <a:ext cx="8627760" cy="1442880"/>
          </a:xfrm>
          <a:prstGeom prst="rect">
            <a:avLst/>
          </a:prstGeom>
          <a:noFill/>
          <a:ln w="0">
            <a:noFill/>
          </a:ln>
        </p:spPr>
        <p:style>
          <a:lnRef idx="0"/>
          <a:fillRef idx="0"/>
          <a:effectRef idx="0"/>
          <a:fontRef idx="minor"/>
        </p:style>
        <p:txBody>
          <a:bodyPr wrap="none" lIns="0" rIns="0" tIns="0" bIns="0" anchor="t">
            <a:noAutofit/>
          </a:bodyPr>
          <a:p>
            <a:pPr>
              <a:lnSpc>
                <a:spcPct val="100000"/>
              </a:lnSpc>
            </a:pPr>
            <a:endParaRPr b="0" lang="en-US" sz="1800" spc="-1" strike="noStrike">
              <a:solidFill>
                <a:srgbClr val="000000"/>
              </a:solidFill>
              <a:latin typeface="Arial"/>
            </a:endParaRPr>
          </a:p>
          <a:p>
            <a:pPr>
              <a:lnSpc>
                <a:spcPts val="1006"/>
              </a:lnSpc>
            </a:pPr>
            <a:endParaRPr b="0" lang="en-US" sz="1800" spc="-1" strike="noStrike">
              <a:solidFill>
                <a:srgbClr val="000000"/>
              </a:solidFill>
              <a:latin typeface="Arial"/>
            </a:endParaRPr>
          </a:p>
        </p:txBody>
      </p:sp>
      <p:sp>
        <p:nvSpPr>
          <p:cNvPr id="166" name="CustomShape 4"/>
          <p:cNvSpPr/>
          <p:nvPr/>
        </p:nvSpPr>
        <p:spPr>
          <a:xfrm>
            <a:off x="264960" y="555120"/>
            <a:ext cx="8658720" cy="325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7" name="CustomShape 5"/>
          <p:cNvSpPr/>
          <p:nvPr/>
        </p:nvSpPr>
        <p:spPr>
          <a:xfrm>
            <a:off x="667800" y="3276720"/>
            <a:ext cx="8181000" cy="1068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8" name="CustomShape 6"/>
          <p:cNvSpPr/>
          <p:nvPr/>
        </p:nvSpPr>
        <p:spPr>
          <a:xfrm>
            <a:off x="47880" y="2239560"/>
            <a:ext cx="8118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make:</a:t>
            </a:r>
            <a:endParaRPr b="0" lang="en-US" sz="2240" spc="-1" strike="noStrike">
              <a:solidFill>
                <a:srgbClr val="000000"/>
              </a:solidFill>
              <a:latin typeface="Arial"/>
            </a:endParaRPr>
          </a:p>
        </p:txBody>
      </p:sp>
      <p:sp>
        <p:nvSpPr>
          <p:cNvPr id="169" name="CustomShape 7"/>
          <p:cNvSpPr/>
          <p:nvPr/>
        </p:nvSpPr>
        <p:spPr>
          <a:xfrm>
            <a:off x="216000" y="2466000"/>
            <a:ext cx="8635680" cy="109656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arch/&lt;arch&gt;/boot/*Image, the final, usually compressed,</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kernel image that can be booted. X86 arch bzimage</a:t>
            </a:r>
            <a:endParaRPr b="0" lang="en-US" sz="2230" spc="-1" strike="noStrike">
              <a:solidFill>
                <a:srgbClr val="000000"/>
              </a:solidFill>
              <a:latin typeface="Arial"/>
            </a:endParaRPr>
          </a:p>
        </p:txBody>
      </p:sp>
      <p:sp>
        <p:nvSpPr>
          <p:cNvPr id="170" name="CustomShape 8"/>
          <p:cNvSpPr/>
          <p:nvPr/>
        </p:nvSpPr>
        <p:spPr>
          <a:xfrm>
            <a:off x="216000" y="4803480"/>
            <a:ext cx="7985880" cy="340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make olddefconfig</a:t>
            </a:r>
            <a:br>
              <a:rPr sz="1800"/>
            </a:br>
            <a:r>
              <a:rPr b="1" lang="en-IN" sz="1800" spc="-1" strike="noStrike">
                <a:solidFill>
                  <a:srgbClr val="000000"/>
                </a:solidFill>
                <a:latin typeface="Arial"/>
                <a:ea typeface="DejaVu Sans"/>
              </a:rPr>
              <a:t>make -jn , make modules, make modules_install, make install</a:t>
            </a:r>
            <a:endParaRPr b="0" lang="en-US" sz="1800" spc="-1" strike="noStrike">
              <a:solidFill>
                <a:srgbClr val="000000"/>
              </a:solidFill>
              <a:latin typeface="Arial"/>
            </a:endParaRPr>
          </a:p>
        </p:txBody>
      </p:sp>
      <p:sp>
        <p:nvSpPr>
          <p:cNvPr id="171" name="CustomShape 9"/>
          <p:cNvSpPr/>
          <p:nvPr/>
        </p:nvSpPr>
        <p:spPr>
          <a:xfrm>
            <a:off x="0" y="936000"/>
            <a:ext cx="8887680" cy="1347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230" spc="-1" strike="noStrike">
                <a:solidFill>
                  <a:srgbClr val="000000"/>
                </a:solidFill>
                <a:latin typeface="Arial"/>
                <a:ea typeface="DejaVu Sans"/>
              </a:rPr>
              <a:t>(and silently) generates dependency information, compiles the kernel, and compiles any drivers that you have selected for installation as modules.</a:t>
            </a:r>
            <a:endParaRPr b="0" lang="en-US" sz="2230" spc="-1" strike="noStrike">
              <a:solidFill>
                <a:srgbClr val="000000"/>
              </a:solidFill>
              <a:latin typeface="Arial"/>
            </a:endParaRPr>
          </a:p>
        </p:txBody>
      </p:sp>
      <p:sp>
        <p:nvSpPr>
          <p:cNvPr id="172" name="CustomShape 10"/>
          <p:cNvSpPr/>
          <p:nvPr/>
        </p:nvSpPr>
        <p:spPr>
          <a:xfrm>
            <a:off x="93240" y="3133440"/>
            <a:ext cx="8902440" cy="134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230" spc="-1" strike="noStrike">
                <a:solidFill>
                  <a:srgbClr val="000000"/>
                </a:solidFill>
                <a:latin typeface="Arial"/>
                <a:ea typeface="DejaVu Sans"/>
              </a:rPr>
              <a:t>If bzImage is the actual kernel that we use to boot and initialize the system, then what's vmlinux for? Notice that vmlinux is the uncompressed kernel image. It can be large (even very large, in the presence of kernel symbols generated during a debug build).</a:t>
            </a:r>
            <a:endParaRPr b="0" lang="en-US" sz="2230" spc="-1" strike="noStrike">
              <a:solidFill>
                <a:srgbClr val="000000"/>
              </a:solidFill>
              <a:latin typeface="Arial"/>
            </a:endParaRPr>
          </a:p>
        </p:txBody>
      </p:sp>
      <p:sp>
        <p:nvSpPr>
          <p:cNvPr id="173" name=""/>
          <p:cNvSpPr/>
          <p:nvPr/>
        </p:nvSpPr>
        <p:spPr>
          <a:xfrm>
            <a:off x="264960" y="5365800"/>
            <a:ext cx="7697520" cy="856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To recompile faster (7x according to some benchmarks),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use the </a:t>
            </a:r>
            <a:r>
              <a:rPr b="1" lang="en-US" sz="1800" spc="-1" strike="noStrike">
                <a:solidFill>
                  <a:srgbClr val="000000"/>
                </a:solidFill>
                <a:latin typeface="Arial"/>
                <a:ea typeface="DejaVu Sans"/>
              </a:rPr>
              <a:t>ccache</a:t>
            </a:r>
            <a:r>
              <a:rPr b="0" lang="en-US" sz="1800" spc="-1" strike="noStrike">
                <a:solidFill>
                  <a:srgbClr val="000000"/>
                </a:solidFill>
                <a:latin typeface="Arial"/>
                <a:ea typeface="DejaVu Sans"/>
              </a:rPr>
              <a:t> compiler cache: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export CROSS_COMPILE="ccache arm-linux-"</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CustomShape 2"/>
          <p:cNvSpPr/>
          <p:nvPr/>
        </p:nvSpPr>
        <p:spPr>
          <a:xfrm>
            <a:off x="333360" y="2514600"/>
            <a:ext cx="8580240" cy="149328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Compressed kernel image. Same as the one in  arch/&lt;arch&gt;/boot</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/boot/System.map-&lt;version&gt; Stores kernel symbol addresses</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/boot/config-&lt;version&gt; Kernel configuration for this version</a:t>
            </a:r>
            <a:endParaRPr b="0" lang="en-US" sz="2230" spc="-1" strike="noStrike">
              <a:solidFill>
                <a:srgbClr val="000000"/>
              </a:solidFill>
              <a:latin typeface="Arial"/>
            </a:endParaRPr>
          </a:p>
        </p:txBody>
      </p:sp>
      <p:sp>
        <p:nvSpPr>
          <p:cNvPr id="175" name="CustomShape 3"/>
          <p:cNvSpPr/>
          <p:nvPr/>
        </p:nvSpPr>
        <p:spPr>
          <a:xfrm>
            <a:off x="389880" y="324000"/>
            <a:ext cx="3025800" cy="709920"/>
          </a:xfrm>
          <a:prstGeom prst="rect">
            <a:avLst/>
          </a:prstGeom>
          <a:noFill/>
          <a:ln w="0">
            <a:noFill/>
          </a:ln>
        </p:spPr>
        <p:style>
          <a:lnRef idx="0"/>
          <a:fillRef idx="0"/>
          <a:effectRef idx="0"/>
          <a:fontRef idx="minor"/>
        </p:style>
        <p:txBody>
          <a:bodyPr wrap="none" lIns="0" rIns="0" tIns="0" bIns="0" anchor="t">
            <a:noAutofit/>
          </a:bodyPr>
          <a:p>
            <a:pPr>
              <a:lnSpc>
                <a:spcPts val="978"/>
              </a:lnSpc>
            </a:pPr>
            <a:r>
              <a:rPr b="1" lang="en-US" sz="2240" spc="-1" strike="noStrike">
                <a:solidFill>
                  <a:srgbClr val="000000"/>
                </a:solidFill>
                <a:latin typeface="Arial Bold"/>
                <a:ea typeface="DejaVu Sans"/>
              </a:rPr>
              <a:t>make modules_install:</a:t>
            </a:r>
            <a:endParaRPr b="0" lang="en-US" sz="2240" spc="-1" strike="noStrike">
              <a:solidFill>
                <a:srgbClr val="000000"/>
              </a:solidFill>
              <a:latin typeface="Arial"/>
            </a:endParaRPr>
          </a:p>
        </p:txBody>
      </p:sp>
      <p:sp>
        <p:nvSpPr>
          <p:cNvPr id="176" name="CustomShape 4"/>
          <p:cNvSpPr/>
          <p:nvPr/>
        </p:nvSpPr>
        <p:spPr>
          <a:xfrm>
            <a:off x="432000" y="756000"/>
            <a:ext cx="78267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30" spc="-1" strike="noStrike">
                <a:solidFill>
                  <a:srgbClr val="000000"/>
                </a:solidFill>
                <a:latin typeface="Arial"/>
                <a:ea typeface="DejaVu Sans"/>
              </a:rPr>
              <a:t>Install all modules in /lib/modules/&lt;version&gt;/</a:t>
            </a:r>
            <a:endParaRPr b="0" lang="en-US" sz="2230" spc="-1" strike="noStrike">
              <a:solidFill>
                <a:srgbClr val="000000"/>
              </a:solidFill>
              <a:latin typeface="Arial"/>
            </a:endParaRPr>
          </a:p>
        </p:txBody>
      </p:sp>
      <p:sp>
        <p:nvSpPr>
          <p:cNvPr id="177" name="CustomShape 5"/>
          <p:cNvSpPr/>
          <p:nvPr/>
        </p:nvSpPr>
        <p:spPr>
          <a:xfrm>
            <a:off x="4591440" y="1612440"/>
            <a:ext cx="9057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kernel/</a:t>
            </a:r>
            <a:endParaRPr b="0" lang="en-US" sz="2240" spc="-1" strike="noStrike">
              <a:solidFill>
                <a:srgbClr val="000000"/>
              </a:solidFill>
              <a:latin typeface="Arial"/>
            </a:endParaRPr>
          </a:p>
        </p:txBody>
      </p:sp>
      <p:sp>
        <p:nvSpPr>
          <p:cNvPr id="178" name="CustomShape 6"/>
          <p:cNvSpPr/>
          <p:nvPr/>
        </p:nvSpPr>
        <p:spPr>
          <a:xfrm>
            <a:off x="394200" y="1896120"/>
            <a:ext cx="8508240" cy="109656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Module .ko (Kernel Object) files, in the same directory structure as in</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the sources.</a:t>
            </a:r>
            <a:endParaRPr b="0" lang="en-US" sz="2230" spc="-1" strike="noStrike">
              <a:solidFill>
                <a:srgbClr val="000000"/>
              </a:solidFill>
              <a:latin typeface="Arial"/>
            </a:endParaRPr>
          </a:p>
        </p:txBody>
      </p:sp>
      <p:sp>
        <p:nvSpPr>
          <p:cNvPr id="179" name="CustomShape 7"/>
          <p:cNvSpPr/>
          <p:nvPr/>
        </p:nvSpPr>
        <p:spPr>
          <a:xfrm>
            <a:off x="374760" y="3748680"/>
            <a:ext cx="185076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modules.alias</a:t>
            </a:r>
            <a:endParaRPr b="0" lang="en-US" sz="2240" spc="-1" strike="noStrike">
              <a:solidFill>
                <a:srgbClr val="000000"/>
              </a:solidFill>
              <a:latin typeface="Arial"/>
            </a:endParaRPr>
          </a:p>
        </p:txBody>
      </p:sp>
      <p:sp>
        <p:nvSpPr>
          <p:cNvPr id="180" name="CustomShape 8"/>
          <p:cNvSpPr/>
          <p:nvPr/>
        </p:nvSpPr>
        <p:spPr>
          <a:xfrm>
            <a:off x="392040" y="3867120"/>
            <a:ext cx="8099640" cy="109656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Module aliases for module loading utilities.</a:t>
            </a:r>
            <a:br>
              <a:rPr sz="2230"/>
            </a:br>
            <a:r>
              <a:rPr b="0" lang="en-US" sz="2230" spc="-1" strike="noStrike">
                <a:solidFill>
                  <a:srgbClr val="000000"/>
                </a:solidFill>
                <a:latin typeface="Arial"/>
                <a:ea typeface="DejaVu Sans"/>
              </a:rPr>
              <a:t>Example line:</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alias sound-service-?-0 snd_mixer_oss</a:t>
            </a:r>
            <a:endParaRPr b="0" lang="en-US" sz="2230" spc="-1" strike="noStrike">
              <a:solidFill>
                <a:srgbClr val="000000"/>
              </a:solidFill>
              <a:latin typeface="Arial"/>
            </a:endParaRPr>
          </a:p>
        </p:txBody>
      </p:sp>
      <p:sp>
        <p:nvSpPr>
          <p:cNvPr id="181" name="CustomShape 9"/>
          <p:cNvSpPr/>
          <p:nvPr/>
        </p:nvSpPr>
        <p:spPr>
          <a:xfrm>
            <a:off x="367200" y="5429520"/>
            <a:ext cx="452988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modules.dep </a:t>
            </a:r>
            <a:r>
              <a:rPr b="0" lang="en-US" sz="2230" spc="-1" strike="noStrike">
                <a:solidFill>
                  <a:srgbClr val="000000"/>
                </a:solidFill>
                <a:latin typeface="Arial"/>
                <a:ea typeface="DejaVu Sans"/>
              </a:rPr>
              <a:t>Module dependencies</a:t>
            </a:r>
            <a:endParaRPr b="0" lang="en-US" sz="2230" spc="-1" strike="noStrike">
              <a:solidFill>
                <a:srgbClr val="000000"/>
              </a:solidFill>
              <a:latin typeface="Arial"/>
            </a:endParaRPr>
          </a:p>
        </p:txBody>
      </p:sp>
      <p:sp>
        <p:nvSpPr>
          <p:cNvPr id="182" name="CustomShape 10"/>
          <p:cNvSpPr/>
          <p:nvPr/>
        </p:nvSpPr>
        <p:spPr>
          <a:xfrm>
            <a:off x="381600" y="5041800"/>
            <a:ext cx="8135640" cy="105948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modules.symbols </a:t>
            </a:r>
            <a:r>
              <a:rPr b="0" lang="en-US" sz="2230" spc="-1" strike="noStrike">
                <a:solidFill>
                  <a:srgbClr val="000000"/>
                </a:solidFill>
                <a:latin typeface="Arial"/>
                <a:ea typeface="DejaVu Sans"/>
              </a:rPr>
              <a:t>Tells which module a given symbol belongs to</a:t>
            </a:r>
            <a:endParaRPr b="0" lang="en-US" sz="2230" spc="-1" strike="noStrike">
              <a:solidFill>
                <a:srgbClr val="000000"/>
              </a:solidFill>
              <a:latin typeface="Arial"/>
            </a:endParaRPr>
          </a:p>
          <a:p>
            <a:pPr>
              <a:lnSpc>
                <a:spcPts val="975"/>
              </a:lnSpc>
            </a:pPr>
            <a:endParaRPr b="0" lang="en-US" sz="2230" spc="-1" strike="noStrike">
              <a:solidFill>
                <a:srgbClr val="000000"/>
              </a:solidFill>
              <a:latin typeface="Arial"/>
            </a:endParaRPr>
          </a:p>
        </p:txBody>
      </p:sp>
      <p:sp>
        <p:nvSpPr>
          <p:cNvPr id="183" name="CustomShape 14"/>
          <p:cNvSpPr/>
          <p:nvPr/>
        </p:nvSpPr>
        <p:spPr>
          <a:xfrm>
            <a:off x="382680" y="1254240"/>
            <a:ext cx="63810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30" spc="-1" strike="noStrike">
                <a:solidFill>
                  <a:srgbClr val="000000"/>
                </a:solidFill>
                <a:latin typeface="Arial"/>
                <a:ea typeface="DejaVu Sans"/>
              </a:rPr>
              <a:t>make Install:</a:t>
            </a:r>
            <a:endParaRPr b="0" lang="en-US" sz="2230" spc="-1" strike="noStrike">
              <a:solidFill>
                <a:srgbClr val="000000"/>
              </a:solidFill>
              <a:latin typeface="Arial"/>
            </a:endParaRPr>
          </a:p>
          <a:p>
            <a:pPr>
              <a:lnSpc>
                <a:spcPts val="975"/>
              </a:lnSpc>
            </a:pPr>
            <a:endParaRPr b="0" lang="en-US" sz="2230" spc="-1" strike="noStrike">
              <a:solidFill>
                <a:srgbClr val="000000"/>
              </a:solidFill>
              <a:latin typeface="Arial"/>
            </a:endParaRPr>
          </a:p>
          <a:p>
            <a:pPr>
              <a:lnSpc>
                <a:spcPts val="975"/>
              </a:lnSpc>
            </a:pPr>
            <a:endParaRPr b="0" lang="en-US" sz="2230" spc="-1" strike="noStrike">
              <a:solidFill>
                <a:srgbClr val="000000"/>
              </a:solidFill>
              <a:latin typeface="Arial"/>
            </a:endParaRPr>
          </a:p>
          <a:p>
            <a:pPr>
              <a:lnSpc>
                <a:spcPts val="975"/>
              </a:lnSpc>
            </a:pPr>
            <a:r>
              <a:rPr b="0" lang="en-US" sz="2230" spc="-1" strike="noStrike">
                <a:solidFill>
                  <a:srgbClr val="000000"/>
                </a:solidFill>
                <a:latin typeface="Arial"/>
                <a:ea typeface="DejaVu Sans"/>
              </a:rPr>
              <a:t>Installs /boot/vmlinuz-&lt;version&gt;</a:t>
            </a:r>
            <a:endParaRPr b="0" lang="en-US" sz="22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CustomShape 15"/>
          <p:cNvSpPr/>
          <p:nvPr/>
        </p:nvSpPr>
        <p:spPr>
          <a:xfrm>
            <a:off x="120600" y="313200"/>
            <a:ext cx="8633880" cy="1108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000" spc="-1" strike="noStrike">
                <a:solidFill>
                  <a:srgbClr val="000000"/>
                </a:solidFill>
                <a:latin typeface="Arial"/>
                <a:ea typeface="DejaVu Sans"/>
              </a:rPr>
              <a:t>modules.builtin </a:t>
            </a:r>
            <a:r>
              <a:rPr b="0" lang="en-IN" sz="2000" spc="-1" strike="noStrike">
                <a:solidFill>
                  <a:srgbClr val="000000"/>
                </a:solidFill>
                <a:latin typeface="Arial"/>
                <a:ea typeface="DejaVu Sans"/>
              </a:rPr>
              <a:t>List of built-in modules of the kernel.</a:t>
            </a:r>
            <a:endParaRPr b="0" lang="en-US" sz="2000" spc="-1" strike="noStrike">
              <a:solidFill>
                <a:srgbClr val="000000"/>
              </a:solidFill>
              <a:latin typeface="Arial"/>
            </a:endParaRPr>
          </a:p>
          <a:p>
            <a:pPr>
              <a:lnSpc>
                <a:spcPct val="100000"/>
              </a:lnSpc>
            </a:pPr>
            <a:r>
              <a:rPr b="0" lang="en-IN" sz="2000" spc="-1" strike="noStrike">
                <a:solidFill>
                  <a:srgbClr val="000000"/>
                </a:solidFill>
                <a:latin typeface="Arial"/>
                <a:ea typeface="DejaVu Sans"/>
              </a:rPr>
              <a:t>Make builds the kernel image and any kernel modules </a:t>
            </a:r>
            <a:br>
              <a:rPr sz="2000"/>
            </a:br>
            <a:r>
              <a:rPr b="0" lang="en-IN" sz="2000" spc="-1" strike="noStrike">
                <a:solidFill>
                  <a:srgbClr val="000000"/>
                </a:solidFill>
                <a:latin typeface="Arial"/>
                <a:ea typeface="DejaVu Sans"/>
              </a:rPr>
              <a:t>(and, on an embedded system, possibly a Device Tree Blob (DTB) binary) will get built. </a:t>
            </a:r>
            <a:br>
              <a:rPr sz="2000"/>
            </a:br>
            <a:br>
              <a:rPr sz="2000"/>
            </a:br>
            <a:r>
              <a:rPr b="0" lang="en-IN" sz="2000" spc="-1" strike="noStrike">
                <a:solidFill>
                  <a:srgbClr val="000000"/>
                </a:solidFill>
                <a:latin typeface="Arial"/>
                <a:ea typeface="DejaVu Sans"/>
              </a:rPr>
              <a:t>vmlinux actually matches the name of the uncompressed kernel image.</a:t>
            </a:r>
            <a:br>
              <a:rPr sz="2000"/>
            </a:br>
            <a:r>
              <a:rPr b="1" lang="en-IN" sz="2000" spc="-1" strike="noStrike">
                <a:solidFill>
                  <a:srgbClr val="000000"/>
                </a:solidFill>
                <a:latin typeface="Arial"/>
                <a:ea typeface="DejaVu Sans"/>
              </a:rPr>
              <a:t>make -jn or time make -jn</a:t>
            </a:r>
            <a:endParaRPr b="0" lang="en-US" sz="2000" spc="-1" strike="noStrike">
              <a:solidFill>
                <a:srgbClr val="000000"/>
              </a:solidFill>
              <a:latin typeface="Arial"/>
            </a:endParaRPr>
          </a:p>
        </p:txBody>
      </p:sp>
      <p:graphicFrame>
        <p:nvGraphicFramePr>
          <p:cNvPr id="185" name=""/>
          <p:cNvGraphicFramePr/>
          <p:nvPr/>
        </p:nvGraphicFramePr>
        <p:xfrm>
          <a:off x="801360" y="2775960"/>
          <a:ext cx="6056280" cy="2434320"/>
        </p:xfrm>
        <a:graphic>
          <a:graphicData uri="http://schemas.openxmlformats.org/drawingml/2006/table">
            <a:tbl>
              <a:tblPr/>
              <a:tblGrid>
                <a:gridCol w="1903680"/>
                <a:gridCol w="4152960"/>
              </a:tblGrid>
              <a:tr h="346320">
                <a:tc>
                  <a:txBody>
                    <a:bodyPr lIns="36000" rIns="36000" anchor="t">
                      <a:noAutofit/>
                    </a:bodyPr>
                    <a:p>
                      <a:pPr>
                        <a:lnSpc>
                          <a:spcPct val="100000"/>
                        </a:lnSpc>
                      </a:pPr>
                      <a:r>
                        <a:rPr b="1" lang="en-US" sz="1800" spc="-1" strike="noStrike">
                          <a:solidFill>
                            <a:srgbClr val="000000"/>
                          </a:solidFill>
                          <a:latin typeface="Arial"/>
                        </a:rPr>
                        <a:t>File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1" lang="en-US" sz="1800" spc="-1" strike="noStrike">
                          <a:solidFill>
                            <a:srgbClr val="000000"/>
                          </a:solidFill>
                          <a:latin typeface="Arial"/>
                        </a:rPr>
                        <a:t>Purpose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.c</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Kernel source code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.o</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Compiled object file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.mod</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Build metadata for a module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.mod.c</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Auto-generated C file with module info</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.ko</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Final loadable kernel module</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anchor="t">
                      <a:noAutofit/>
                    </a:bodyPr>
                    <a:p>
                      <a:pPr>
                        <a:lnSpc>
                          <a:spcPct val="100000"/>
                        </a:lnSpc>
                      </a:pPr>
                      <a:r>
                        <a:rPr b="0" lang="en-US" sz="1800" spc="-1" strike="noStrike">
                          <a:solidFill>
                            <a:srgbClr val="000000"/>
                          </a:solidFill>
                          <a:latin typeface="Arial"/>
                        </a:rPr>
                        <a:t>Module.symvers</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anchor="t">
                      <a:noAutofit/>
                    </a:bodyPr>
                    <a:p>
                      <a:pPr>
                        <a:lnSpc>
                          <a:spcPct val="100000"/>
                        </a:lnSpc>
                      </a:pPr>
                      <a:r>
                        <a:rPr b="0" lang="en-US" sz="1800" spc="-1" strike="noStrike">
                          <a:solidFill>
                            <a:srgbClr val="000000"/>
                          </a:solidFill>
                          <a:latin typeface="Arial"/>
                        </a:rPr>
                        <a:t>Symbol versioning</a:t>
                      </a:r>
                      <a:endParaRPr b="0" lang="en-US" sz="1800" spc="-1" strike="noStrike">
                        <a:solidFill>
                          <a:srgbClr val="000000"/>
                        </a:solidFill>
                        <a:latin typeface="Arial"/>
                      </a:endParaRPr>
                    </a:p>
                  </a:txBody>
                  <a:tcPr anchor="t"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6" name="Picture 1" descr=""/>
          <p:cNvPicPr/>
          <p:nvPr/>
        </p:nvPicPr>
        <p:blipFill>
          <a:blip r:embed="rId1"/>
          <a:stretch/>
        </p:blipFill>
        <p:spPr>
          <a:xfrm>
            <a:off x="0" y="0"/>
            <a:ext cx="9135720" cy="6837120"/>
          </a:xfrm>
          <a:prstGeom prst="rect">
            <a:avLst/>
          </a:prstGeom>
          <a:ln w="0">
            <a:noFill/>
          </a:ln>
        </p:spPr>
      </p:pic>
      <p:sp>
        <p:nvSpPr>
          <p:cNvPr id="187" name="CustomShape 1"/>
          <p:cNvSpPr/>
          <p:nvPr/>
        </p:nvSpPr>
        <p:spPr>
          <a:xfrm>
            <a:off x="4573800" y="203040"/>
            <a:ext cx="30488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0" lang="en-US" sz="2280" spc="-1" strike="noStrike">
                <a:solidFill>
                  <a:srgbClr val="000000"/>
                </a:solidFill>
                <a:latin typeface="Arial"/>
                <a:ea typeface="DejaVu Sans"/>
              </a:rPr>
              <a:t>The Linux Boot Process</a:t>
            </a:r>
            <a:endParaRPr b="0" lang="en-US" sz="2280" spc="-1" strike="noStrike">
              <a:solidFill>
                <a:srgbClr val="000000"/>
              </a:solidFill>
              <a:latin typeface="Arial"/>
            </a:endParaRPr>
          </a:p>
        </p:txBody>
      </p:sp>
      <p:sp>
        <p:nvSpPr>
          <p:cNvPr id="188" name="CustomShape 2"/>
          <p:cNvSpPr/>
          <p:nvPr/>
        </p:nvSpPr>
        <p:spPr>
          <a:xfrm>
            <a:off x="3956040" y="901800"/>
            <a:ext cx="166788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Power-up/Reset</a:t>
            </a:r>
            <a:endParaRPr b="0" lang="en-US" sz="1860" spc="-1" strike="noStrike">
              <a:solidFill>
                <a:srgbClr val="000000"/>
              </a:solidFill>
              <a:latin typeface="Arial"/>
            </a:endParaRPr>
          </a:p>
        </p:txBody>
      </p:sp>
      <p:sp>
        <p:nvSpPr>
          <p:cNvPr id="189" name="CustomShape 3"/>
          <p:cNvSpPr/>
          <p:nvPr/>
        </p:nvSpPr>
        <p:spPr>
          <a:xfrm>
            <a:off x="4280400" y="1498680"/>
            <a:ext cx="153936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System startup</a:t>
            </a:r>
            <a:endParaRPr b="0" lang="en-US" sz="1860" spc="-1" strike="noStrike">
              <a:solidFill>
                <a:srgbClr val="000000"/>
              </a:solidFill>
              <a:latin typeface="Arial"/>
            </a:endParaRPr>
          </a:p>
        </p:txBody>
      </p:sp>
      <p:sp>
        <p:nvSpPr>
          <p:cNvPr id="190" name="CustomShape 4"/>
          <p:cNvSpPr/>
          <p:nvPr/>
        </p:nvSpPr>
        <p:spPr>
          <a:xfrm>
            <a:off x="4412880" y="2565360"/>
            <a:ext cx="188496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Stage1 bootloader</a:t>
            </a:r>
            <a:endParaRPr b="0" lang="en-US" sz="1860" spc="-1" strike="noStrike">
              <a:solidFill>
                <a:srgbClr val="000000"/>
              </a:solidFill>
              <a:latin typeface="Arial"/>
            </a:endParaRPr>
          </a:p>
        </p:txBody>
      </p:sp>
      <p:sp>
        <p:nvSpPr>
          <p:cNvPr id="191" name="CustomShape 5"/>
          <p:cNvSpPr/>
          <p:nvPr/>
        </p:nvSpPr>
        <p:spPr>
          <a:xfrm>
            <a:off x="4641480" y="3632040"/>
            <a:ext cx="188496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Stage2 bootloader</a:t>
            </a:r>
            <a:endParaRPr b="0" lang="en-US" sz="1860" spc="-1" strike="noStrike">
              <a:solidFill>
                <a:srgbClr val="000000"/>
              </a:solidFill>
              <a:latin typeface="Arial"/>
            </a:endParaRPr>
          </a:p>
        </p:txBody>
      </p:sp>
      <p:sp>
        <p:nvSpPr>
          <p:cNvPr id="192" name="CustomShape 6"/>
          <p:cNvSpPr/>
          <p:nvPr/>
        </p:nvSpPr>
        <p:spPr>
          <a:xfrm>
            <a:off x="5636880" y="4699080"/>
            <a:ext cx="66888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Kernel</a:t>
            </a:r>
            <a:endParaRPr b="0" lang="en-US" sz="1860" spc="-1" strike="noStrike">
              <a:solidFill>
                <a:srgbClr val="000000"/>
              </a:solidFill>
              <a:latin typeface="Arial"/>
            </a:endParaRPr>
          </a:p>
        </p:txBody>
      </p:sp>
      <p:sp>
        <p:nvSpPr>
          <p:cNvPr id="193" name="CustomShape 7"/>
          <p:cNvSpPr/>
          <p:nvPr/>
        </p:nvSpPr>
        <p:spPr>
          <a:xfrm>
            <a:off x="5932080" y="5765760"/>
            <a:ext cx="30708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Init</a:t>
            </a:r>
            <a:endParaRPr b="0" lang="en-US" sz="1860" spc="-1" strike="noStrike">
              <a:solidFill>
                <a:srgbClr val="000000"/>
              </a:solidFill>
              <a:latin typeface="Arial"/>
            </a:endParaRPr>
          </a:p>
        </p:txBody>
      </p:sp>
      <p:sp>
        <p:nvSpPr>
          <p:cNvPr id="194" name="CustomShape 8"/>
          <p:cNvSpPr/>
          <p:nvPr/>
        </p:nvSpPr>
        <p:spPr>
          <a:xfrm>
            <a:off x="7000920" y="1498680"/>
            <a:ext cx="187740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BIOS/BootMonitor</a:t>
            </a:r>
            <a:endParaRPr b="0" lang="en-US" sz="1860" spc="-1" strike="noStrike">
              <a:solidFill>
                <a:srgbClr val="000000"/>
              </a:solidFill>
              <a:latin typeface="Arial"/>
            </a:endParaRPr>
          </a:p>
        </p:txBody>
      </p:sp>
      <p:sp>
        <p:nvSpPr>
          <p:cNvPr id="195" name="CustomShape 9"/>
          <p:cNvSpPr/>
          <p:nvPr/>
        </p:nvSpPr>
        <p:spPr>
          <a:xfrm>
            <a:off x="6908400" y="2565360"/>
            <a:ext cx="207504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Master Boot Record</a:t>
            </a:r>
            <a:endParaRPr b="0" lang="en-US" sz="1860" spc="-1" strike="noStrike">
              <a:solidFill>
                <a:srgbClr val="000000"/>
              </a:solidFill>
              <a:latin typeface="Arial"/>
            </a:endParaRPr>
          </a:p>
        </p:txBody>
      </p:sp>
      <p:sp>
        <p:nvSpPr>
          <p:cNvPr id="196" name="CustomShape 10"/>
          <p:cNvSpPr/>
          <p:nvPr/>
        </p:nvSpPr>
        <p:spPr>
          <a:xfrm>
            <a:off x="7141320" y="3632040"/>
            <a:ext cx="168588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LILO, GRUB etc</a:t>
            </a:r>
            <a:endParaRPr b="0" lang="en-US" sz="1860" spc="-1" strike="noStrike">
              <a:solidFill>
                <a:srgbClr val="000000"/>
              </a:solidFill>
              <a:latin typeface="Arial"/>
            </a:endParaRPr>
          </a:p>
        </p:txBody>
      </p:sp>
      <p:sp>
        <p:nvSpPr>
          <p:cNvPr id="197" name="CustomShape 11"/>
          <p:cNvSpPr/>
          <p:nvPr/>
        </p:nvSpPr>
        <p:spPr>
          <a:xfrm>
            <a:off x="7707240" y="4699080"/>
            <a:ext cx="55404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Linux</a:t>
            </a:r>
            <a:endParaRPr b="0" lang="en-US" sz="1860" spc="-1" strike="noStrike">
              <a:solidFill>
                <a:srgbClr val="000000"/>
              </a:solidFill>
              <a:latin typeface="Arial"/>
            </a:endParaRPr>
          </a:p>
        </p:txBody>
      </p:sp>
      <p:sp>
        <p:nvSpPr>
          <p:cNvPr id="198" name="CustomShape 12"/>
          <p:cNvSpPr/>
          <p:nvPr/>
        </p:nvSpPr>
        <p:spPr>
          <a:xfrm>
            <a:off x="7455960" y="5765760"/>
            <a:ext cx="1208160" cy="588600"/>
          </a:xfrm>
          <a:prstGeom prst="rect">
            <a:avLst/>
          </a:prstGeom>
          <a:noFill/>
          <a:ln w="0">
            <a:noFill/>
          </a:ln>
        </p:spPr>
        <p:style>
          <a:lnRef idx="0"/>
          <a:fillRef idx="0"/>
          <a:effectRef idx="0"/>
          <a:fontRef idx="minor"/>
        </p:style>
        <p:txBody>
          <a:bodyPr wrap="none" lIns="0" rIns="0" tIns="0" bIns="0" anchor="t">
            <a:noAutofit/>
          </a:bodyPr>
          <a:p>
            <a:pPr>
              <a:lnSpc>
                <a:spcPts val="811"/>
              </a:lnSpc>
            </a:pPr>
            <a:r>
              <a:rPr b="0" lang="en-US" sz="1860" spc="-1" strike="noStrike">
                <a:solidFill>
                  <a:srgbClr val="000000"/>
                </a:solidFill>
                <a:latin typeface="Arial"/>
                <a:ea typeface="DejaVu Sans"/>
              </a:rPr>
              <a:t>User Space</a:t>
            </a:r>
            <a:endParaRPr b="0" lang="en-US" sz="1860" spc="-1" strike="noStrike">
              <a:solidFill>
                <a:srgbClr val="000000"/>
              </a:solidFill>
              <a:latin typeface="Arial"/>
            </a:endParaRPr>
          </a:p>
        </p:txBody>
      </p:sp>
      <p:sp>
        <p:nvSpPr>
          <p:cNvPr id="199" name="CustomShape 13"/>
          <p:cNvSpPr/>
          <p:nvPr/>
        </p:nvSpPr>
        <p:spPr>
          <a:xfrm>
            <a:off x="5283000" y="5892840"/>
            <a:ext cx="1020960" cy="579960"/>
          </a:xfrm>
          <a:prstGeom prst="rect">
            <a:avLst/>
          </a:prstGeom>
          <a:noFill/>
          <a:ln w="0">
            <a:noFill/>
          </a:ln>
        </p:spPr>
        <p:style>
          <a:lnRef idx="0"/>
          <a:fillRef idx="0"/>
          <a:effectRef idx="0"/>
          <a:fontRef idx="minor"/>
        </p:style>
        <p:txBody>
          <a:bodyPr wrap="none" lIns="0" rIns="0" tIns="0" bIns="0" anchor="t">
            <a:noAutofit/>
          </a:bodyPr>
          <a:p>
            <a:pPr>
              <a:lnSpc>
                <a:spcPts val="635"/>
              </a:lnSpc>
            </a:pPr>
            <a:r>
              <a:rPr b="0" lang="en-US" sz="1860" spc="-1" strike="noStrike">
                <a:solidFill>
                  <a:srgbClr val="000000"/>
                </a:solidFill>
                <a:latin typeface="Arial"/>
                <a:ea typeface="DejaVu Sans"/>
              </a:rPr>
              <a:t>Operation</a:t>
            </a:r>
            <a:endParaRPr b="0" lang="en-US" sz="18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Picture 1" descr=""/>
          <p:cNvPicPr/>
          <p:nvPr/>
        </p:nvPicPr>
        <p:blipFill>
          <a:blip r:embed="rId1"/>
          <a:stretch/>
        </p:blipFill>
        <p:spPr>
          <a:xfrm>
            <a:off x="4066200" y="2995200"/>
            <a:ext cx="5256000" cy="3979800"/>
          </a:xfrm>
          <a:prstGeom prst="rect">
            <a:avLst/>
          </a:prstGeom>
          <a:ln w="0">
            <a:noFill/>
          </a:ln>
        </p:spPr>
      </p:pic>
      <p:sp>
        <p:nvSpPr>
          <p:cNvPr id="201" name="CustomShape 1"/>
          <p:cNvSpPr/>
          <p:nvPr/>
        </p:nvSpPr>
        <p:spPr>
          <a:xfrm>
            <a:off x="2225880" y="275040"/>
            <a:ext cx="284004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90" spc="-1" strike="noStrike">
                <a:solidFill>
                  <a:srgbClr val="000000"/>
                </a:solidFill>
                <a:latin typeface="Arial Bold"/>
                <a:ea typeface="DejaVu Sans"/>
              </a:rPr>
              <a:t>Legacy BIOS booting</a:t>
            </a:r>
            <a:endParaRPr b="0" lang="en-US" sz="2290" spc="-1" strike="noStrike">
              <a:solidFill>
                <a:srgbClr val="000000"/>
              </a:solidFill>
              <a:latin typeface="Arial"/>
            </a:endParaRPr>
          </a:p>
        </p:txBody>
      </p:sp>
      <p:sp>
        <p:nvSpPr>
          <p:cNvPr id="202" name=""/>
          <p:cNvSpPr/>
          <p:nvPr/>
        </p:nvSpPr>
        <p:spPr>
          <a:xfrm>
            <a:off x="0" y="450720"/>
            <a:ext cx="9142200" cy="3133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x86 platforms shipped before 2005-2006 include a firmware called BIOS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BIOS = Basic Input Output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Part of the hardware platform, closed-source, rarely modifiable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Implements the booting process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Provides runtime services that can be invoked - not commonly used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Stored in some flash memory, outside of regular user-accessible storage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To be bootable, the first sector of a storage device is “special”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MBR = Master Boot Record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Contains the partition table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Contains up to 446 bytes of boot loader code, loaded into RAM and executed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The BIOS is responsible for the RAM initialization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
          <p:cNvSpPr/>
          <p:nvPr/>
        </p:nvSpPr>
        <p:spPr>
          <a:xfrm>
            <a:off x="65520" y="75600"/>
            <a:ext cx="9161280" cy="2136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Due to the limitation in size of the boot loader, boot loaders are split into two stages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Stage 1, which fits within the 446 bytes constraint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Stage 2, which is loaded by stage 1, and can therefore be bigger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Stage 2 is typically stored outside of any file system, at a fixed offset → simpler to</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load by stage 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Stage 2 generally has file system support, so it can load the kernel image from 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File system</a:t>
            </a:r>
            <a:endParaRPr b="0" lang="en-US" sz="1800" spc="-1" strike="noStrike">
              <a:solidFill>
                <a:srgbClr val="000000"/>
              </a:solidFill>
              <a:latin typeface="Arial"/>
            </a:endParaRPr>
          </a:p>
        </p:txBody>
      </p:sp>
      <p:pic>
        <p:nvPicPr>
          <p:cNvPr id="204" name="" descr=""/>
          <p:cNvPicPr/>
          <p:nvPr/>
        </p:nvPicPr>
        <p:blipFill>
          <a:blip r:embed="rId1"/>
          <a:stretch/>
        </p:blipFill>
        <p:spPr>
          <a:xfrm>
            <a:off x="2286000" y="1828800"/>
            <a:ext cx="5103360" cy="46544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
          <p:cNvSpPr/>
          <p:nvPr/>
        </p:nvSpPr>
        <p:spPr>
          <a:xfrm>
            <a:off x="228600" y="457200"/>
            <a:ext cx="685620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Legacy BIOS booting: sequence and storage</a:t>
            </a:r>
            <a:endParaRPr b="0" lang="en-US" sz="1800" spc="-1" strike="noStrike">
              <a:solidFill>
                <a:srgbClr val="000000"/>
              </a:solidFill>
              <a:latin typeface="Arial"/>
            </a:endParaRPr>
          </a:p>
        </p:txBody>
      </p:sp>
      <p:pic>
        <p:nvPicPr>
          <p:cNvPr id="206" name="" descr=""/>
          <p:cNvPicPr/>
          <p:nvPr/>
        </p:nvPicPr>
        <p:blipFill>
          <a:blip r:embed="rId1"/>
          <a:stretch/>
        </p:blipFill>
        <p:spPr>
          <a:xfrm>
            <a:off x="460800" y="1143000"/>
            <a:ext cx="7995600" cy="46296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p:nvPr/>
        </p:nvSpPr>
        <p:spPr>
          <a:xfrm>
            <a:off x="0" y="457200"/>
            <a:ext cx="8913600" cy="3672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Starting from 2005-2006, UEFI is the new firmware interface on x86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Unified Extensible Firmware Interface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Describes the interface between the operating system and the firmware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Firmware in charge of booting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Firmware also provides runtime services to the operating 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Stored in some flash memory, outside of regular user-accessible storage devices</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Loads EFI binaries from the EFI System Partition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Generally a boot loader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also be directly the Linux kernel, with an EFI Boot Stub</a:t>
            </a:r>
            <a:endParaRPr b="0" lang="en-US" sz="1800" spc="-1" strike="noStrike">
              <a:solidFill>
                <a:srgbClr val="000000"/>
              </a:solidFill>
              <a:latin typeface="Arial"/>
            </a:endParaRPr>
          </a:p>
          <a:p>
            <a:pPr>
              <a:lnSpc>
                <a:spcPct val="100000"/>
              </a:lnSpc>
              <a:spcBef>
                <a:spcPts val="1191"/>
              </a:spcBef>
              <a:spcAft>
                <a:spcPts val="992"/>
              </a:spcAft>
            </a:pPr>
            <a:r>
              <a:rPr b="0" lang="en-US" sz="1800" spc="-1" strike="noStrike">
                <a:solidFill>
                  <a:srgbClr val="000000"/>
                </a:solidFill>
                <a:latin typeface="Arial"/>
                <a:ea typeface="DejaVu Sans"/>
              </a:rPr>
              <a:t>EFI System Partition (ESP)</a:t>
            </a:r>
            <a:endParaRPr b="0" lang="en-US" sz="1800" spc="-1" strike="noStrike">
              <a:solidFill>
                <a:srgbClr val="000000"/>
              </a:solidFill>
              <a:latin typeface="Arial"/>
            </a:endParaRPr>
          </a:p>
          <a:p>
            <a:pPr>
              <a:lnSpc>
                <a:spcPct val="100000"/>
              </a:lnSpc>
            </a:pPr>
            <a:br>
              <a:rPr sz="1800"/>
            </a:b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Special partition, formatted with the FAT filesystem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MBR: identified by type 0xEF</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GPT: identified with a specific globally unique identifier</a:t>
            </a:r>
            <a:endParaRPr b="0" lang="en-US" sz="1800" spc="-1" strike="noStrike">
              <a:solidFill>
                <a:srgbClr val="000000"/>
              </a:solidFill>
              <a:latin typeface="Arial"/>
            </a:endParaRPr>
          </a:p>
          <a:p>
            <a:pPr>
              <a:lnSpc>
                <a:spcPct val="100000"/>
              </a:lnSpc>
              <a:spcBef>
                <a:spcPts val="1191"/>
              </a:spcBef>
              <a:spcAft>
                <a:spcPts val="992"/>
              </a:spcAft>
            </a:pPr>
            <a:r>
              <a:rPr b="0" lang="en-US" sz="1800" spc="-1" strike="noStrike">
                <a:solidFill>
                  <a:srgbClr val="000000"/>
                </a:solidFill>
                <a:latin typeface="Arial"/>
                <a:ea typeface="DejaVu Sans"/>
              </a:rPr>
              <a:t>GPT (GUID Partition Table) is a modern disk partitioning scheme that replaces MBR.</a:t>
            </a:r>
            <a:endParaRPr b="0" lang="en-US" sz="1800" spc="-1" strike="noStrike">
              <a:solidFill>
                <a:srgbClr val="000000"/>
              </a:solidFill>
              <a:latin typeface="Arial"/>
            </a:endParaRPr>
          </a:p>
          <a:p>
            <a:pPr>
              <a:lnSpc>
                <a:spcPct val="100000"/>
              </a:lnSpc>
              <a:spcBef>
                <a:spcPts val="1191"/>
              </a:spcBef>
              <a:spcAft>
                <a:spcPts val="992"/>
              </a:spcAft>
            </a:pPr>
            <a:r>
              <a:rPr b="0" lang="en-US" sz="2000" spc="-1" strike="noStrike">
                <a:solidFill>
                  <a:srgbClr val="000000"/>
                </a:solidFill>
                <a:latin typeface="Arial"/>
                <a:ea typeface="DejaVu Sans"/>
              </a:rPr>
              <a:t>/EFI/ubuntu/grubx64.efi</a:t>
            </a:r>
            <a:endParaRPr b="0" lang="en-US" sz="2000" spc="-1" strike="noStrike">
              <a:solidFill>
                <a:srgbClr val="000000"/>
              </a:solidFill>
              <a:latin typeface="Arial"/>
            </a:endParaRPr>
          </a:p>
        </p:txBody>
      </p:sp>
      <p:sp>
        <p:nvSpPr>
          <p:cNvPr id="208" name=""/>
          <p:cNvSpPr/>
          <p:nvPr/>
        </p:nvSpPr>
        <p:spPr>
          <a:xfrm>
            <a:off x="38520" y="73800"/>
            <a:ext cx="210168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UEFI booting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p:nvPr/>
        </p:nvSpPr>
        <p:spPr>
          <a:xfrm>
            <a:off x="228600" y="228600"/>
            <a:ext cx="571320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158466"/>
                </a:solidFill>
                <a:latin typeface="Arial"/>
                <a:ea typeface="DejaVu Sans"/>
              </a:rPr>
              <a:t>UEFI booting: sequence and storage</a:t>
            </a:r>
            <a:endParaRPr b="0" lang="en-US" sz="1800" spc="-1" strike="noStrike">
              <a:solidFill>
                <a:srgbClr val="000000"/>
              </a:solidFill>
              <a:latin typeface="Arial"/>
            </a:endParaRPr>
          </a:p>
        </p:txBody>
      </p:sp>
      <p:pic>
        <p:nvPicPr>
          <p:cNvPr id="210" name="" descr=""/>
          <p:cNvPicPr/>
          <p:nvPr/>
        </p:nvPicPr>
        <p:blipFill>
          <a:blip r:embed="rId1"/>
          <a:stretch/>
        </p:blipFill>
        <p:spPr>
          <a:xfrm>
            <a:off x="685800" y="1600200"/>
            <a:ext cx="7927560" cy="38754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 name="" descr=""/>
          <p:cNvPicPr/>
          <p:nvPr/>
        </p:nvPicPr>
        <p:blipFill>
          <a:blip r:embed="rId1"/>
          <a:stretch/>
        </p:blipFill>
        <p:spPr>
          <a:xfrm>
            <a:off x="20880" y="727920"/>
            <a:ext cx="9136080" cy="541368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CustomShape 1"/>
          <p:cNvSpPr/>
          <p:nvPr/>
        </p:nvSpPr>
        <p:spPr>
          <a:xfrm>
            <a:off x="72000" y="144000"/>
            <a:ext cx="8993880" cy="4179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initramfs framework is essentially a kind of middle-man between the early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kernel boot and usermode. It allows us to run user space applications (or scripts) before the actual root filesystem has been mounted. This is useful in many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circumstances, a couple of which are detailed in the following list. The key point 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that initramfs allows us to run user mode apps that the kernel cannot normally run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during boot time.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Practically speaking, among various uses, this framework allows us to do things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including the following: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Set up a console font.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Customize keyboard layout settings.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Print a custom welcome message on the console device.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Accept a password (for encrypted disks).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Load up kernel modules as required.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Spawn a "rescue" shell if something fails.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And many more!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CONFIG_BLK_DEV_INITRD -&gt; initramfs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CustomShape 1"/>
          <p:cNvSpPr/>
          <p:nvPr/>
        </p:nvSpPr>
        <p:spPr>
          <a:xfrm>
            <a:off x="-90720" y="94680"/>
            <a:ext cx="9083160" cy="6225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Understanding the basics of the boot process on the x86</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 the following list, we provide a brief overview of the typical boot process on an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x86[_64] desktop (or laptop), workstation, or server: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1. Early boot, POST, BIOS initialization – the BIOS (short for Basic Input Output System; essentially, the firmware on the x86) loads up the first sector of the first bootable disk into RAM and jumps to its entry point. This forms what is often referred to as the stage one bootloader, whose main job is to load the stage two (larger) bootloader code into memory and jump to it.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gn="just">
              <a:lnSpc>
                <a:spcPct val="100000"/>
              </a:lnSpc>
            </a:pPr>
            <a:r>
              <a:rPr b="0" lang="en-IN" sz="1800" spc="-1" strike="noStrike">
                <a:solidFill>
                  <a:srgbClr val="000000"/>
                </a:solidFill>
                <a:latin typeface="Arial"/>
                <a:ea typeface="DejaVu Sans"/>
              </a:rPr>
              <a:t>2. Now the stage two bootloader code takes control. Its main job is to load the actual (stage three) GRUB bootloader into memory and jump to its entry point (GRUB is typically the bootloader employed on x86[-64] systems)</a:t>
            </a:r>
            <a:br>
              <a:rPr sz="1800"/>
            </a:b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3. The (GRUB) bootloader will be passed both the compressed kernel image file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(/boot/vmlinuz-&lt;kernel-ver&gt; ) as well as the compressed initramfs image file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bootloader will (simplistically) do the following:</a:t>
            </a:r>
            <a:endParaRPr b="0" lang="en-US" sz="1800" spc="-1" strike="noStrike">
              <a:solidFill>
                <a:srgbClr val="000000"/>
              </a:solidFill>
              <a:latin typeface="Arial"/>
            </a:endParaRPr>
          </a:p>
          <a:p>
            <a:pPr marL="216000" indent="-212400">
              <a:lnSpc>
                <a:spcPct val="100000"/>
              </a:lnSpc>
              <a:buClr>
                <a:srgbClr val="000000"/>
              </a:buClr>
              <a:buSzPct val="45000"/>
              <a:buFont typeface="Wingdings" charset="2"/>
              <a:buChar char=""/>
            </a:pPr>
            <a:r>
              <a:rPr b="0" lang="en-IN" sz="1800" spc="-1" strike="noStrike">
                <a:solidFill>
                  <a:srgbClr val="000000"/>
                </a:solidFill>
                <a:latin typeface="Arial"/>
                <a:ea typeface="DejaVu Sans"/>
              </a:rPr>
              <a:t>Perform low-level hardware initialization.</a:t>
            </a:r>
            <a:endParaRPr b="0" lang="en-US" sz="1800" spc="-1" strike="noStrike">
              <a:solidFill>
                <a:srgbClr val="000000"/>
              </a:solidFill>
              <a:latin typeface="Arial"/>
            </a:endParaRPr>
          </a:p>
          <a:p>
            <a:pPr marL="216000" indent="-212400">
              <a:lnSpc>
                <a:spcPct val="100000"/>
              </a:lnSpc>
              <a:buClr>
                <a:srgbClr val="000000"/>
              </a:buClr>
              <a:buSzPct val="45000"/>
              <a:buFont typeface="Wingdings" charset="2"/>
              <a:buChar char=""/>
            </a:pPr>
            <a:r>
              <a:rPr b="0" lang="en-IN" sz="1800" spc="-1" strike="noStrike">
                <a:solidFill>
                  <a:srgbClr val="000000"/>
                </a:solidFill>
                <a:latin typeface="Arial"/>
                <a:ea typeface="DejaVu Sans"/>
              </a:rPr>
              <a:t>Load these images into RAM, uncompressing the kernel image to a certain extent.</a:t>
            </a:r>
            <a:endParaRPr b="0" lang="en-US" sz="1800" spc="-1" strike="noStrike">
              <a:solidFill>
                <a:srgbClr val="000000"/>
              </a:solidFill>
              <a:latin typeface="Arial"/>
            </a:endParaRPr>
          </a:p>
          <a:p>
            <a:pPr marL="216000" indent="-212400">
              <a:lnSpc>
                <a:spcPct val="100000"/>
              </a:lnSpc>
              <a:buClr>
                <a:srgbClr val="000000"/>
              </a:buClr>
              <a:buSzPct val="45000"/>
              <a:buFont typeface="Wingdings" charset="2"/>
              <a:buChar char=""/>
            </a:pPr>
            <a:r>
              <a:rPr b="0" lang="en-IN" sz="1800" spc="-1" strike="noStrike">
                <a:solidFill>
                  <a:srgbClr val="000000"/>
                </a:solidFill>
                <a:latin typeface="Arial"/>
                <a:ea typeface="DejaVu Sans"/>
              </a:rPr>
              <a:t>It will jump to the kernel entry point.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 The Linux kernel, now having control of the machine, will initialize the hardware and software environment. It makes no assumptions regarding the earlier work performed by the bootloader.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CustomShape 1"/>
          <p:cNvSpPr/>
          <p:nvPr/>
        </p:nvSpPr>
        <p:spPr>
          <a:xfrm>
            <a:off x="145080" y="72000"/>
            <a:ext cx="8992440" cy="6225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5. Upon completing the majority of hardware and software initialization, it notices that the initramfs feature is turned on ( CONFIG_BLK_DEV_INITRD=y ). It will thus locate (and if required, uncompress) the initramfs ( initrd ) image in RAM (see earlier slide).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6. It will then mount it as a temporary root filesystem in RAM itself, within a RAMdisk.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7. We now have a base, minimal root filesystem set up in memory. Thus,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initrd startup scripts now run, performing, among other tasks, the loading of the required kernel modules into RAM (in effect, loading the root filesystem drivers)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8.The kernel then performs a pivot-root, un-mounting the temporary initrd root filesystem, freeing its memory, and mounting the real root filesystem; it's now possible because the kernel module providing that filesystem support is indeed available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9. Once the (actual) root filesystem is successfully mounted, system initialization can proceed. The kernel continues, ultimately invoking the first user space process, typically /sbin/init PID 1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Remember, the kernel itself hasn't yet completed initialization; how can user space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apps run? Again, the initramfs framework solves this issue by indeed setting up 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temporary user space runtime environment complete with the required root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filesystem containing libraries, the loader, kernel modules, and so on, in memory.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lsinitramfs</a:t>
            </a:r>
            <a:r>
              <a:rPr b="0" lang="en-IN" sz="1800" spc="-1" strike="noStrike">
                <a:solidFill>
                  <a:srgbClr val="000000"/>
                </a:solidFill>
                <a:latin typeface="Arial"/>
                <a:ea typeface="DejaVu Sans"/>
              </a:rPr>
              <a:t> /boot/initrd.img-***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 descr=""/>
          <p:cNvPicPr/>
          <p:nvPr/>
        </p:nvPicPr>
        <p:blipFill>
          <a:blip r:embed="rId1"/>
          <a:stretch/>
        </p:blipFill>
        <p:spPr>
          <a:xfrm>
            <a:off x="2860200" y="51840"/>
            <a:ext cx="5715000" cy="6666120"/>
          </a:xfrm>
          <a:prstGeom prst="rect">
            <a:avLst/>
          </a:prstGeom>
          <a:ln w="0">
            <a:noFill/>
          </a:ln>
        </p:spPr>
      </p:pic>
      <p:sp>
        <p:nvSpPr>
          <p:cNvPr id="216" name=""/>
          <p:cNvSpPr txBox="1"/>
          <p:nvPr/>
        </p:nvSpPr>
        <p:spPr>
          <a:xfrm>
            <a:off x="228600" y="228600"/>
            <a:ext cx="2286000" cy="685800"/>
          </a:xfrm>
          <a:prstGeom prst="rect">
            <a:avLst/>
          </a:prstGeom>
          <a:noFill/>
          <a:ln w="0">
            <a:noFill/>
          </a:ln>
        </p:spPr>
        <p:txBody>
          <a:bodyPr lIns="90000" rIns="90000" tIns="45000" bIns="45000" anchor="t">
            <a:noAutofit/>
          </a:bodyPr>
          <a:p>
            <a:r>
              <a:rPr b="1" lang="en-US" sz="1800" spc="-1" strike="noStrike">
                <a:solidFill>
                  <a:srgbClr val="000000"/>
                </a:solidFill>
                <a:latin typeface="Arial"/>
              </a:rPr>
              <a:t>X86 Boot Process</a:t>
            </a:r>
            <a:endParaRPr b="1"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7" name="Picture 1" descr=""/>
          <p:cNvPicPr/>
          <p:nvPr/>
        </p:nvPicPr>
        <p:blipFill>
          <a:blip r:embed="rId1"/>
          <a:stretch/>
        </p:blipFill>
        <p:spPr>
          <a:xfrm>
            <a:off x="0" y="0"/>
            <a:ext cx="9135720" cy="6837120"/>
          </a:xfrm>
          <a:prstGeom prst="rect">
            <a:avLst/>
          </a:prstGeom>
          <a:ln w="0">
            <a:noFill/>
          </a:ln>
        </p:spPr>
      </p:pic>
      <p:sp>
        <p:nvSpPr>
          <p:cNvPr id="218" name="CustomShape 1"/>
          <p:cNvSpPr/>
          <p:nvPr/>
        </p:nvSpPr>
        <p:spPr>
          <a:xfrm>
            <a:off x="4369680" y="254160"/>
            <a:ext cx="8280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GRUB</a:t>
            </a:r>
            <a:endParaRPr b="0" lang="en-US" sz="2240" spc="-1" strike="noStrike">
              <a:solidFill>
                <a:srgbClr val="000000"/>
              </a:solidFill>
              <a:latin typeface="Arial"/>
            </a:endParaRPr>
          </a:p>
        </p:txBody>
      </p:sp>
      <p:sp>
        <p:nvSpPr>
          <p:cNvPr id="219" name=""/>
          <p:cNvSpPr/>
          <p:nvPr/>
        </p:nvSpPr>
        <p:spPr>
          <a:xfrm>
            <a:off x="130320" y="457200"/>
            <a:ext cx="8554680" cy="3672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Grand Unified Bootloader, from the GNU project</a:t>
            </a:r>
            <a:br>
              <a:rPr sz="1800"/>
            </a:b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De-facto standard in most Linux distributions for x86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Supports x86 legacy and UEFI systems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read many filesystem formats to load the kernel image, modules and configuration</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Provides a menu and powerful shell with various commands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Can load kernel images over the network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Also supports ARM, ARM64, RISC-V, PowerPC, but less popular than other</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bootloaders on those platforms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https://www.gnu.org/software/grub/</a:t>
            </a:r>
            <a:endParaRPr b="0" lang="en-US" sz="1800" spc="-1" strike="noStrike">
              <a:solidFill>
                <a:srgbClr val="000000"/>
              </a:solidFill>
              <a:latin typeface="Arial"/>
            </a:endParaRPr>
          </a:p>
        </p:txBody>
      </p:sp>
      <p:pic>
        <p:nvPicPr>
          <p:cNvPr id="220" name="" descr=""/>
          <p:cNvPicPr/>
          <p:nvPr/>
        </p:nvPicPr>
        <p:blipFill>
          <a:blip r:embed="rId2"/>
          <a:stretch/>
        </p:blipFill>
        <p:spPr>
          <a:xfrm>
            <a:off x="2968200" y="3537000"/>
            <a:ext cx="6170400" cy="32562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Picture 1" descr=""/>
          <p:cNvPicPr/>
          <p:nvPr/>
        </p:nvPicPr>
        <p:blipFill>
          <a:blip r:embed="rId1"/>
          <a:stretch/>
        </p:blipFill>
        <p:spPr>
          <a:xfrm>
            <a:off x="0" y="0"/>
            <a:ext cx="9135720" cy="6837120"/>
          </a:xfrm>
          <a:prstGeom prst="rect">
            <a:avLst/>
          </a:prstGeom>
          <a:ln w="0">
            <a:noFill/>
          </a:ln>
        </p:spPr>
      </p:pic>
      <p:sp>
        <p:nvSpPr>
          <p:cNvPr id="222" name="CustomShape 1"/>
          <p:cNvSpPr/>
          <p:nvPr/>
        </p:nvSpPr>
        <p:spPr>
          <a:xfrm>
            <a:off x="3277800" y="431640"/>
            <a:ext cx="2961000" cy="708120"/>
          </a:xfrm>
          <a:prstGeom prst="rect">
            <a:avLst/>
          </a:prstGeom>
          <a:noFill/>
          <a:ln w="0">
            <a:noFill/>
          </a:ln>
        </p:spPr>
        <p:style>
          <a:lnRef idx="0"/>
          <a:fillRef idx="0"/>
          <a:effectRef idx="0"/>
          <a:fontRef idx="minor"/>
        </p:style>
        <p:txBody>
          <a:bodyPr wrap="none" lIns="0" rIns="0" tIns="0" bIns="0" anchor="t">
            <a:noAutofit/>
          </a:bodyPr>
          <a:p>
            <a:pPr>
              <a:lnSpc>
                <a:spcPts val="975"/>
              </a:lnSpc>
            </a:pPr>
            <a:r>
              <a:rPr b="1" lang="en-US" sz="2240" spc="-1" strike="noStrike">
                <a:solidFill>
                  <a:srgbClr val="000000"/>
                </a:solidFill>
                <a:latin typeface="Arial Bold"/>
                <a:ea typeface="DejaVu Sans"/>
              </a:rPr>
              <a:t>Initialization Overview</a:t>
            </a:r>
            <a:endParaRPr b="0" lang="en-US" sz="2240" spc="-1" strike="noStrike">
              <a:solidFill>
                <a:srgbClr val="000000"/>
              </a:solidFill>
              <a:latin typeface="Arial"/>
            </a:endParaRPr>
          </a:p>
        </p:txBody>
      </p:sp>
      <p:sp>
        <p:nvSpPr>
          <p:cNvPr id="223" name="CustomShape 2"/>
          <p:cNvSpPr/>
          <p:nvPr/>
        </p:nvSpPr>
        <p:spPr>
          <a:xfrm>
            <a:off x="253080" y="651600"/>
            <a:ext cx="8506440" cy="144288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When the operating system starts, the kernel runs /sbin/init. This can</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be either a script or a program, but typically it is a program that</a:t>
            </a:r>
            <a:endParaRPr b="0" lang="en-US" sz="2230" spc="-1" strike="noStrike">
              <a:solidFill>
                <a:srgbClr val="000000"/>
              </a:solidFill>
              <a:latin typeface="Arial"/>
            </a:endParaRPr>
          </a:p>
          <a:p>
            <a:pPr>
              <a:lnSpc>
                <a:spcPts val="1006"/>
              </a:lnSpc>
            </a:pPr>
            <a:endParaRPr b="0" lang="en-US" sz="2230" spc="-1" strike="noStrike">
              <a:solidFill>
                <a:srgbClr val="000000"/>
              </a:solidFill>
              <a:latin typeface="Arial"/>
            </a:endParaRPr>
          </a:p>
          <a:p>
            <a:pPr>
              <a:lnSpc>
                <a:spcPts val="1006"/>
              </a:lnSpc>
            </a:pPr>
            <a:r>
              <a:rPr b="0" lang="en-US" sz="2230" spc="-1" strike="noStrike">
                <a:solidFill>
                  <a:srgbClr val="000000"/>
                </a:solidFill>
                <a:latin typeface="Arial"/>
                <a:ea typeface="DejaVu Sans"/>
              </a:rPr>
              <a:t>processes the statements in /etc/initab.</a:t>
            </a:r>
            <a:endParaRPr b="0" lang="en-US" sz="2230" spc="-1" strike="noStrike">
              <a:solidFill>
                <a:srgbClr val="000000"/>
              </a:solidFill>
              <a:latin typeface="Arial"/>
            </a:endParaRPr>
          </a:p>
        </p:txBody>
      </p:sp>
      <p:sp>
        <p:nvSpPr>
          <p:cNvPr id="224" name="CustomShape 3"/>
          <p:cNvSpPr/>
          <p:nvPr/>
        </p:nvSpPr>
        <p:spPr>
          <a:xfrm>
            <a:off x="274320" y="1698480"/>
            <a:ext cx="8604000" cy="1464840"/>
          </a:xfrm>
          <a:prstGeom prst="rect">
            <a:avLst/>
          </a:prstGeom>
          <a:noFill/>
          <a:ln w="0">
            <a:noFill/>
          </a:ln>
        </p:spPr>
        <p:style>
          <a:lnRef idx="0"/>
          <a:fillRef idx="0"/>
          <a:effectRef idx="0"/>
          <a:fontRef idx="minor"/>
        </p:style>
        <p:txBody>
          <a:bodyPr wrap="none" lIns="0" rIns="0" tIns="0" bIns="0" anchor="t">
            <a:noAutofit/>
          </a:bodyPr>
          <a:p>
            <a:pPr>
              <a:lnSpc>
                <a:spcPct val="100000"/>
              </a:lnSpc>
            </a:pPr>
            <a:r>
              <a:rPr b="0" lang="en-US" sz="2230" spc="-1" strike="noStrike">
                <a:solidFill>
                  <a:srgbClr val="000000"/>
                </a:solidFill>
                <a:latin typeface="Arial"/>
                <a:ea typeface="DejaVu Sans"/>
              </a:rPr>
              <a:t>The default inittab file tells init to run the commands in the file</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/etc/rc.d/rcS. In addition, init spawns programs to present login</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prompts on two virtual terminals.</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spcBef>
                <a:spcPts val="1191"/>
              </a:spcBef>
              <a:spcAft>
                <a:spcPts val="992"/>
              </a:spcAft>
            </a:pPr>
            <a:r>
              <a:rPr b="0" lang="en-IN" sz="2230" spc="-1" strike="noStrike">
                <a:solidFill>
                  <a:srgbClr val="000000"/>
                </a:solidFill>
                <a:latin typeface="Arial"/>
                <a:ea typeface="DejaVu Sans"/>
              </a:rPr>
              <a:t>In Ubuntu: systemd is in use, but /etc/rc0.d still exists for</a:t>
            </a:r>
            <a:endParaRPr b="0" lang="en-US" sz="2230" spc="-1" strike="noStrike">
              <a:solidFill>
                <a:srgbClr val="000000"/>
              </a:solidFill>
              <a:latin typeface="Arial"/>
            </a:endParaRPr>
          </a:p>
          <a:p>
            <a:pPr>
              <a:lnSpc>
                <a:spcPts val="1023"/>
              </a:lnSpc>
              <a:spcBef>
                <a:spcPts val="1191"/>
              </a:spcBef>
              <a:spcAft>
                <a:spcPts val="992"/>
              </a:spcAft>
            </a:pPr>
            <a:br>
              <a:rPr sz="2230"/>
            </a:br>
            <a:r>
              <a:rPr b="0" lang="en-IN" sz="2230" spc="-1" strike="noStrike">
                <a:solidFill>
                  <a:srgbClr val="000000"/>
                </a:solidFill>
                <a:latin typeface="Arial"/>
                <a:ea typeface="DejaVu Sans"/>
              </a:rPr>
              <a:t>compatibility reasons.</a:t>
            </a:r>
            <a:endParaRPr b="0" lang="en-US" sz="2230" spc="-1" strike="noStrike">
              <a:solidFill>
                <a:srgbClr val="000000"/>
              </a:solidFill>
              <a:latin typeface="Arial"/>
            </a:endParaRPr>
          </a:p>
        </p:txBody>
      </p:sp>
      <p:pic>
        <p:nvPicPr>
          <p:cNvPr id="225" name="" descr=""/>
          <p:cNvPicPr/>
          <p:nvPr/>
        </p:nvPicPr>
        <p:blipFill>
          <a:blip r:embed="rId2"/>
          <a:stretch/>
        </p:blipFill>
        <p:spPr>
          <a:xfrm>
            <a:off x="228600" y="4148640"/>
            <a:ext cx="8913600" cy="19965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
          <p:cNvSpPr/>
          <p:nvPr/>
        </p:nvSpPr>
        <p:spPr>
          <a:xfrm>
            <a:off x="505080" y="457200"/>
            <a:ext cx="5436720" cy="6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Noto Sans CJK SC"/>
              </a:rPr>
              <a:t>Systemd-boot : Simple UEFI boot manager</a:t>
            </a:r>
            <a:endParaRPr b="0" lang="en-US" sz="1800" spc="-1" strike="noStrike">
              <a:solidFill>
                <a:srgbClr val="000000"/>
              </a:solidFill>
              <a:latin typeface="Arial"/>
            </a:endParaRPr>
          </a:p>
        </p:txBody>
      </p:sp>
      <p:sp>
        <p:nvSpPr>
          <p:cNvPr id="227" name=""/>
          <p:cNvSpPr/>
          <p:nvPr/>
        </p:nvSpPr>
        <p:spPr>
          <a:xfrm>
            <a:off x="411480" y="1057320"/>
            <a:ext cx="8502120" cy="5173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Useful alternative to GRUB for UEFI systems: simpler than GRUB</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Configured using files stored in the EFI System Partition</a:t>
            </a:r>
            <a:br>
              <a:rPr sz="1800"/>
            </a:br>
            <a:br>
              <a:rPr sz="1800"/>
            </a:br>
            <a:r>
              <a:rPr b="0" lang="en-US" sz="1800" spc="-1" strike="noStrike">
                <a:solidFill>
                  <a:srgbClr val="000000"/>
                </a:solidFill>
                <a:latin typeface="Arial"/>
                <a:ea typeface="DejaVu Sans"/>
              </a:rPr>
              <a:t>▶ Part of the systemd project, even though obviously distinct from systemd itself</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systemd-boot is a UEFI boot manager which executes configured EFI images.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spcBef>
                <a:spcPts val="1191"/>
              </a:spcBef>
              <a:spcAft>
                <a:spcPts val="992"/>
              </a:spcAft>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systemd-boot operates on the EFI System Partition (ESP) only. Configuration file fragments, kernels, initrds, other EFI images need to reside on the ESP. Linux kernels need to be built with CONFIG_EFI_STUB to be able to be directly executed as an EFI image.  </a:t>
            </a:r>
            <a:endParaRPr b="0" lang="en-US" sz="1800" spc="-1" strike="noStrike">
              <a:solidFill>
                <a:srgbClr val="000000"/>
              </a:solidFill>
              <a:latin typeface="Arial"/>
            </a:endParaRPr>
          </a:p>
          <a:p>
            <a:pPr>
              <a:lnSpc>
                <a:spcPct val="100000"/>
              </a:lnSpc>
            </a:pPr>
            <a:r>
              <a:rPr b="1" lang="en-US" sz="1800" spc="-1" strike="noStrike">
                <a:solidFill>
                  <a:srgbClr val="000000"/>
                </a:solidFill>
                <a:latin typeface="Arial"/>
                <a:ea typeface="DejaVu Sans"/>
              </a:rPr>
              <a:t>https://www.freedesktop.org/wiki/Software/systemd/systemd-boot/</a:t>
            </a:r>
            <a:endParaRPr b="0" lang="en-US" sz="1800" spc="-1" strike="noStrike">
              <a:solidFill>
                <a:srgbClr val="000000"/>
              </a:solidFill>
              <a:latin typeface="Arial"/>
            </a:endParaRPr>
          </a:p>
          <a:p>
            <a:pPr>
              <a:lnSpc>
                <a:spcPct val="100000"/>
              </a:lnSpc>
              <a:spcBef>
                <a:spcPts val="1191"/>
              </a:spcBef>
              <a:spcAft>
                <a:spcPts val="992"/>
              </a:spcAft>
            </a:pPr>
            <a:br>
              <a:rPr sz="1000"/>
            </a:b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Picture 1" descr=""/>
          <p:cNvPicPr/>
          <p:nvPr/>
        </p:nvPicPr>
        <p:blipFill>
          <a:blip r:embed="rId1"/>
          <a:stretch/>
        </p:blipFill>
        <p:spPr>
          <a:xfrm>
            <a:off x="146160" y="68760"/>
            <a:ext cx="8538840" cy="1758240"/>
          </a:xfrm>
          <a:prstGeom prst="rect">
            <a:avLst/>
          </a:prstGeom>
          <a:ln w="0">
            <a:noFill/>
          </a:ln>
        </p:spPr>
      </p:pic>
      <p:sp>
        <p:nvSpPr>
          <p:cNvPr id="229" name="CustomShape 1"/>
          <p:cNvSpPr/>
          <p:nvPr/>
        </p:nvSpPr>
        <p:spPr>
          <a:xfrm>
            <a:off x="331920" y="266760"/>
            <a:ext cx="7781040" cy="1833120"/>
          </a:xfrm>
          <a:prstGeom prst="rect">
            <a:avLst/>
          </a:prstGeom>
          <a:noFill/>
          <a:ln w="0">
            <a:noFill/>
          </a:ln>
        </p:spPr>
        <p:style>
          <a:lnRef idx="0"/>
          <a:fillRef idx="0"/>
          <a:effectRef idx="0"/>
          <a:fontRef idx="minor"/>
        </p:style>
        <p:txBody>
          <a:bodyPr wrap="none" lIns="0" rIns="0" tIns="0" bIns="0" anchor="t">
            <a:noAutofit/>
          </a:bodyPr>
          <a:p>
            <a:pPr>
              <a:lnSpc>
                <a:spcPct val="100000"/>
              </a:lnSpc>
              <a:spcBef>
                <a:spcPts val="1191"/>
              </a:spcBef>
              <a:spcAft>
                <a:spcPts val="992"/>
              </a:spcAft>
            </a:pPr>
            <a:r>
              <a:rPr b="1" lang="en-US" sz="2240" spc="-1" strike="noStrike">
                <a:solidFill>
                  <a:srgbClr val="000000"/>
                </a:solidFill>
                <a:latin typeface="Arial Bold"/>
                <a:ea typeface="DejaVu Sans"/>
              </a:rPr>
              <a:t>Init Runlevels</a:t>
            </a:r>
            <a:r>
              <a:rPr b="0" lang="en-US" sz="2230" spc="-1" strike="noStrike">
                <a:solidFill>
                  <a:srgbClr val="000000"/>
                </a:solidFill>
                <a:latin typeface="Arial"/>
                <a:ea typeface="DejaVu Sans"/>
              </a:rPr>
              <a:t>: </a:t>
            </a:r>
            <a:r>
              <a:rPr b="1" lang="en-US" sz="2230" spc="-1" strike="noStrike">
                <a:solidFill>
                  <a:srgbClr val="000000"/>
                </a:solidFill>
                <a:latin typeface="Arial"/>
                <a:ea typeface="DejaVu Sans"/>
              </a:rPr>
              <a:t>/etc/rc0.d (SysVinit)</a:t>
            </a:r>
            <a:br>
              <a:rPr sz="2230"/>
            </a:br>
            <a:r>
              <a:rPr b="0" lang="en-US" sz="2230" spc="-1" strike="noStrike">
                <a:solidFill>
                  <a:srgbClr val="000000"/>
                </a:solidFill>
                <a:latin typeface="Arial"/>
                <a:ea typeface="DejaVu Sans"/>
              </a:rPr>
              <a:t>The idea behind operating different services at</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different run levels essentially revolves around the fact that</a:t>
            </a:r>
            <a:endParaRPr b="0" lang="en-US" sz="2230" spc="-1" strike="noStrike">
              <a:solidFill>
                <a:srgbClr val="000000"/>
              </a:solidFill>
              <a:latin typeface="Arial"/>
            </a:endParaRPr>
          </a:p>
          <a:p>
            <a:pPr>
              <a:lnSpc>
                <a:spcPct val="100000"/>
              </a:lnSpc>
            </a:pPr>
            <a:r>
              <a:rPr b="0" lang="en-US" sz="2230" spc="-1" strike="noStrike">
                <a:solidFill>
                  <a:srgbClr val="000000"/>
                </a:solidFill>
                <a:latin typeface="Arial"/>
                <a:ea typeface="DejaVu Sans"/>
              </a:rPr>
              <a:t>different systems can be used in a different ways. The following</a:t>
            </a: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endParaRPr b="0" lang="en-US" sz="2230" spc="-1" strike="noStrike">
              <a:solidFill>
                <a:srgbClr val="000000"/>
              </a:solidFill>
              <a:latin typeface="Arial"/>
            </a:endParaRPr>
          </a:p>
          <a:p>
            <a:pPr>
              <a:lnSpc>
                <a:spcPts val="1023"/>
              </a:lnSpc>
            </a:pPr>
            <a:r>
              <a:rPr b="0" lang="en-US" sz="2230" spc="-1" strike="noStrike">
                <a:solidFill>
                  <a:srgbClr val="000000"/>
                </a:solidFill>
                <a:latin typeface="Arial"/>
                <a:ea typeface="DejaVu Sans"/>
              </a:rPr>
              <a:t>runlevels are defined in Red Hat Linux :</a:t>
            </a:r>
            <a:endParaRPr b="0" lang="en-US" sz="2230" spc="-1" strike="noStrike">
              <a:solidFill>
                <a:srgbClr val="000000"/>
              </a:solidFill>
              <a:latin typeface="Arial"/>
            </a:endParaRPr>
          </a:p>
        </p:txBody>
      </p:sp>
      <p:pic>
        <p:nvPicPr>
          <p:cNvPr id="230" name="" descr=""/>
          <p:cNvPicPr/>
          <p:nvPr/>
        </p:nvPicPr>
        <p:blipFill>
          <a:blip r:embed="rId2"/>
          <a:stretch/>
        </p:blipFill>
        <p:spPr>
          <a:xfrm>
            <a:off x="1143000" y="1855800"/>
            <a:ext cx="5995800" cy="43146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3158</TotalTime>
  <Application>LibreOffice/24.2.7.2$Linux_X86_64 LibreOffice_project/420$Build-2</Application>
  <AppVersion>15.0000</AppVersion>
  <Company>Investintech</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2014-11-05T20:25:49Z</dcterms:created>
  <dc:creator>A2E_Engine</dc:creator>
  <dc:description/>
  <dc:language>en-US</dc:language>
  <cp:lastModifiedBy/>
  <dcterms:modified xsi:type="dcterms:W3CDTF">2026-09-05T18:23:57Z</dcterms:modified>
  <cp:revision>175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29</vt:r8>
  </property>
</Properties>
</file>