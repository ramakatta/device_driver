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4EC37AE4-8CE4-4BA7-8706-CEA74A7F8029}"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dt" idx="1"/>
          </p:nvPr>
        </p:nvSpPr>
        <p:spPr>
          <a:xfrm>
            <a:off x="342720" y="6356520"/>
            <a:ext cx="160020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7" name="PlaceHolder 2"/>
          <p:cNvSpPr>
            <a:spLocks noGrp="1"/>
          </p:cNvSpPr>
          <p:nvPr>
            <p:ph type="ftr" idx="2"/>
          </p:nvPr>
        </p:nvSpPr>
        <p:spPr>
          <a:xfrm>
            <a:off x="2342880" y="6356520"/>
            <a:ext cx="21715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3"/>
          <p:cNvSpPr>
            <a:spLocks noGrp="1"/>
          </p:cNvSpPr>
          <p:nvPr>
            <p:ph type="sldNum" idx="3"/>
          </p:nvPr>
        </p:nvSpPr>
        <p:spPr>
          <a:xfrm>
            <a:off x="4914720" y="6356520"/>
            <a:ext cx="160020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B5960FF-884F-477A-81D2-E1E78777E6F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9" name="PlaceHolder 4"/>
          <p:cNvSpPr>
            <a:spLocks noGrp="1"/>
          </p:cNvSpPr>
          <p:nvPr>
            <p:ph type="title"/>
          </p:nvPr>
        </p:nvSpPr>
        <p:spPr>
          <a:xfrm>
            <a:off x="456840" y="273600"/>
            <a:ext cx="82292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0" name="PlaceHolder 5"/>
          <p:cNvSpPr>
            <a:spLocks noGrp="1"/>
          </p:cNvSpPr>
          <p:nvPr>
            <p:ph type="body"/>
          </p:nvPr>
        </p:nvSpPr>
        <p:spPr>
          <a:xfrm>
            <a:off x="45684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 name="Picture 2" descr=""/>
          <p:cNvPicPr/>
          <p:nvPr/>
        </p:nvPicPr>
        <p:blipFill>
          <a:blip r:embed="rId1"/>
          <a:stretch/>
        </p:blipFill>
        <p:spPr>
          <a:xfrm>
            <a:off x="228600" y="0"/>
            <a:ext cx="8834760" cy="68536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 name="Picture 2" descr=""/>
          <p:cNvPicPr/>
          <p:nvPr/>
        </p:nvPicPr>
        <p:blipFill>
          <a:blip r:embed="rId1"/>
          <a:stretch/>
        </p:blipFill>
        <p:spPr>
          <a:xfrm>
            <a:off x="0" y="380880"/>
            <a:ext cx="9139680" cy="60915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CustomShape 1"/>
          <p:cNvSpPr/>
          <p:nvPr/>
        </p:nvSpPr>
        <p:spPr>
          <a:xfrm>
            <a:off x="30240" y="122040"/>
            <a:ext cx="8966160" cy="639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Within the kernel, the dev_t type (defined in </a:t>
            </a:r>
            <a:r>
              <a:rPr b="0" i="1" lang="en-US" sz="1800" spc="-1" strike="noStrike">
                <a:solidFill>
                  <a:srgbClr val="000000"/>
                </a:solidFill>
                <a:latin typeface="Calibri"/>
                <a:ea typeface="DejaVu Sans"/>
              </a:rPr>
              <a:t>&lt;linux/types.h&gt;</a:t>
            </a:r>
            <a:r>
              <a:rPr b="0" lang="en-US" sz="1800" spc="-1" strike="noStrike">
                <a:solidFill>
                  <a:srgbClr val="000000"/>
                </a:solidFill>
                <a:latin typeface="Calibri"/>
                <a:ea typeface="DejaVu Sans"/>
              </a:rPr>
              <a:t>) is used to hold device numbers—both the major and minor parts. As of Version 2.6.0 of the kernel, dev_t is a 32-bit quantity with 12 bits set aside for the major number and 20 for the minor number. Your code should, of course, never make any assumptions about the internal organization of device numbers; it should, instead, make use of a set of macros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found in </a:t>
            </a:r>
            <a:r>
              <a:rPr b="0" i="1" lang="en-US" sz="1800" spc="-1" strike="noStrike">
                <a:solidFill>
                  <a:srgbClr val="000000"/>
                </a:solidFill>
                <a:latin typeface="Calibri"/>
                <a:ea typeface="DejaVu Sans"/>
              </a:rPr>
              <a:t>&lt;linux/kdev_t.h&gt;</a:t>
            </a:r>
            <a:r>
              <a:rPr b="0" lang="en-US" sz="1800" spc="-1" strike="noStrike">
                <a:solidFill>
                  <a:srgbClr val="000000"/>
                </a:solidFill>
                <a:latin typeface="Calibri"/>
                <a:ea typeface="DejaVu Sans"/>
              </a:rPr>
              <a:t>. To obtain the major or minor parts of a dev_t, use: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MAJOR(dev_t dev);</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MINOR(dev_t dev);</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instead, you have the major and minor numbers and need to turn them into a dev_t,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use: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MKDEV(int major, int minor);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LANA (Linux assigned names and number authority)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https://www.kernel.org/doc/Documentation/admin-guide/devices.txt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(scull_major)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dev = MKDEV(scull_major, scull_minor);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result = register_chrdev_region(dev, scull_nr_devs, "scull");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else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result = alloc_chrdev_region(&amp;dev, scull_minor, scull_nr_devs,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major=MAJOR(dev);</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CustomShape 1"/>
          <p:cNvSpPr/>
          <p:nvPr/>
        </p:nvSpPr>
        <p:spPr>
          <a:xfrm>
            <a:off x="228600" y="122040"/>
            <a:ext cx="8623800" cy="5850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struct file_operations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struct module *owner; The first file_operations field is not an operation at all; it is a pointer to the module that “owns” the structure. This field is used to prevent the module from being unloaded while its operations are in use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loff_t(*llseek) (struct file *, loff_t, int);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ssize_t(*read) (struct file *, char __user *, size_t, loff_t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ssize_t(*aio_read) (struct kiocb *, char __user *, size_t, loff_t);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ssize_t(*write) (struct file *, const char __user *, size_t, loff_t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ssize_t(*aio_write) (struct kiocb *, const char __user *, size_t, loff_t);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int (*readdir) (struct file *, void *, filldir_t);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unsigned int (*poll) (struct file *, struct poll_table_struct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int (*ioctl) (struct inode *, struct file *, unsigned int, unsigned long);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unsigned int (*poll) (struct file *, struct poll_table_struct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int (*mmap) (struct file *, struct vm_area_struct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a:t>
            </a:r>
            <a:r>
              <a:rPr b="0" i="1" lang="en-US" sz="1800" spc="-1" strike="noStrike">
                <a:solidFill>
                  <a:srgbClr val="000000"/>
                </a:solidFill>
                <a:latin typeface="Calibri"/>
                <a:ea typeface="DejaVu Sans"/>
              </a:rPr>
              <a:t>poll </a:t>
            </a:r>
            <a:r>
              <a:rPr b="0" lang="en-US" sz="1800" spc="-1" strike="noStrike">
                <a:solidFill>
                  <a:srgbClr val="000000"/>
                </a:solidFill>
                <a:latin typeface="Calibri"/>
                <a:ea typeface="DejaVu Sans"/>
              </a:rPr>
              <a:t>method is the back end of three system calls: </a:t>
            </a:r>
            <a:r>
              <a:rPr b="0" i="1" lang="en-US" sz="1800" spc="-1" strike="noStrike">
                <a:solidFill>
                  <a:srgbClr val="000000"/>
                </a:solidFill>
                <a:latin typeface="Calibri"/>
                <a:ea typeface="DejaVu Sans"/>
              </a:rPr>
              <a:t>poll, epoll, </a:t>
            </a:r>
            <a:r>
              <a:rPr b="0" lang="en-US" sz="1800" spc="-1" strike="noStrike">
                <a:solidFill>
                  <a:srgbClr val="000000"/>
                </a:solidFill>
                <a:latin typeface="Calibri"/>
                <a:ea typeface="DejaVu Sans"/>
              </a:rPr>
              <a:t>and </a:t>
            </a:r>
            <a:r>
              <a:rPr b="0" i="1" lang="en-US" sz="1800" spc="-1" strike="noStrike">
                <a:solidFill>
                  <a:srgbClr val="000000"/>
                </a:solidFill>
                <a:latin typeface="Calibri"/>
                <a:ea typeface="DejaVu Sans"/>
              </a:rPr>
              <a:t>select</a:t>
            </a:r>
            <a:r>
              <a:rPr b="0" lang="en-US" sz="1800" spc="-1" strike="noStrike">
                <a:solidFill>
                  <a:srgbClr val="000000"/>
                </a:solidFill>
                <a:latin typeface="Calibri"/>
                <a:ea typeface="DejaVu Sans"/>
              </a:rPr>
              <a:t>, all of which are used to query whether a read or write to one or more file descriptors would block</a:t>
            </a:r>
            <a:endParaRPr b="0" lang="en-US" sz="1800" spc="-1" strike="noStrike">
              <a:solidFill>
                <a:srgbClr val="000000"/>
              </a:solidFill>
              <a:latin typeface="Arial"/>
            </a:endParaRPr>
          </a:p>
          <a:p>
            <a:pPr>
              <a:lnSpc>
                <a:spcPct val="100000"/>
              </a:lnSpc>
            </a:pPr>
            <a:r>
              <a:rPr b="0" i="1" lang="en-US" sz="1800" spc="-1" strike="noStrike">
                <a:solidFill>
                  <a:srgbClr val="000000"/>
                </a:solidFill>
                <a:latin typeface="Calibri"/>
                <a:ea typeface="DejaVu Sans"/>
              </a:rPr>
              <a:t>mmap </a:t>
            </a:r>
            <a:r>
              <a:rPr b="0" lang="en-US" sz="1800" spc="-1" strike="noStrike">
                <a:solidFill>
                  <a:srgbClr val="000000"/>
                </a:solidFill>
                <a:latin typeface="Calibri"/>
                <a:ea typeface="DejaVu Sans"/>
              </a:rPr>
              <a:t>is used to request a mapping of device memory to a process’s address space. If this method is NULL, the </a:t>
            </a:r>
            <a:r>
              <a:rPr b="0" i="1" lang="en-US" sz="1800" spc="-1" strike="noStrike">
                <a:solidFill>
                  <a:srgbClr val="000000"/>
                </a:solidFill>
                <a:latin typeface="Calibri"/>
                <a:ea typeface="DejaVu Sans"/>
              </a:rPr>
              <a:t>mmap </a:t>
            </a:r>
            <a:r>
              <a:rPr b="0" lang="en-US" sz="1800" spc="-1" strike="noStrike">
                <a:solidFill>
                  <a:srgbClr val="000000"/>
                </a:solidFill>
                <a:latin typeface="Calibri"/>
                <a:ea typeface="DejaVu Sans"/>
              </a:rPr>
              <a:t>system call returns -ENODEV.</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CustomShape 1"/>
          <p:cNvSpPr/>
          <p:nvPr/>
        </p:nvSpPr>
        <p:spPr>
          <a:xfrm>
            <a:off x="144000" y="44640"/>
            <a:ext cx="8614800" cy="6124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struct file, defined in </a:t>
            </a:r>
            <a:r>
              <a:rPr b="0" i="1" lang="en-US" sz="1800" spc="-1" strike="noStrike">
                <a:solidFill>
                  <a:srgbClr val="000000"/>
                </a:solidFill>
                <a:latin typeface="Calibri"/>
                <a:ea typeface="DejaVu Sans"/>
              </a:rPr>
              <a:t>&lt;linux/fs.h&gt;</a:t>
            </a:r>
            <a:r>
              <a:rPr b="0" lang="en-US" sz="1800" spc="-1" strike="noStrike">
                <a:solidFill>
                  <a:srgbClr val="000000"/>
                </a:solidFill>
                <a:latin typeface="Calibri"/>
                <a:ea typeface="DejaVu Sans"/>
              </a:rPr>
              <a:t>, is the second most important data structure used in device drivers. Note that a file has nothing to do with the FILE pointers of user-space programs. A FILE is defined in the C library and never appears in kernel code. A struct file, on the other hand, is a kernel structure that never appears inuser programs.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file structure represents an </a:t>
            </a:r>
            <a:r>
              <a:rPr b="0" i="1" lang="en-US" sz="1800" spc="-1" strike="noStrike">
                <a:solidFill>
                  <a:srgbClr val="000000"/>
                </a:solidFill>
                <a:latin typeface="Calibri"/>
                <a:ea typeface="DejaVu Sans"/>
              </a:rPr>
              <a:t>open file</a:t>
            </a:r>
            <a:r>
              <a:rPr b="0" lang="en-US" sz="1800" spc="-1" strike="noStrike">
                <a:solidFill>
                  <a:srgbClr val="000000"/>
                </a:solidFill>
                <a:latin typeface="Calibri"/>
                <a:ea typeface="DejaVu Sans"/>
              </a:rPr>
              <a:t>. (It is not specific to device drivers; every open file in the system has an associated struct file in kernel space.) It is created by the kernel on </a:t>
            </a:r>
            <a:r>
              <a:rPr b="0" i="1" lang="en-US" sz="1800" spc="-1" strike="noStrike">
                <a:solidFill>
                  <a:srgbClr val="000000"/>
                </a:solidFill>
                <a:latin typeface="Calibri"/>
                <a:ea typeface="DejaVu Sans"/>
              </a:rPr>
              <a:t>open </a:t>
            </a:r>
            <a:r>
              <a:rPr b="0" lang="en-US" sz="1800" spc="-1" strike="noStrike">
                <a:solidFill>
                  <a:srgbClr val="000000"/>
                </a:solidFill>
                <a:latin typeface="Calibri"/>
                <a:ea typeface="DejaVu Sans"/>
              </a:rPr>
              <a:t>and is passed to any function that operates on the file, until the last </a:t>
            </a:r>
            <a:r>
              <a:rPr b="0" i="1" lang="en-US" sz="1800" spc="-1" strike="noStrike">
                <a:solidFill>
                  <a:srgbClr val="000000"/>
                </a:solidFill>
                <a:latin typeface="Calibri"/>
                <a:ea typeface="DejaVu Sans"/>
              </a:rPr>
              <a:t>close</a:t>
            </a:r>
            <a:r>
              <a:rPr b="0" lang="en-US" sz="1800" spc="-1" strike="noStrike">
                <a:solidFill>
                  <a:srgbClr val="000000"/>
                </a:solidFill>
                <a:latin typeface="Calibri"/>
                <a:ea typeface="DejaVu Sans"/>
              </a:rPr>
              <a:t>. After all instances of the file are closed, the kernel releases the data structure.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file mode identifies the file as either readable or writable (or both), by means of the bits FMODE_READ and FMODE_WRITE.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loff_t f_pos; The current reading or writing position. loff_t is a 64-bit value on all platforms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unsigned int f_flags;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These are the file flags, such as O_RDONLY, O_NONBLOCK, and O_SYNC.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void *private_data;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a:t>
            </a:r>
            <a:r>
              <a:rPr b="0" i="1" lang="en-US" sz="1800" spc="-1" strike="noStrike">
                <a:solidFill>
                  <a:srgbClr val="000000"/>
                </a:solidFill>
                <a:latin typeface="Calibri"/>
                <a:ea typeface="DejaVu Sans"/>
              </a:rPr>
              <a:t>open </a:t>
            </a:r>
            <a:r>
              <a:rPr b="0" lang="en-US" sz="1800" spc="-1" strike="noStrike">
                <a:solidFill>
                  <a:srgbClr val="000000"/>
                </a:solidFill>
                <a:latin typeface="Calibri"/>
                <a:ea typeface="DejaVu Sans"/>
              </a:rPr>
              <a:t>system call sets this pointer to NULL before calling the </a:t>
            </a:r>
            <a:r>
              <a:rPr b="0" i="1" lang="en-US" sz="1800" spc="-1" strike="noStrike">
                <a:solidFill>
                  <a:srgbClr val="000000"/>
                </a:solidFill>
                <a:latin typeface="Calibri"/>
                <a:ea typeface="DejaVu Sans"/>
              </a:rPr>
              <a:t>open </a:t>
            </a:r>
            <a:r>
              <a:rPr b="0" lang="en-US" sz="1800" spc="-1" strike="noStrike">
                <a:solidFill>
                  <a:srgbClr val="000000"/>
                </a:solidFill>
                <a:latin typeface="Calibri"/>
                <a:ea typeface="DejaVu Sans"/>
              </a:rPr>
              <a:t>method for the driver. private_data is a useful resource for preserving state information across system calls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CustomShape 1"/>
          <p:cNvSpPr/>
          <p:nvPr/>
        </p:nvSpPr>
        <p:spPr>
          <a:xfrm>
            <a:off x="72000" y="76320"/>
            <a:ext cx="9068400" cy="5207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000000"/>
                </a:solidFill>
                <a:latin typeface="Calibri"/>
                <a:ea typeface="DejaVu Sans"/>
              </a:rPr>
              <a:t>The inode Structure</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The </a:t>
            </a:r>
            <a:r>
              <a:rPr b="0" i="1" lang="en-US" sz="1600" spc="-1" strike="noStrike">
                <a:solidFill>
                  <a:srgbClr val="000000"/>
                </a:solidFill>
                <a:latin typeface="Calibri"/>
                <a:ea typeface="DejaVu Sans"/>
              </a:rPr>
              <a:t>inode </a:t>
            </a:r>
            <a:r>
              <a:rPr b="0" lang="en-US" sz="1600" spc="-1" strike="noStrike">
                <a:solidFill>
                  <a:srgbClr val="000000"/>
                </a:solidFill>
                <a:latin typeface="Calibri"/>
                <a:ea typeface="DejaVu Sans"/>
              </a:rPr>
              <a:t>structure is used by the kernel internally to represent files. Therefore, it is different from the file structure that represents an open file descriptor. There can be  numerous file structures representing multiple open descriptors on a single file, but they all point to a single inode structure.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The inode structure contains a great deal of information about the file. As a general rule, only two fields of this structure are of interest for writing driver code: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dev_t i_rdev;</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For inodes that represent device files, this field contains the actual device number.</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struct cdev *i_cdev;</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struct cdev is the kernel’s internal structure that represents char devices; this field contains a pointer to that structure when the inode refers to a char device file.</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As we mentioned, the kernel uses structures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of type struct cdev to represent char devices internally. Before the kernel invokes your device’s operations, you must allocate and register one or more of these structures.* To do so, your code should include</a:t>
            </a:r>
            <a:endParaRPr b="0" lang="en-US" sz="1600" spc="-1" strike="noStrike">
              <a:solidFill>
                <a:srgbClr val="000000"/>
              </a:solidFill>
              <a:latin typeface="Arial"/>
            </a:endParaRPr>
          </a:p>
          <a:p>
            <a:pPr>
              <a:lnSpc>
                <a:spcPct val="100000"/>
              </a:lnSpc>
            </a:pPr>
            <a:r>
              <a:rPr b="0" i="1" lang="en-US" sz="1600" spc="-1" strike="noStrike">
                <a:solidFill>
                  <a:srgbClr val="000000"/>
                </a:solidFill>
                <a:latin typeface="Calibri"/>
                <a:ea typeface="DejaVu Sans"/>
              </a:rPr>
              <a:t>&lt;linux/cdev.h&gt;</a:t>
            </a:r>
            <a:r>
              <a:rPr b="0" lang="en-US" sz="1600" spc="-1" strike="noStrike">
                <a:solidFill>
                  <a:srgbClr val="000000"/>
                </a:solidFill>
                <a:latin typeface="Calibri"/>
                <a:ea typeface="DejaVu Sans"/>
              </a:rPr>
              <a:t>, where the structure and its associated helper functions are defined. There are two ways of allocating and initializing one of these structures. If you wish to obtain a standalone cdev structure at runtime, you may do so with code such as: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struct cdev *my_cdev = cdev_alloc(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my_cdev-&gt;ops = &amp;my_fops;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Rounded Rectangle 3"/>
          <p:cNvSpPr/>
          <p:nvPr/>
        </p:nvSpPr>
        <p:spPr>
          <a:xfrm>
            <a:off x="2057400" y="1143000"/>
            <a:ext cx="4800600" cy="3200400"/>
          </a:xfrm>
          <a:prstGeom prst="roundRect">
            <a:avLst>
              <a:gd name="adj" fmla="val 16667"/>
            </a:avLst>
          </a:prstGeom>
          <a:solidFill>
            <a:srgbClr val="23282d"/>
          </a:solidFill>
          <a:ln>
            <a:solidFill>
              <a:srgbClr val="696e7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US" sz="1800" spc="-1" strike="noStrike">
              <a:solidFill>
                <a:schemeClr val="lt1"/>
              </a:solidFill>
              <a:latin typeface="Calibri"/>
            </a:endParaRPr>
          </a:p>
        </p:txBody>
      </p:sp>
      <p:sp>
        <p:nvSpPr>
          <p:cNvPr id="18" name="TextBox 4"/>
          <p:cNvSpPr/>
          <p:nvPr/>
        </p:nvSpPr>
        <p:spPr>
          <a:xfrm>
            <a:off x="1498320" y="1371600"/>
            <a:ext cx="5131080" cy="26816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700" spc="-1" strike="noStrike">
                <a:solidFill>
                  <a:srgbClr val="ffffff"/>
                </a:solidFill>
                <a:latin typeface="Consolas"/>
              </a:rPr>
              <a:t>              </a:t>
            </a:r>
            <a:r>
              <a:rPr b="0" lang="en-US" sz="1700" spc="-1" strike="noStrike">
                <a:solidFill>
                  <a:srgbClr val="ffffff"/>
                </a:solidFill>
                <a:latin typeface="Consolas"/>
              </a:rPr>
              <a:t>/dev/coffee</a:t>
            </a:r>
            <a:br>
              <a:rPr sz="1700"/>
            </a:br>
            <a:r>
              <a:rPr b="0" lang="en-US" sz="1700" spc="-1" strike="noStrike">
                <a:solidFill>
                  <a:srgbClr val="ffffff"/>
                </a:solidFill>
                <a:latin typeface="Consolas"/>
              </a:rPr>
              <a:t>                   |</a:t>
            </a:r>
            <a:br>
              <a:rPr sz="1700"/>
            </a:br>
            <a:r>
              <a:rPr b="0" lang="en-US" sz="1700" spc="-1" strike="noStrike">
                <a:solidFill>
                  <a:srgbClr val="ffffff"/>
                </a:solidFill>
                <a:latin typeface="Consolas"/>
              </a:rPr>
              <a:t>                 inode</a:t>
            </a:r>
            <a:br>
              <a:rPr sz="1700"/>
            </a:br>
            <a:r>
              <a:rPr b="0" lang="en-US" sz="1700" spc="-1" strike="noStrike">
                <a:solidFill>
                  <a:srgbClr val="ffffff"/>
                </a:solidFill>
                <a:latin typeface="Consolas"/>
              </a:rPr>
              <a:t>              i_rdev / i_cdev</a:t>
            </a:r>
            <a:br>
              <a:rPr sz="1700"/>
            </a:br>
            <a:r>
              <a:rPr b="0" lang="en-US" sz="1700" spc="-1" strike="noStrike">
                <a:solidFill>
                  <a:srgbClr val="ffffff"/>
                </a:solidFill>
                <a:latin typeface="Consolas"/>
              </a:rPr>
              <a:t>                /       \</a:t>
            </a:r>
            <a:br>
              <a:rPr sz="1700"/>
            </a:br>
            <a:r>
              <a:rPr b="0" lang="en-US" sz="1700" spc="-1" strike="noStrike">
                <a:solidFill>
                  <a:srgbClr val="ffffff"/>
                </a:solidFill>
                <a:latin typeface="Consolas"/>
              </a:rPr>
              <a:t>               v         v</a:t>
            </a:r>
            <a:br>
              <a:rPr sz="1700"/>
            </a:br>
            <a:r>
              <a:rPr b="0" lang="en-US" sz="1700" spc="-1" strike="noStrike">
                <a:solidFill>
                  <a:srgbClr val="ffffff"/>
                </a:solidFill>
                <a:latin typeface="Consolas"/>
              </a:rPr>
              <a:t>          struct file  struct file</a:t>
            </a:r>
            <a:br>
              <a:rPr sz="1700"/>
            </a:br>
            <a:r>
              <a:rPr b="0" lang="en-US" sz="1700" spc="-1" strike="noStrike">
                <a:solidFill>
                  <a:srgbClr val="ffffff"/>
                </a:solidFill>
                <a:latin typeface="Consolas"/>
              </a:rPr>
              <a:t>             fd=3         fd=4</a:t>
            </a:r>
            <a:br>
              <a:rPr sz="1700"/>
            </a:br>
            <a:r>
              <a:rPr b="0" lang="en-US" sz="1700" spc="-1" strike="noStrike">
                <a:solidFill>
                  <a:srgbClr val="ffffff"/>
                </a:solidFill>
                <a:latin typeface="Consolas"/>
              </a:rPr>
              <a:t>             f_pos        f_pos</a:t>
            </a:r>
            <a:br>
              <a:rPr sz="1700"/>
            </a:br>
            <a:r>
              <a:rPr b="0" lang="en-US" sz="1700" spc="-1" strike="noStrike">
                <a:solidFill>
                  <a:srgbClr val="ffffff"/>
                </a:solidFill>
                <a:latin typeface="Consolas"/>
              </a:rPr>
              <a:t>             private_data private_data</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CustomShape 1"/>
          <p:cNvSpPr/>
          <p:nvPr/>
        </p:nvSpPr>
        <p:spPr>
          <a:xfrm>
            <a:off x="72000" y="487080"/>
            <a:ext cx="9055080" cy="5207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000000"/>
                </a:solidFill>
                <a:latin typeface="Calibri"/>
                <a:ea typeface="DejaVu Sans"/>
              </a:rPr>
              <a:t>int (*open)(struct inode *inode, struct file *filp);</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The </a:t>
            </a:r>
            <a:r>
              <a:rPr b="0" i="1" lang="en-US" sz="1600" spc="-1" strike="noStrike">
                <a:solidFill>
                  <a:srgbClr val="000000"/>
                </a:solidFill>
                <a:latin typeface="Calibri"/>
                <a:ea typeface="DejaVu Sans"/>
              </a:rPr>
              <a:t>inode </a:t>
            </a:r>
            <a:r>
              <a:rPr b="0" lang="en-US" sz="1600" spc="-1" strike="noStrike">
                <a:solidFill>
                  <a:srgbClr val="000000"/>
                </a:solidFill>
                <a:latin typeface="Calibri"/>
                <a:ea typeface="DejaVu Sans"/>
              </a:rPr>
              <a:t>argument has the information we need in the form of its i_cdev field,</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which contains the cdev structure we set up before. The only problem is that we do not normally want the cdev structure itself, we want the scull_dev structure that contains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that cdev structure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container_of(pointer, container_type, container_field);</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struct scull_dev *dev; /* device information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dev = container_of(inode-&gt;i_cdev, struct scull_dev, cdev);</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filp-&gt;private_data = dev; /* for other methods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unsigned long copy_to_user(void __user *to, const void *from, unsigned long count);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unsigned long copy_from_user(void *to, const void __user *from, unsigned long count);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Although these functions behave like normal </a:t>
            </a:r>
            <a:r>
              <a:rPr b="0" i="1" lang="en-US" sz="1600" spc="-1" strike="noStrike">
                <a:solidFill>
                  <a:srgbClr val="000000"/>
                </a:solidFill>
                <a:latin typeface="Calibri"/>
                <a:ea typeface="DejaVu Sans"/>
              </a:rPr>
              <a:t>memcpy </a:t>
            </a:r>
            <a:r>
              <a:rPr b="0" lang="en-US" sz="1600" spc="-1" strike="noStrike">
                <a:solidFill>
                  <a:srgbClr val="000000"/>
                </a:solidFill>
                <a:latin typeface="Calibri"/>
                <a:ea typeface="DejaVu Sans"/>
              </a:rPr>
              <a:t>functions, a little extra care must be used when accessing user space from kernel code. The user pages being addressed might not be currently present in memory, and the virtual memory subsystem can put the process to sleep while the page is being transferred into place. The role of the two functions is not limited to copying data to and from user-space:</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they also check whether the user space pointer is valid. If the pointer is invalid, no copy is performed; if an invalid address is encountered during the copy, on the other hand, only part of the data is copied. In both cases, the return value is the amount of memory still to be copied</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CustomShape 1"/>
          <p:cNvSpPr/>
          <p:nvPr/>
        </p:nvSpPr>
        <p:spPr>
          <a:xfrm>
            <a:off x="144000" y="185760"/>
            <a:ext cx="8205480" cy="471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Copy from User/Copy to User: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These functions do a few things: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They check if the supplied userspace block is entirely within the user portion of the address space (access_ok()) - this prevents userspace applications from asking the kernel to read/write kernel addresses;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They return an error if any of the addresses are inaccessible, allowing the error to be returned to userspace (EFAULT) instead of crashing the kernel (this is implemented by special co-operation with the page fault handler, which specifically can detect when a fault occurs in one of the user memory access functions);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They allow architecture-specific magic, for example to ensure consistency on architectures with virtually-tagged caches, to disable protections like SMAP or to switch address spaces on architectures with separate user/kernel address spaces like S/390.</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simple_read_from_buffer - copy data from the buffer to user space*@to: the user space buffer to read to*@count: the maximum number of bytes to read*@ppos: the current position in the buffer*@from: the buffer to read from*@available: the size of the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Proto:ssize_t simple_read_from_buffer(void __user *to, size_t count, loff_t *ppos, const void *from, size_t available)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simple_write_to_buffer - copy data from user space to the buffer</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 name="" descr=""/>
          <p:cNvPicPr/>
          <p:nvPr/>
        </p:nvPicPr>
        <p:blipFill>
          <a:blip r:embed="rId1"/>
          <a:stretch/>
        </p:blipFill>
        <p:spPr>
          <a:xfrm>
            <a:off x="579600" y="875160"/>
            <a:ext cx="7539120" cy="5753160"/>
          </a:xfrm>
          <a:prstGeom prst="rect">
            <a:avLst/>
          </a:prstGeom>
          <a:ln w="0">
            <a:noFill/>
          </a:ln>
        </p:spPr>
      </p:pic>
      <p:sp>
        <p:nvSpPr>
          <p:cNvPr id="22" name=""/>
          <p:cNvSpPr/>
          <p:nvPr/>
        </p:nvSpPr>
        <p:spPr>
          <a:xfrm>
            <a:off x="27000" y="135720"/>
            <a:ext cx="4315320" cy="601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Exchanging data with user space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CustomShape 1"/>
          <p:cNvSpPr/>
          <p:nvPr/>
        </p:nvSpPr>
        <p:spPr>
          <a:xfrm>
            <a:off x="609480" y="228600"/>
            <a:ext cx="799668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Character Driver Module-1:</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Steps to implement Character driver:</a:t>
            </a:r>
            <a:endParaRPr b="0" lang="en-US" sz="1800" spc="-1" strike="noStrike">
              <a:solidFill>
                <a:srgbClr val="000000"/>
              </a:solidFill>
              <a:latin typeface="Arial"/>
            </a:endParaRPr>
          </a:p>
          <a:p>
            <a:pPr marL="343080" indent="-340560">
              <a:lnSpc>
                <a:spcPct val="100000"/>
              </a:lnSpc>
              <a:buClr>
                <a:srgbClr val="000000"/>
              </a:buClr>
              <a:buFont typeface="OpenSymbol"/>
              <a:buAutoNum type="arabicPeriod"/>
            </a:pPr>
            <a:r>
              <a:rPr b="0" lang="en-US" sz="1800" spc="-1" strike="noStrike">
                <a:solidFill>
                  <a:srgbClr val="000000"/>
                </a:solidFill>
                <a:latin typeface="Calibri"/>
                <a:ea typeface="DejaVu Sans"/>
              </a:rPr>
              <a:t>Create Device Node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mknod /dev/coffee c 12 2</a:t>
            </a:r>
            <a:endParaRPr b="0" lang="en-US" sz="1800" spc="-1" strike="noStrike">
              <a:solidFill>
                <a:srgbClr val="000000"/>
              </a:solidFill>
              <a:latin typeface="Arial"/>
            </a:endParaRPr>
          </a:p>
          <a:p>
            <a:pPr marL="343080" indent="-340560">
              <a:lnSpc>
                <a:spcPct val="100000"/>
              </a:lnSpc>
              <a:buClr>
                <a:srgbClr val="000000"/>
              </a:buClr>
              <a:buFont typeface="OpenSymbol"/>
              <a:buAutoNum type="arabicPeriod" startAt="2"/>
            </a:pPr>
            <a:r>
              <a:rPr b="0" lang="en-US" sz="1800" spc="-1" strike="noStrike">
                <a:solidFill>
                  <a:srgbClr val="000000"/>
                </a:solidFill>
                <a:latin typeface="Calibri"/>
                <a:ea typeface="DejaVu Sans"/>
              </a:rPr>
              <a:t>Implement driver operations and register with VFS layer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file_operations structure is defined in linux/fs.h,</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3. Insert the driver using kernel modules (insmod)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4. Write application that initiates operations on our  driver  through common file API</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CustomShape 1"/>
          <p:cNvSpPr/>
          <p:nvPr/>
        </p:nvSpPr>
        <p:spPr>
          <a:xfrm>
            <a:off x="72000" y="50040"/>
            <a:ext cx="7996680" cy="722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Character Driver Module-2:</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Steps to implement Character driver:</a:t>
            </a:r>
            <a:endParaRPr b="0" lang="en-US" sz="1800" spc="-1" strike="noStrike">
              <a:solidFill>
                <a:srgbClr val="000000"/>
              </a:solidFill>
              <a:latin typeface="Arial"/>
            </a:endParaRPr>
          </a:p>
          <a:p>
            <a:pPr marL="343080" indent="-340560">
              <a:lnSpc>
                <a:spcPct val="100000"/>
              </a:lnSpc>
              <a:buClr>
                <a:srgbClr val="000000"/>
              </a:buClr>
              <a:buFont typeface="OpenSymbol"/>
              <a:buAutoNum type="arabicPeriod"/>
            </a:pPr>
            <a:r>
              <a:rPr b="0" lang="en-US" sz="1800" spc="-1" strike="noStrike">
                <a:solidFill>
                  <a:srgbClr val="000000"/>
                </a:solidFill>
                <a:latin typeface="Calibri"/>
                <a:ea typeface="DejaVu Sans"/>
              </a:rPr>
              <a:t>Create Device Node dynamically in the driver code </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alloc_chrdev_region(dev_t *dev, unsigned int firtminor, unsigned int count,</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char *name)</a:t>
            </a:r>
            <a:r>
              <a:rPr b="0" lang="en-US" sz="1800" spc="-1" strike="noStrike">
                <a:solidFill>
                  <a:srgbClr val="000000"/>
                </a:solidFill>
                <a:latin typeface="Calibri"/>
                <a:ea typeface="DejaVu Sans"/>
              </a:rPr>
              <a:t>; The kernel will happily allocate a major number for you on the fly,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2.Implement driver operations and register with VFS layer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file_operations structure is defined in linux/fs.h,</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struct file_operations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struct module *owner;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loff_t(*llseek) (struct file *, loff_t, int);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ssize_t(*read) (struct file *, char __user *, size_t, loff_t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ssize_t(*aio_read) (struct kiocb *, char __user *, size_t, loff_t);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ssize_t(*write) (struct file *, const char __user *, size_t, loff_t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ssize_t(*aio_write) (struct kiocb *, const char __user *, size_t, loff_t);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int (*readdir) (struct file *, void *, filldir_t);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unsigned int (*poll) (struct file *, struct poll_table_struct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int (*ioctl) (struct inode *, struct file *, unsigned int, unsigned long);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int (*mmap) (struct file *, struct vm_area_struct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3. Insert the driver using kernel modules (insmod)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4. Write application that initiates operations on our  driver  through common file API</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CustomShape 1"/>
          <p:cNvSpPr/>
          <p:nvPr/>
        </p:nvSpPr>
        <p:spPr>
          <a:xfrm>
            <a:off x="65160" y="122040"/>
            <a:ext cx="7996680" cy="6182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pc="-1" strike="noStrike">
                <a:solidFill>
                  <a:srgbClr val="000000"/>
                </a:solidFill>
                <a:latin typeface="Calibri"/>
                <a:ea typeface="DejaVu Sans"/>
              </a:rPr>
              <a:t>Character Driver Module-3:</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Steps to implement Character driver:</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1.  Request dynamic allocation of a device major number (alloc_chrdev_region)</a:t>
            </a:r>
            <a:endParaRPr b="0" lang="en-US" sz="1600" spc="-1" strike="noStrike">
              <a:solidFill>
                <a:srgbClr val="000000"/>
              </a:solidFill>
              <a:latin typeface="Arial"/>
            </a:endParaRPr>
          </a:p>
          <a:p>
            <a:pPr marL="343080" indent="-340560">
              <a:lnSpc>
                <a:spcPct val="100000"/>
              </a:lnSpc>
              <a:buClr>
                <a:srgbClr val="000000"/>
              </a:buClr>
              <a:buFont typeface="OpenSymbol"/>
              <a:buAutoNum type="arabicPlain" startAt="2"/>
            </a:pPr>
            <a:r>
              <a:rPr b="0" lang="en-US" sz="1600" spc="-1" strike="noStrike">
                <a:solidFill>
                  <a:srgbClr val="000000"/>
                </a:solidFill>
                <a:latin typeface="Calibri"/>
                <a:ea typeface="DejaVu Sans"/>
              </a:rPr>
              <a:t>Populate sysfs entries (class_create)</a:t>
            </a:r>
            <a:endParaRPr b="0" lang="en-US" sz="1600" spc="-1" strike="noStrike">
              <a:solidFill>
                <a:srgbClr val="000000"/>
              </a:solidFill>
              <a:latin typeface="Arial"/>
            </a:endParaRPr>
          </a:p>
          <a:p>
            <a:pPr marL="343080" indent="-340560">
              <a:lnSpc>
                <a:spcPct val="100000"/>
              </a:lnSpc>
              <a:buClr>
                <a:srgbClr val="000000"/>
              </a:buClr>
              <a:buFont typeface="OpenSymbol"/>
              <a:buAutoNum type="arabicPlain" startAt="2"/>
            </a:pPr>
            <a:r>
              <a:rPr b="0" lang="en-US" sz="1600" spc="-1" strike="noStrike">
                <a:solidFill>
                  <a:srgbClr val="000000"/>
                </a:solidFill>
                <a:latin typeface="Calibri"/>
                <a:ea typeface="DejaVu Sans"/>
              </a:rPr>
              <a:t>Connect the file operations with the cdev (cdev_init)</a:t>
            </a:r>
            <a:endParaRPr b="0" lang="en-US" sz="1600" spc="-1" strike="noStrike">
              <a:solidFill>
                <a:srgbClr val="000000"/>
              </a:solidFill>
              <a:latin typeface="Arial"/>
            </a:endParaRPr>
          </a:p>
          <a:p>
            <a:pPr marL="343080" indent="-340560">
              <a:lnSpc>
                <a:spcPct val="100000"/>
              </a:lnSpc>
              <a:buClr>
                <a:srgbClr val="000000"/>
              </a:buClr>
              <a:buFont typeface="OpenSymbol"/>
              <a:buAutoNum type="arabicPlain" startAt="2"/>
            </a:pPr>
            <a:r>
              <a:rPr b="0" lang="en-US" sz="1600" spc="-1" strike="noStrike">
                <a:solidFill>
                  <a:srgbClr val="000000"/>
                </a:solidFill>
                <a:latin typeface="Calibri"/>
                <a:ea typeface="DejaVu Sans"/>
              </a:rPr>
              <a:t>Connect the major/minor number to the cdev (cdev_add)</a:t>
            </a:r>
            <a:endParaRPr b="0" lang="en-US" sz="1600" spc="-1" strike="noStrike">
              <a:solidFill>
                <a:srgbClr val="000000"/>
              </a:solidFill>
              <a:latin typeface="Arial"/>
            </a:endParaRPr>
          </a:p>
          <a:p>
            <a:pPr marL="343080" indent="-340560">
              <a:lnSpc>
                <a:spcPct val="100000"/>
              </a:lnSpc>
              <a:buClr>
                <a:srgbClr val="000000"/>
              </a:buClr>
              <a:buFont typeface="OpenSymbol"/>
              <a:buAutoNum type="arabicPlain" startAt="2"/>
            </a:pPr>
            <a:r>
              <a:rPr b="0" lang="en-US" sz="1600" spc="-1" strike="noStrike">
                <a:solidFill>
                  <a:srgbClr val="000000"/>
                </a:solidFill>
                <a:latin typeface="Calibri"/>
                <a:ea typeface="DejaVu Sans"/>
              </a:rPr>
              <a:t>Send uevents to udev, so it'll create </a:t>
            </a:r>
            <a:r>
              <a:rPr b="0" i="1" lang="en-US" sz="1600" spc="-1" strike="noStrike">
                <a:solidFill>
                  <a:srgbClr val="000000"/>
                </a:solidFill>
                <a:latin typeface="Calibri"/>
                <a:ea typeface="DejaVu Sans"/>
              </a:rPr>
              <a:t>/dev </a:t>
            </a:r>
            <a:r>
              <a:rPr b="0" lang="en-US" sz="1600" spc="-1" strike="noStrike">
                <a:solidFill>
                  <a:srgbClr val="000000"/>
                </a:solidFill>
                <a:latin typeface="Calibri"/>
                <a:ea typeface="DejaVu Sans"/>
              </a:rPr>
              <a:t>nodes (device_create)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6. The file_operations structure is defined in linux/fs.h,</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struct file_operations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struct module *owner;</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loff_t(*llseek) (struct file *, loff_t, int);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ssize_t(*read) (struct file *, char __user *, size_t, loff_t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ssize_t(*aio_read) (struct kiocb *, char __user *, size_t, loff_t);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ssize_t(*write) (struct file *, const char __user *, size_t, loff_t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ssize_t(*aio_write) (struct kiocb *, const char __user *, size_t, loff_t);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int (*readdir) (struct file *, void *, filldir_t);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unsigned int (*poll) (struct file *, struct poll_table_struct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int (*ioctl) (struct inode *, struct file *, unsigned int, unsigned long);</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int (*mmap) (struct file *, struct vm_area_struct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3. Insert the driver using kernel modules (insmod)</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4. Write application that initiates operations on our  driver  through common file API</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sp>
        <p:nvSpPr>
          <p:cNvPr id="26" name="TextBox 1"/>
          <p:cNvSpPr/>
          <p:nvPr/>
        </p:nvSpPr>
        <p:spPr>
          <a:xfrm>
            <a:off x="3515040" y="3315240"/>
            <a:ext cx="5131080" cy="26816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700" spc="-1" strike="noStrike">
                <a:solidFill>
                  <a:srgbClr val="ffffff"/>
                </a:solidFill>
                <a:latin typeface="Consolas"/>
              </a:rPr>
              <a:t>              </a:t>
            </a:r>
            <a:r>
              <a:rPr b="0" lang="en-US" sz="1700" spc="-1" strike="noStrike">
                <a:solidFill>
                  <a:srgbClr val="ffffff"/>
                </a:solidFill>
                <a:latin typeface="Consolas"/>
              </a:rPr>
              <a:t>/dev/coffee</a:t>
            </a:r>
            <a:br>
              <a:rPr sz="1700"/>
            </a:br>
            <a:r>
              <a:rPr b="0" lang="en-US" sz="1700" spc="-1" strike="noStrike">
                <a:solidFill>
                  <a:srgbClr val="ffffff"/>
                </a:solidFill>
                <a:latin typeface="Consolas"/>
              </a:rPr>
              <a:t>                   |</a:t>
            </a:r>
            <a:br>
              <a:rPr sz="1700"/>
            </a:br>
            <a:r>
              <a:rPr b="0" lang="en-US" sz="1700" spc="-1" strike="noStrike">
                <a:solidFill>
                  <a:srgbClr val="ffffff"/>
                </a:solidFill>
                <a:latin typeface="Consolas"/>
              </a:rPr>
              <a:t>                 inode</a:t>
            </a:r>
            <a:br>
              <a:rPr sz="1700"/>
            </a:br>
            <a:r>
              <a:rPr b="0" lang="en-US" sz="1700" spc="-1" strike="noStrike">
                <a:solidFill>
                  <a:srgbClr val="ffffff"/>
                </a:solidFill>
                <a:latin typeface="Consolas"/>
              </a:rPr>
              <a:t>              i_rdev / i_cdev</a:t>
            </a:r>
            <a:br>
              <a:rPr sz="1700"/>
            </a:br>
            <a:r>
              <a:rPr b="0" lang="en-US" sz="1700" spc="-1" strike="noStrike">
                <a:solidFill>
                  <a:srgbClr val="ffffff"/>
                </a:solidFill>
                <a:latin typeface="Consolas"/>
              </a:rPr>
              <a:t>                /       \</a:t>
            </a:r>
            <a:br>
              <a:rPr sz="1700"/>
            </a:br>
            <a:r>
              <a:rPr b="0" lang="en-US" sz="1700" spc="-1" strike="noStrike">
                <a:solidFill>
                  <a:srgbClr val="ffffff"/>
                </a:solidFill>
                <a:latin typeface="Consolas"/>
              </a:rPr>
              <a:t>               v         v</a:t>
            </a:r>
            <a:br>
              <a:rPr sz="1700"/>
            </a:br>
            <a:r>
              <a:rPr b="0" lang="en-US" sz="1700" spc="-1" strike="noStrike">
                <a:solidFill>
                  <a:srgbClr val="ffffff"/>
                </a:solidFill>
                <a:latin typeface="Consolas"/>
              </a:rPr>
              <a:t>          struct file  struct file</a:t>
            </a:r>
            <a:br>
              <a:rPr sz="1700"/>
            </a:br>
            <a:r>
              <a:rPr b="0" lang="en-US" sz="1700" spc="-1" strike="noStrike">
                <a:solidFill>
                  <a:srgbClr val="ffffff"/>
                </a:solidFill>
                <a:latin typeface="Consolas"/>
              </a:rPr>
              <a:t>             fd=3         fd=4</a:t>
            </a:r>
            <a:br>
              <a:rPr sz="1700"/>
            </a:br>
            <a:r>
              <a:rPr b="0" lang="en-US" sz="1700" spc="-1" strike="noStrike">
                <a:solidFill>
                  <a:srgbClr val="ffffff"/>
                </a:solidFill>
                <a:latin typeface="Consolas"/>
              </a:rPr>
              <a:t>             f_pos        f_pos</a:t>
            </a:r>
            <a:br>
              <a:rPr sz="1700"/>
            </a:br>
            <a:r>
              <a:rPr b="0" lang="en-US" sz="1700" spc="-1" strike="noStrike">
                <a:solidFill>
                  <a:srgbClr val="ffffff"/>
                </a:solidFill>
                <a:latin typeface="Consolas"/>
              </a:rPr>
              <a:t>             private_data private_data</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TextBox 3"/>
          <p:cNvSpPr/>
          <p:nvPr/>
        </p:nvSpPr>
        <p:spPr>
          <a:xfrm>
            <a:off x="1359360" y="320040"/>
            <a:ext cx="6402240" cy="5166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800" spc="-1" strike="noStrike">
                <a:solidFill>
                  <a:srgbClr val="1c3050"/>
                </a:solidFill>
                <a:latin typeface="Calibri"/>
              </a:rPr>
              <a:t>Complete character-driver lifecycle</a:t>
            </a:r>
            <a:endParaRPr b="0" lang="en-US" sz="2800" spc="-1" strike="noStrike">
              <a:solidFill>
                <a:srgbClr val="000000"/>
              </a:solidFill>
              <a:latin typeface="Arial"/>
            </a:endParaRPr>
          </a:p>
        </p:txBody>
      </p:sp>
      <p:sp>
        <p:nvSpPr>
          <p:cNvPr id="28" name="Rounded Rectangle 2"/>
          <p:cNvSpPr/>
          <p:nvPr/>
        </p:nvSpPr>
        <p:spPr>
          <a:xfrm>
            <a:off x="617400" y="836640"/>
            <a:ext cx="7886520" cy="6021360"/>
          </a:xfrm>
          <a:prstGeom prst="roundRect">
            <a:avLst>
              <a:gd name="adj" fmla="val 16667"/>
            </a:avLst>
          </a:prstGeom>
          <a:solidFill>
            <a:srgbClr val="23282d"/>
          </a:solidFill>
          <a:ln>
            <a:solidFill>
              <a:srgbClr val="696e7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US" sz="1800" spc="-1" strike="noStrike">
              <a:solidFill>
                <a:schemeClr val="lt1"/>
              </a:solidFill>
              <a:latin typeface="Calibri"/>
            </a:endParaRPr>
          </a:p>
        </p:txBody>
      </p:sp>
      <p:sp>
        <p:nvSpPr>
          <p:cNvPr id="29" name="TextBox 5"/>
          <p:cNvSpPr/>
          <p:nvPr/>
        </p:nvSpPr>
        <p:spPr>
          <a:xfrm>
            <a:off x="2457360" y="785880"/>
            <a:ext cx="4205880" cy="61826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600" spc="-1" strike="noStrike">
                <a:solidFill>
                  <a:srgbClr val="ffffff"/>
                </a:solidFill>
                <a:latin typeface="Consolas"/>
              </a:rPr>
              <a:t>MODULE LOAD</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alloc_chrdev_region()</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cdev_init()</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cdev_add()</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class_create()</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device_create()</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/dev/mydevice</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USER: open/read/write/ioctl/close</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MODULE UNLOAD</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device_destroy()</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class_destroy()</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cdev_del()</a:t>
            </a:r>
            <a:br>
              <a:rPr sz="1600"/>
            </a:br>
            <a:r>
              <a:rPr b="0" lang="en-US" sz="1600" spc="-1" strike="noStrike">
                <a:solidFill>
                  <a:srgbClr val="ffffff"/>
                </a:solidFill>
                <a:latin typeface="Consolas"/>
              </a:rPr>
              <a:t>    |</a:t>
            </a:r>
            <a:br>
              <a:rPr sz="1600"/>
            </a:br>
            <a:r>
              <a:rPr b="0" lang="en-US" sz="1600" spc="-1" strike="noStrike">
                <a:solidFill>
                  <a:srgbClr val="ffffff"/>
                </a:solidFill>
                <a:latin typeface="Consolas"/>
              </a:rPr>
              <a:t>unregister_chrdev_region()</a:t>
            </a:r>
            <a:endParaRPr b="0" lang="en-US" sz="1600" spc="-1" strike="noStrike">
              <a:solidFill>
                <a:srgbClr val="000000"/>
              </a:solidFill>
              <a:latin typeface="Arial"/>
            </a:endParaRPr>
          </a:p>
        </p:txBody>
      </p:sp>
      <p:sp>
        <p:nvSpPr>
          <p:cNvPr id="30" name="TextBox 8"/>
          <p:cNvSpPr/>
          <p:nvPr/>
        </p:nvSpPr>
        <p:spPr>
          <a:xfrm>
            <a:off x="8280720" y="6473880"/>
            <a:ext cx="309240" cy="2271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900" spc="-1" strike="noStrike">
                <a:solidFill>
                  <a:srgbClr val="696e73"/>
                </a:solidFill>
                <a:latin typeface="Calibri"/>
              </a:rPr>
              <a:t>11</a:t>
            </a:r>
            <a:endParaRPr b="0" lang="en-US" sz="900" spc="-1" strike="noStrike">
              <a:solidFill>
                <a:srgbClr val="000000"/>
              </a:solidFill>
              <a:latin typeface="Arial"/>
            </a:endParaRPr>
          </a:p>
        </p:txBody>
      </p:sp>
      <p:sp>
        <p:nvSpPr>
          <p:cNvPr id="31" name="TextBox 9"/>
          <p:cNvSpPr/>
          <p:nvPr/>
        </p:nvSpPr>
        <p:spPr>
          <a:xfrm>
            <a:off x="1936080" y="6473880"/>
            <a:ext cx="1819440" cy="2271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900" spc="-1" strike="noStrike">
                <a:solidFill>
                  <a:srgbClr val="696e73"/>
                </a:solidFill>
                <a:latin typeface="Calibri"/>
              </a:rPr>
              <a:t>Linux Character Device Drivers</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CustomShape 1"/>
          <p:cNvSpPr/>
          <p:nvPr/>
        </p:nvSpPr>
        <p:spPr>
          <a:xfrm>
            <a:off x="144000" y="216000"/>
            <a:ext cx="8925840" cy="4999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400" spc="-1" strike="noStrike">
                <a:solidFill>
                  <a:srgbClr val="000000"/>
                </a:solidFill>
                <a:latin typeface="Calibri"/>
                <a:ea typeface="DejaVu Sans"/>
              </a:rPr>
              <a:t>Ioctl:</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Most drivers need—in addition to the ability to read and write the device—the ability</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to perform various types of hardware control via the device driver. Most devices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can perform operations beyond simple data transfers; user space must often be able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to request, for example, that the device lock its door, eject its media, report error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information, change a baud rate, or self destruct. These operations are usually supported</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via the </a:t>
            </a:r>
            <a:r>
              <a:rPr b="0" i="1" lang="en-US" sz="1400" spc="-1" strike="noStrike">
                <a:solidFill>
                  <a:srgbClr val="000000"/>
                </a:solidFill>
                <a:latin typeface="Calibri"/>
                <a:ea typeface="DejaVu Sans"/>
              </a:rPr>
              <a:t>ioctl </a:t>
            </a:r>
            <a:r>
              <a:rPr b="0" lang="en-US" sz="1400" spc="-1" strike="noStrike">
                <a:solidFill>
                  <a:srgbClr val="000000"/>
                </a:solidFill>
                <a:latin typeface="Calibri"/>
                <a:ea typeface="DejaVu Sans"/>
              </a:rPr>
              <a:t>method, which implements the system call by the same name.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In user space, the </a:t>
            </a:r>
            <a:r>
              <a:rPr b="0" i="1" lang="en-US" sz="1400" spc="-1" strike="noStrike">
                <a:solidFill>
                  <a:srgbClr val="000000"/>
                </a:solidFill>
                <a:latin typeface="Calibri"/>
                <a:ea typeface="DejaVu Sans"/>
              </a:rPr>
              <a:t>ioctl </a:t>
            </a:r>
            <a:r>
              <a:rPr b="0" lang="en-US" sz="1400" spc="-1" strike="noStrike">
                <a:solidFill>
                  <a:srgbClr val="000000"/>
                </a:solidFill>
                <a:latin typeface="Calibri"/>
                <a:ea typeface="DejaVu Sans"/>
              </a:rPr>
              <a:t>system call has the following prototype: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int ioctl(int fd, unsigned long cmd,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The </a:t>
            </a:r>
            <a:r>
              <a:rPr b="0" i="1" lang="en-US" sz="1400" spc="-1" strike="noStrike">
                <a:solidFill>
                  <a:srgbClr val="000000"/>
                </a:solidFill>
                <a:latin typeface="Calibri"/>
                <a:ea typeface="DejaVu Sans"/>
              </a:rPr>
              <a:t>ioctl </a:t>
            </a:r>
            <a:r>
              <a:rPr b="0" lang="en-US" sz="1400" spc="-1" strike="noStrike">
                <a:solidFill>
                  <a:srgbClr val="000000"/>
                </a:solidFill>
                <a:latin typeface="Calibri"/>
                <a:ea typeface="DejaVu Sans"/>
              </a:rPr>
              <a:t>driver method has a prototype that differs somewhat from the user-space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version: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int (*ioctl) (struct inode *inode, struct file *filp,</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unsigned int cmd, unsigned long arg);</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Before performing a privileged operation, a device driver should check that the calling</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process has the appropriate capability; failure to do so could result user processes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performing unauthorized operations with bad results on system stability or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security. Capability checks are performed with the </a:t>
            </a:r>
            <a:r>
              <a:rPr b="0" i="1" lang="en-US" sz="1400" spc="-1" strike="noStrike">
                <a:solidFill>
                  <a:srgbClr val="000000"/>
                </a:solidFill>
                <a:latin typeface="Calibri"/>
                <a:ea typeface="DejaVu Sans"/>
              </a:rPr>
              <a:t>capable </a:t>
            </a:r>
            <a:r>
              <a:rPr b="0" lang="en-US" sz="1400" spc="-1" strike="noStrike">
                <a:solidFill>
                  <a:srgbClr val="000000"/>
                </a:solidFill>
                <a:latin typeface="Calibri"/>
                <a:ea typeface="DejaVu Sans"/>
              </a:rPr>
              <a:t>function (defined in</a:t>
            </a:r>
            <a:endParaRPr b="0" lang="en-US" sz="1400" spc="-1" strike="noStrike">
              <a:solidFill>
                <a:srgbClr val="000000"/>
              </a:solidFill>
              <a:latin typeface="Arial"/>
            </a:endParaRPr>
          </a:p>
          <a:p>
            <a:pPr>
              <a:lnSpc>
                <a:spcPct val="100000"/>
              </a:lnSpc>
            </a:pPr>
            <a:r>
              <a:rPr b="0" i="1" lang="en-US" sz="1400" spc="-1" strike="noStrike">
                <a:solidFill>
                  <a:srgbClr val="000000"/>
                </a:solidFill>
                <a:latin typeface="Calibri"/>
                <a:ea typeface="DejaVu Sans"/>
              </a:rPr>
              <a:t>&lt;linux/sched.h&gt;</a:t>
            </a:r>
            <a:r>
              <a:rPr b="0" lang="en-US" sz="1400" spc="-1" strike="noStrike">
                <a:solidFill>
                  <a:srgbClr val="000000"/>
                </a:solidFill>
                <a:latin typeface="Calibri"/>
                <a:ea typeface="DejaVu Sans"/>
              </a:rPr>
              <a:t>):</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Calibri"/>
                <a:ea typeface="DejaVu Sans"/>
              </a:rPr>
              <a:t>int capable(int capability);</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Calibri"/>
                <a:ea typeface="DejaVu Sans"/>
              </a:rPr>
              <a:t>if (! capable (CAP_SYS_ADMIN))</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Calibri"/>
                <a:ea typeface="DejaVu Sans"/>
              </a:rPr>
              <a:t>return -EPERM;</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TextShape 1"/>
          <p:cNvSpPr/>
          <p:nvPr/>
        </p:nvSpPr>
        <p:spPr>
          <a:xfrm>
            <a:off x="72000" y="277560"/>
            <a:ext cx="8566200" cy="3680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Every piece of kernel code is entered by and executes in one of two contexts:</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Process context:</a:t>
            </a:r>
            <a:r>
              <a:rPr b="0" lang="en-IN" sz="1800" spc="-1" strike="noStrike">
                <a:solidFill>
                  <a:srgbClr val="000000"/>
                </a:solidFill>
                <a:latin typeface="Arial"/>
                <a:ea typeface="DejaVu Sans"/>
              </a:rPr>
              <a:t> The kernel is entered from a system call or processor exception (such as a page fault) and kernel code is executed, kernel data worked upon; it's synchronous (top down).</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Interrupt context: </a:t>
            </a:r>
            <a:r>
              <a:rPr b="0" lang="en-IN" sz="1800" spc="-1" strike="noStrike">
                <a:solidFill>
                  <a:srgbClr val="000000"/>
                </a:solidFill>
                <a:latin typeface="Arial"/>
                <a:ea typeface="DejaVu Sans"/>
              </a:rPr>
              <a:t>The is kernel entered from a peripheral chip's hardware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interrupt and kernel code is executed, kernel data worked upon; it's asynchronous (bottom up)</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CustomShape 1"/>
          <p:cNvSpPr/>
          <p:nvPr/>
        </p:nvSpPr>
        <p:spPr>
          <a:xfrm>
            <a:off x="72000" y="72000"/>
            <a:ext cx="8780040" cy="5192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Misc driver is the miscellaneous driver for miscellaneous devices. , if you don’t want to use the major number, then you can write this misc driver. </a:t>
            </a:r>
            <a:r>
              <a:rPr b="1" lang="en-IN" sz="1600" spc="-1" strike="noStrike">
                <a:solidFill>
                  <a:srgbClr val="000000"/>
                </a:solidFill>
                <a:latin typeface="Arial"/>
                <a:ea typeface="DejaVu Sans"/>
              </a:rPr>
              <a:t>Difference between character driver and misc driver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In misc driver, the major number will be 10 and the minor number is user convenient. Whereas, in character drivers, the user can select their own major and minor number if it is available.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device node or device file will be automatically generated in misc drivers. Whereas, in character drivers, the user has to create the device node or device file using cdev_init, cdev_add, class_create, and device_create.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struct miscdevice {</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  </a:t>
            </a:r>
            <a:r>
              <a:rPr b="0" lang="en-IN" sz="1600" spc="-1" strike="noStrike">
                <a:solidFill>
                  <a:srgbClr val="000000"/>
                </a:solidFill>
                <a:latin typeface="Arial"/>
                <a:ea typeface="DejaVu Sans"/>
              </a:rPr>
              <a:t>int minor;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  </a:t>
            </a:r>
            <a:r>
              <a:rPr b="0" lang="en-IN" sz="1600" spc="-1" strike="noStrike">
                <a:solidFill>
                  <a:srgbClr val="000000"/>
                </a:solidFill>
                <a:latin typeface="Arial"/>
                <a:ea typeface="DejaVu Sans"/>
              </a:rPr>
              <a:t>const char *name;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  </a:t>
            </a:r>
            <a:r>
              <a:rPr b="0" lang="en-IN" sz="1600" spc="-1" strike="noStrike">
                <a:solidFill>
                  <a:srgbClr val="000000"/>
                </a:solidFill>
                <a:latin typeface="Arial"/>
                <a:ea typeface="DejaVu Sans"/>
              </a:rPr>
              <a:t>struct file_operations *fops;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  </a:t>
            </a:r>
            <a:r>
              <a:rPr b="0" lang="en-IN" sz="1600" spc="-1" strike="noStrike">
                <a:solidFill>
                  <a:srgbClr val="000000"/>
                </a:solidFill>
                <a:latin typeface="Arial"/>
                <a:ea typeface="DejaVu Sans"/>
              </a:rPr>
              <a:t>struct miscdevice *next, *prev;</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&lt;minor&gt;: You can assign your custom minor number to this. If you pass MISC_DYNAMIC_MINOR to this variable, then the misc driver will automatically generate the minor number and assign it to this variable.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&lt;next&gt; and &lt;prev&gt;: These are used to manage the circular linked list of misc drivers.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
          <p:cNvSpPr/>
          <p:nvPr/>
        </p:nvSpPr>
        <p:spPr>
          <a:xfrm>
            <a:off x="203400" y="141480"/>
            <a:ext cx="9168480" cy="3286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int misc_register(struct miscdevice * misc)</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This one function will avoid the below functions used in the character device driver while registering the device.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alloc_chrdev_region(); – used for the major and minor number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cdev_init(); – used to initialize cdev</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cdev_add(); – used to  add the cdev structure to the device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class_create();  – used to create a class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device_create();  – used to create a device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IN" sz="1400" spc="-1" strike="noStrike">
                <a:solidFill>
                  <a:srgbClr val="000000"/>
                </a:solidFill>
                <a:latin typeface="Arial"/>
                <a:ea typeface="DejaVu Sans"/>
              </a:rPr>
              <a:t>misc_deregister(struct miscdevice * misc)</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This one function will avoid the below functions used in the character device driver while un-registering the device.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cdev_del(); – used to delete cdev</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unregister_chrdev_region();  – used to remove the major and minor number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device_destroy();  – used to delete the device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class_destroy(); – used to delete the class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IN" sz="1400" spc="-1" strike="noStrike">
                <a:solidFill>
                  <a:srgbClr val="000000"/>
                </a:solidFill>
                <a:latin typeface="Arial"/>
                <a:ea typeface="DejaVu Sans"/>
              </a:rPr>
              <a:t>Execute program on misc driver -&gt;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13777</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RAMA KRISHNA KATTA (ramakatt)</dc:creator>
  <dc:description/>
  <dc:language>en-IN</dc:language>
  <cp:lastModifiedBy/>
  <dcterms:modified xsi:type="dcterms:W3CDTF">2026-10-07T18:51:55Z</dcterms:modified>
  <cp:revision>98</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0</vt:bool>
  </property>
  <property fmtid="{D5CDD505-2E9C-101B-9397-08002B2CF9AE}" pid="4" name="LinksUpToDate">
    <vt:bool>0</vt:bool>
  </property>
  <property fmtid="{D5CDD505-2E9C-101B-9397-08002B2CF9AE}" pid="5" name="MMClips">
    <vt:r8>0</vt:r8>
  </property>
  <property fmtid="{D5CDD505-2E9C-101B-9397-08002B2CF9AE}" pid="6" name="Notes">
    <vt:r8>0</vt:r8>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r8>11</vt:r8>
  </property>
</Properties>
</file>