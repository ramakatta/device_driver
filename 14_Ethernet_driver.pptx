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24.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slideMaster14.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10.png" ContentType="image/png"/>
  <Override PartName="/ppt/media/image2.png" ContentType="image/png"/>
  <Override PartName="/ppt/media/image3.png" ContentType="image/png"/>
  <Override PartName="/ppt/media/image4.png" ContentType="image/png"/>
  <Override PartName="/ppt/media/image5.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292" r:id="rId63"/>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8"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0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0"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6"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2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8"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9"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0"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4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8"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9"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0"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6400" cy="1751040"/>
          </a:xfrm>
          <a:prstGeom prst="rect">
            <a:avLst/>
          </a:prstGeom>
          <a:ln w="0">
            <a:noFill/>
          </a:ln>
        </p:spPr>
      </p:pic>
      <p:sp>
        <p:nvSpPr>
          <p:cNvPr id="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 name="" descr=""/>
          <p:cNvPicPr/>
          <p:nvPr/>
        </p:nvPicPr>
        <p:blipFill>
          <a:blip r:embed="rId2"/>
          <a:stretch/>
        </p:blipFill>
        <p:spPr>
          <a:xfrm>
            <a:off x="0" y="5806440"/>
            <a:ext cx="10076400" cy="1751040"/>
          </a:xfrm>
          <a:prstGeom prst="rect">
            <a:avLst/>
          </a:prstGeom>
          <a:ln w="0">
            <a:noFill/>
          </a:ln>
        </p:spPr>
      </p:pic>
      <p:sp>
        <p:nvSpPr>
          <p:cNvPr id="1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 descr=""/>
          <p:cNvPicPr/>
          <p:nvPr/>
        </p:nvPicPr>
        <p:blipFill>
          <a:blip r:embed="rId2"/>
          <a:stretch/>
        </p:blipFill>
        <p:spPr>
          <a:xfrm>
            <a:off x="0" y="5806440"/>
            <a:ext cx="10076400" cy="1751040"/>
          </a:xfrm>
          <a:prstGeom prst="rect">
            <a:avLst/>
          </a:prstGeom>
          <a:ln w="0">
            <a:noFill/>
          </a:ln>
        </p:spPr>
      </p:pic>
      <p:sp>
        <p:nvSpPr>
          <p:cNvPr id="1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2"/>
          <a:stretch/>
        </p:blipFill>
        <p:spPr>
          <a:xfrm>
            <a:off x="0" y="5806440"/>
            <a:ext cx="10076400" cy="1751040"/>
          </a:xfrm>
          <a:prstGeom prst="rect">
            <a:avLst/>
          </a:prstGeom>
          <a:ln w="0">
            <a:noFill/>
          </a:ln>
        </p:spPr>
      </p:pic>
      <p:sp>
        <p:nvSpPr>
          <p:cNvPr id="2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 descr=""/>
          <p:cNvPicPr/>
          <p:nvPr/>
        </p:nvPicPr>
        <p:blipFill>
          <a:blip r:embed="rId2"/>
          <a:stretch/>
        </p:blipFill>
        <p:spPr>
          <a:xfrm>
            <a:off x="0" y="5806440"/>
            <a:ext cx="10076400" cy="1751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descr=""/>
          <p:cNvPicPr/>
          <p:nvPr/>
        </p:nvPicPr>
        <p:blipFill>
          <a:blip r:embed="rId2"/>
          <a:stretch/>
        </p:blipFill>
        <p:spPr>
          <a:xfrm>
            <a:off x="0" y="5806440"/>
            <a:ext cx="10076400" cy="1751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descr=""/>
          <p:cNvPicPr/>
          <p:nvPr/>
        </p:nvPicPr>
        <p:blipFill>
          <a:blip r:embed="rId2"/>
          <a:stretch/>
        </p:blipFill>
        <p:spPr>
          <a:xfrm>
            <a:off x="0" y="5806440"/>
            <a:ext cx="10076400" cy="1751040"/>
          </a:xfrm>
          <a:prstGeom prst="rect">
            <a:avLst/>
          </a:prstGeom>
          <a:ln w="0">
            <a:noFill/>
          </a:ln>
        </p:spPr>
      </p:pic>
      <p:sp>
        <p:nvSpPr>
          <p:cNvPr id="3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 descr=""/>
          <p:cNvPicPr/>
          <p:nvPr/>
        </p:nvPicPr>
        <p:blipFill>
          <a:blip r:embed="rId2"/>
          <a:stretch/>
        </p:blipFill>
        <p:spPr>
          <a:xfrm>
            <a:off x="0" y="5806440"/>
            <a:ext cx="10076400" cy="1751040"/>
          </a:xfrm>
          <a:prstGeom prst="rect">
            <a:avLst/>
          </a:prstGeom>
          <a:ln w="0">
            <a:noFill/>
          </a:ln>
        </p:spPr>
      </p:pic>
      <p:sp>
        <p:nvSpPr>
          <p:cNvPr id="4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6400" cy="1751040"/>
          </a:xfrm>
          <a:prstGeom prst="rect">
            <a:avLst/>
          </a:prstGeom>
          <a:ln w="0">
            <a:noFill/>
          </a:ln>
        </p:spPr>
      </p:pic>
      <p:sp>
        <p:nvSpPr>
          <p:cNvPr id="4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2"/>
          <a:stretch/>
        </p:blipFill>
        <p:spPr>
          <a:xfrm>
            <a:off x="0" y="5806440"/>
            <a:ext cx="10076400" cy="1751040"/>
          </a:xfrm>
          <a:prstGeom prst="rect">
            <a:avLst/>
          </a:prstGeom>
          <a:ln w="0">
            <a:noFill/>
          </a:ln>
        </p:spPr>
      </p:pic>
      <p:sp>
        <p:nvSpPr>
          <p:cNvPr id="5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5806440"/>
            <a:ext cx="10076400" cy="1751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 descr=""/>
          <p:cNvPicPr/>
          <p:nvPr/>
        </p:nvPicPr>
        <p:blipFill>
          <a:blip r:embed="rId2"/>
          <a:stretch/>
        </p:blipFill>
        <p:spPr>
          <a:xfrm>
            <a:off x="0" y="5806440"/>
            <a:ext cx="10076400" cy="1751040"/>
          </a:xfrm>
          <a:prstGeom prst="rect">
            <a:avLst/>
          </a:prstGeom>
          <a:ln w="0">
            <a:noFill/>
          </a:ln>
        </p:spPr>
      </p:pic>
      <p:sp>
        <p:nvSpPr>
          <p:cNvPr id="6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0"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0"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2"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3"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8"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0"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1"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2"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0"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2"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4"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6"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8"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2"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4"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8"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6"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a:t>
            </a:r>
            <a:r>
              <a:rPr b="0" lang="en-US" sz="1800" spc="-1" strike="noStrike">
                <a:solidFill>
                  <a:srgbClr val="000000"/>
                </a:solidFill>
                <a:latin typeface="Arial"/>
              </a:rPr>
              <a:t>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2"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4"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5"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6"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2"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4"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5"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6"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CustomShape 1"/>
          <p:cNvSpPr/>
          <p:nvPr/>
        </p:nvSpPr>
        <p:spPr>
          <a:xfrm>
            <a:off x="0" y="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2" name="CustomShape 2"/>
          <p:cNvSpPr/>
          <p:nvPr/>
        </p:nvSpPr>
        <p:spPr>
          <a:xfrm>
            <a:off x="0" y="6620400"/>
            <a:ext cx="10073520" cy="9385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4"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hyperlink" Target="https://elixir.bootlin.com/linux/v6.3.2/source/drivers/net/ethernet/xilinx/xilinx_axienet_main.c" TargetMode="External"/><Relationship Id="rId2" Type="http://schemas.openxmlformats.org/officeDocument/2006/relationships/hyperlink" Target="https://elixir.bootlin.com/linux/v6.3.2/source/drivers/net/ethernet/realtek/8139cp.c" TargetMode="External"/><Relationship Id="rId3" Type="http://schemas.openxmlformats.org/officeDocument/2006/relationships/hyperlink" Target="https://elixir.bootlin.com/linux/v6.3.2/source/drivers/net/ethernet/intel/igb/igb_main.c" TargetMode="External"/><Relationship Id="rId4"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hyperlink" Target="https://elixir.bootlin.com/linux/v6.3.2/C/ident/module_pci_driver" TargetMode="External"/><Relationship Id="rId2" Type="http://schemas.openxmlformats.org/officeDocument/2006/relationships/hyperlink" Target="https://elixir.bootlin.com/linux/v6.3.2/C/ident/cp_driver" TargetMode="External"/><Relationship Id="rId3" Type="http://schemas.openxmlformats.org/officeDocument/2006/relationships/hyperlink" Target="https://elixir.bootlin.com/linux/v6.3.2/C/ident/pci_driver" TargetMode="External"/><Relationship Id="rId4" Type="http://schemas.openxmlformats.org/officeDocument/2006/relationships/hyperlink" Target="https://elixir.bootlin.com/linux/v6.3.2/C/ident/cp_driver" TargetMode="External"/><Relationship Id="rId5" Type="http://schemas.openxmlformats.org/officeDocument/2006/relationships/hyperlink" Target="https://elixir.bootlin.com/linux/v6.3.2/C/ident/DRV_NAME" TargetMode="External"/><Relationship Id="rId6" Type="http://schemas.openxmlformats.org/officeDocument/2006/relationships/hyperlink" Target="https://elixir.bootlin.com/linux/v6.3.2/C/ident/id_table" TargetMode="External"/><Relationship Id="rId7" Type="http://schemas.openxmlformats.org/officeDocument/2006/relationships/hyperlink" Target="https://elixir.bootlin.com/linux/v6.3.2/C/ident/cp_pci_tbl" TargetMode="External"/><Relationship Id="rId8" Type="http://schemas.openxmlformats.org/officeDocument/2006/relationships/hyperlink" Target="https://elixir.bootlin.com/linux/v6.3.2/C/ident/probe" TargetMode="External"/><Relationship Id="rId9" Type="http://schemas.openxmlformats.org/officeDocument/2006/relationships/hyperlink" Target="https://elixir.bootlin.com/linux/v6.3.2/C/ident/cp_init_one" TargetMode="External"/><Relationship Id="rId10" Type="http://schemas.openxmlformats.org/officeDocument/2006/relationships/hyperlink" Target="https://elixir.bootlin.com/linux/v6.3.2/C/ident/remove" TargetMode="External"/><Relationship Id="rId11" Type="http://schemas.openxmlformats.org/officeDocument/2006/relationships/hyperlink" Target="https://elixir.bootlin.com/linux/v6.3.2/C/ident/cp_remove_one" TargetMode="External"/><Relationship Id="rId12" Type="http://schemas.openxmlformats.org/officeDocument/2006/relationships/hyperlink" Target="https://elixir.bootlin.com/linux/v6.3.2/C/ident/pm" TargetMode="External"/><Relationship Id="rId13" Type="http://schemas.openxmlformats.org/officeDocument/2006/relationships/hyperlink" Target="https://elixir.bootlin.com/linux/v6.3.2/C/ident/module_platform_driver" TargetMode="External"/><Relationship Id="rId14" Type="http://schemas.openxmlformats.org/officeDocument/2006/relationships/hyperlink" Target="https://elixir.bootlin.com/linux/v6.3.2/C/ident/axienet_driver" TargetMode="External"/><Relationship Id="rId15"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hyperlink" Target="https://en.wikipedia.org/wiki/PCI_Express" TargetMode="External"/><Relationship Id="rId2" Type="http://schemas.openxmlformats.org/officeDocument/2006/relationships/hyperlink" Target="https://en.wikipedia.org/wiki/PCI_configuration_space#Standardized_registers" TargetMode="External"/><Relationship Id="rId3" Type="http://schemas.openxmlformats.org/officeDocument/2006/relationships/hyperlink" Target="https://github.com/torvalds/linux/blob/v3.13/include/linux/module.h#L145-L146" TargetMode="External"/><Relationship Id="rId4" Type="http://schemas.openxmlformats.org/officeDocument/2006/relationships/hyperlink" Target="https://github.com/torvalds/linux/blob/v3.13/drivers/net/ethernet/intel/igb/igb_main.c#L79-L117" TargetMode="External"/><Relationship Id="rId5" Type="http://schemas.openxmlformats.org/officeDocument/2006/relationships/hyperlink" Target="https://github.com/torvalds/linux/blob/v3.13/drivers/net/ethernet/intel/igb/e1000_hw.h#L41-L75" TargetMode="External"/><Relationship Id="rId6" Type="http://schemas.openxmlformats.org/officeDocument/2006/relationships/hyperlink" Target="https://elixir.bootlin.com/linux/v6.3.2/C/ident/pci_device_id" TargetMode="External"/><Relationship Id="rId7" Type="http://schemas.openxmlformats.org/officeDocument/2006/relationships/hyperlink" Target="https://elixir.bootlin.com/linux/v6.3.2/C/ident/igb_pci_tbl" TargetMode="External"/><Relationship Id="rId8" Type="http://schemas.openxmlformats.org/officeDocument/2006/relationships/hyperlink" Target="https://elixir.bootlin.com/linux/v6.3.2/C/ident/PCI_VDEVICE" TargetMode="External"/><Relationship Id="rId9" Type="http://schemas.openxmlformats.org/officeDocument/2006/relationships/hyperlink" Target="https://elixir.bootlin.com/linux/v6.3.2/C/ident/INTEL" TargetMode="External"/><Relationship Id="rId10" Type="http://schemas.openxmlformats.org/officeDocument/2006/relationships/hyperlink" Target="https://elixir.bootlin.com/linux/v6.3.2/C/ident/E1000_DEV_ID_I354_BACKPLANE_1GBPS" TargetMode="External"/><Relationship Id="rId11" Type="http://schemas.openxmlformats.org/officeDocument/2006/relationships/hyperlink" Target="https://elixir.bootlin.com/linux/v6.3.2/C/ident/PCI_VDEVICE" TargetMode="External"/><Relationship Id="rId12" Type="http://schemas.openxmlformats.org/officeDocument/2006/relationships/hyperlink" Target="https://elixir.bootlin.com/linux/v6.3.2/C/ident/INTEL" TargetMode="External"/><Relationship Id="rId13" Type="http://schemas.openxmlformats.org/officeDocument/2006/relationships/hyperlink" Target="https://elixir.bootlin.com/linux/v6.3.2/C/ident/E1000_DEV_ID_I354_SGMII" TargetMode="External"/><Relationship Id="rId14" Type="http://schemas.openxmlformats.org/officeDocument/2006/relationships/hyperlink" Target="https://elixir.bootlin.com/linux/v6.3.2/C/ident/PCI_VDEVICE" TargetMode="External"/><Relationship Id="rId15" Type="http://schemas.openxmlformats.org/officeDocument/2006/relationships/hyperlink" Target="https://elixir.bootlin.com/linux/v6.3.2/C/ident/INTEL" TargetMode="External"/><Relationship Id="rId16" Type="http://schemas.openxmlformats.org/officeDocument/2006/relationships/hyperlink" Target="https://elixir.bootlin.com/linux/v6.3.2/C/ident/E1000_DEV_ID_I354_BACKPLANE_2_5GBPS" TargetMode="External"/><Relationship Id="rId17" Type="http://schemas.openxmlformats.org/officeDocument/2006/relationships/hyperlink" Target="https://elixir.bootlin.com/linux/v6.3.2/C/ident/MODULE_DEVICE_TABLE" TargetMode="External"/><Relationship Id="rId18" Type="http://schemas.openxmlformats.org/officeDocument/2006/relationships/hyperlink" Target="https://elixir.bootlin.com/linux/v6.3.2/C/ident/pci" TargetMode="External"/><Relationship Id="rId19" Type="http://schemas.openxmlformats.org/officeDocument/2006/relationships/hyperlink" Target="https://elixir.bootlin.com/linux/v6.3.2/C/ident/igb_pci_tbl" TargetMode="External"/><Relationship Id="rId20"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hyperlink" Target="http://wiki.osdev.org/I/O_Ports" TargetMode="External"/><Relationship Id="rId2" Type="http://schemas.openxmlformats.org/officeDocument/2006/relationships/hyperlink" Target="https://en.wikipedia.org/wiki/Direct_memory_access" TargetMode="External"/><Relationship Id="rId3"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hyperlink" Target="https://en.wikipedia.org/wiki/Direct_memory_access" TargetMode="External"/><Relationship Id="rId2" Type="http://schemas.openxmlformats.org/officeDocument/2006/relationships/hyperlink" Target="https://github.com/torvalds/linux/blob/v3.13/Documentation/PCI/pcieaer-howto.txt" TargetMode="External"/><Relationship Id="rId3" Type="http://schemas.openxmlformats.org/officeDocument/2006/relationships/slideLayout" Target="../slideLayouts/slideLayout17.xml"/>
</Relationships>
</file>

<file path=ppt/slides/_rels/slide15.xml.rels><?xml version="1.0" encoding="UTF-8"?>
<Relationships xmlns="http://schemas.openxmlformats.org/package/2006/relationships"><Relationship Id="rId1" Type="http://schemas.openxmlformats.org/officeDocument/2006/relationships/hyperlink" Target="https://elixir.bootlin.com/linux/v6.17.7/C/ident/net_device_ops" TargetMode="External"/><Relationship Id="rId2" Type="http://schemas.openxmlformats.org/officeDocument/2006/relationships/hyperlink" Target="https://elixir.bootlin.com/linux/v6.17.7/C/ident/rtl_netdev_ops" TargetMode="External"/><Relationship Id="rId3" Type="http://schemas.openxmlformats.org/officeDocument/2006/relationships/hyperlink" Target="https://elixir.bootlin.com/linux/v6.17.7/C/ident/ndo_open" TargetMode="External"/><Relationship Id="rId4" Type="http://schemas.openxmlformats.org/officeDocument/2006/relationships/hyperlink" Target="https://elixir.bootlin.com/linux/v6.17.7/C/ident/rtl_open" TargetMode="External"/><Relationship Id="rId5" Type="http://schemas.openxmlformats.org/officeDocument/2006/relationships/hyperlink" Target="https://elixir.bootlin.com/linux/v6.17.7/C/ident/ndo_stop" TargetMode="External"/><Relationship Id="rId6" Type="http://schemas.openxmlformats.org/officeDocument/2006/relationships/hyperlink" Target="https://elixir.bootlin.com/linux/v6.17.7/C/ident/rtl8169_close" TargetMode="External"/><Relationship Id="rId7" Type="http://schemas.openxmlformats.org/officeDocument/2006/relationships/hyperlink" Target="https://elixir.bootlin.com/linux/v6.17.7/C/ident/ndo_get_stats64" TargetMode="External"/><Relationship Id="rId8" Type="http://schemas.openxmlformats.org/officeDocument/2006/relationships/hyperlink" Target="https://elixir.bootlin.com/linux/v6.17.7/C/ident/rtl8169_get_stats64" TargetMode="External"/><Relationship Id="rId9" Type="http://schemas.openxmlformats.org/officeDocument/2006/relationships/hyperlink" Target="https://elixir.bootlin.com/linux/v6.17.7/C/ident/ndo_start_xmit" TargetMode="External"/><Relationship Id="rId10" Type="http://schemas.openxmlformats.org/officeDocument/2006/relationships/hyperlink" Target="https://elixir.bootlin.com/linux/v6.17.7/C/ident/rtl8169_start_xmit" TargetMode="External"/><Relationship Id="rId11" Type="http://schemas.openxmlformats.org/officeDocument/2006/relationships/hyperlink" Target="https://elixir.bootlin.com/linux/v6.17.7/C/ident/ndo_features_check" TargetMode="External"/><Relationship Id="rId12" Type="http://schemas.openxmlformats.org/officeDocument/2006/relationships/hyperlink" Target="https://elixir.bootlin.com/linux/v6.17.7/C/ident/rtl8169_features_check" TargetMode="External"/><Relationship Id="rId13" Type="http://schemas.openxmlformats.org/officeDocument/2006/relationships/hyperlink" Target="https://elixir.bootlin.com/linux/v6.17.7/C/ident/ndo_tx_timeout" TargetMode="External"/><Relationship Id="rId14" Type="http://schemas.openxmlformats.org/officeDocument/2006/relationships/hyperlink" Target="https://elixir.bootlin.com/linux/v6.17.7/C/ident/rtl8169_tx_timeout" TargetMode="External"/><Relationship Id="rId15" Type="http://schemas.openxmlformats.org/officeDocument/2006/relationships/hyperlink" Target="https://elixir.bootlin.com/linux/v6.17.7/C/ident/ndo_validate_addr" TargetMode="External"/><Relationship Id="rId16" Type="http://schemas.openxmlformats.org/officeDocument/2006/relationships/hyperlink" Target="https://elixir.bootlin.com/linux/v6.17.7/C/ident/eth_validate_addr" TargetMode="External"/><Relationship Id="rId17" Type="http://schemas.openxmlformats.org/officeDocument/2006/relationships/hyperlink" Target="https://elixir.bootlin.com/linux/v6.17.7/C/ident/ndo_change_mtu" TargetMode="External"/><Relationship Id="rId18" Type="http://schemas.openxmlformats.org/officeDocument/2006/relationships/hyperlink" Target="https://elixir.bootlin.com/linux/v6.17.7/C/ident/rtl8169_change_mtu" TargetMode="External"/><Relationship Id="rId19" Type="http://schemas.openxmlformats.org/officeDocument/2006/relationships/hyperlink" Target="https://elixir.bootlin.com/linux/v6.17.7/C/ident/ndo_fix_features" TargetMode="External"/><Relationship Id="rId20" Type="http://schemas.openxmlformats.org/officeDocument/2006/relationships/hyperlink" Target="https://elixir.bootlin.com/linux/v6.17.7/C/ident/rtl8169_fix_features" TargetMode="External"/><Relationship Id="rId21" Type="http://schemas.openxmlformats.org/officeDocument/2006/relationships/hyperlink" Target="https://elixir.bootlin.com/linux/v6.17.7/C/ident/ndo_set_features" TargetMode="External"/><Relationship Id="rId22" Type="http://schemas.openxmlformats.org/officeDocument/2006/relationships/hyperlink" Target="https://elixir.bootlin.com/linux/v6.17.7/C/ident/rtl8169_set_features" TargetMode="External"/><Relationship Id="rId23" Type="http://schemas.openxmlformats.org/officeDocument/2006/relationships/hyperlink" Target="https://elixir.bootlin.com/linux/v6.17.7/C/ident/ndo_set_mac_address" TargetMode="External"/><Relationship Id="rId24" Type="http://schemas.openxmlformats.org/officeDocument/2006/relationships/hyperlink" Target="https://elixir.bootlin.com/linux/v6.17.7/C/ident/rtl_set_mac_address" TargetMode="External"/><Relationship Id="rId25" Type="http://schemas.openxmlformats.org/officeDocument/2006/relationships/hyperlink" Target="https://elixir.bootlin.com/linux/v6.17.7/C/ident/ndo_eth_ioctl" TargetMode="External"/><Relationship Id="rId26" Type="http://schemas.openxmlformats.org/officeDocument/2006/relationships/hyperlink" Target="https://elixir.bootlin.com/linux/v6.17.7/C/ident/phy_do_ioctl_running" TargetMode="External"/><Relationship Id="rId27" Type="http://schemas.openxmlformats.org/officeDocument/2006/relationships/hyperlink" Target="https://elixir.bootlin.com/linux/v6.17.7/C/ident/ndo_set_rx_mode" TargetMode="External"/><Relationship Id="rId28" Type="http://schemas.openxmlformats.org/officeDocument/2006/relationships/hyperlink" Target="https://elixir.bootlin.com/linux/v6.17.7/C/ident/rtl_set_rx_mode" TargetMode="External"/><Relationship Id="rId29" Type="http://schemas.openxmlformats.org/officeDocument/2006/relationships/hyperlink" Target="https://elixir.bootlin.com/linux/v6.17.7/C/ident/netdev_ops" TargetMode="External"/><Relationship Id="rId30" Type="http://schemas.openxmlformats.org/officeDocument/2006/relationships/hyperlink" Target="https://elixir.bootlin.com/linux/v6.17.7/C/ident/rtl_netdev_ops" TargetMode="External"/><Relationship Id="rId31"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7.xml"/>
</Relationships>
</file>

<file path=ppt/slides/_rels/slide22.xml.rels><?xml version="1.0" encoding="UTF-8"?>
<Relationships xmlns="http://schemas.openxmlformats.org/package/2006/relationships"><Relationship Id="rId1" Type="http://schemas.openxmlformats.org/officeDocument/2006/relationships/hyperlink" Target="https://docs.nvidia.com/doca/sdk/rss-support/index.html" TargetMode="External"/><Relationship Id="rId2"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hyperlink" Target="https://en.wikipedia.org/wiki/Direct_memory_access" TargetMode="External"/><Relationship Id="rId2" Type="http://schemas.openxmlformats.org/officeDocument/2006/relationships/hyperlink" Target="https://en.wikipedia.org/wiki/Interrupt_request_(PC_architecture)" TargetMode="External"/><Relationship Id="rId3" Type="http://schemas.openxmlformats.org/officeDocument/2006/relationships/hyperlink" Target="http://www.linuxfoundation.org/collaborate/workgroups/networking/napi" TargetMode="External"/><Relationship Id="rId4" Type="http://schemas.openxmlformats.org/officeDocument/2006/relationships/hyperlink" Target="https://elixir.bootlin.com/linux/v6.3.2/C/ident/netif_napi_add" TargetMode="External"/><Relationship Id="rId5" Type="http://schemas.openxmlformats.org/officeDocument/2006/relationships/hyperlink" Target="https://elixir.bootlin.com/linux/v6.3.2/C/ident/ndev" TargetMode="External"/><Relationship Id="rId6" Type="http://schemas.openxmlformats.org/officeDocument/2006/relationships/hyperlink" Target="https://elixir.bootlin.com/linux/v6.3.2/C/ident/lp" TargetMode="External"/><Relationship Id="rId7" Type="http://schemas.openxmlformats.org/officeDocument/2006/relationships/hyperlink" Target="https://elixir.bootlin.com/linux/v6.3.2/C/ident/napi_rx" TargetMode="External"/><Relationship Id="rId8" Type="http://schemas.openxmlformats.org/officeDocument/2006/relationships/hyperlink" Target="https://elixir.bootlin.com/linux/v6.3.2/C/ident/axienet_rx_poll" TargetMode="External"/><Relationship Id="rId9" Type="http://schemas.openxmlformats.org/officeDocument/2006/relationships/hyperlink" Target="https://elixir.bootlin.com/linux/v6.3.2/C/ident/netif_napi_add" TargetMode="External"/><Relationship Id="rId10" Type="http://schemas.openxmlformats.org/officeDocument/2006/relationships/hyperlink" Target="https://elixir.bootlin.com/linux/v6.3.2/C/ident/ndev" TargetMode="External"/><Relationship Id="rId11" Type="http://schemas.openxmlformats.org/officeDocument/2006/relationships/hyperlink" Target="https://elixir.bootlin.com/linux/v6.3.2/C/ident/lp" TargetMode="External"/><Relationship Id="rId12" Type="http://schemas.openxmlformats.org/officeDocument/2006/relationships/hyperlink" Target="https://elixir.bootlin.com/linux/v6.3.2/C/ident/napi_tx" TargetMode="External"/><Relationship Id="rId13" Type="http://schemas.openxmlformats.org/officeDocument/2006/relationships/hyperlink" Target="https://elixir.bootlin.com/linux/v6.3.2/C/ident/axienet_tx_poll" TargetMode="External"/><Relationship Id="rId14" Type="http://schemas.openxmlformats.org/officeDocument/2006/relationships/hyperlink" Target="https://elixir.bootlin.com/linux/v6.3.2/C/ident/netif_napi_add_weight" TargetMode="External"/><Relationship Id="rId15" Type="http://schemas.openxmlformats.org/officeDocument/2006/relationships/hyperlink" Target="https://elixir.bootlin.com/linux/v6.3.2/C/ident/cp" TargetMode="External"/><Relationship Id="rId16" Type="http://schemas.openxmlformats.org/officeDocument/2006/relationships/hyperlink" Target="https://elixir.bootlin.com/linux/v6.3.2/C/ident/napi" TargetMode="External"/><Relationship Id="rId17" Type="http://schemas.openxmlformats.org/officeDocument/2006/relationships/hyperlink" Target="https://elixir.bootlin.com/linux/v6.3.2/C/ident/cp_rx_poll" TargetMode="External"/><Relationship Id="rId18" Type="http://schemas.openxmlformats.org/officeDocument/2006/relationships/hyperlink" Target="https://elixir.bootlin.com/linux/v6.3.2/C/ident/netif_napi_add" TargetMode="External"/><Relationship Id="rId19" Type="http://schemas.openxmlformats.org/officeDocument/2006/relationships/hyperlink" Target="https://elixir.bootlin.com/linux/v6.3.2/C/ident/netdev" TargetMode="External"/><Relationship Id="rId20" Type="http://schemas.openxmlformats.org/officeDocument/2006/relationships/hyperlink" Target="https://elixir.bootlin.com/linux/v6.3.2/C/ident/q_vector" TargetMode="External"/><Relationship Id="rId21" Type="http://schemas.openxmlformats.org/officeDocument/2006/relationships/hyperlink" Target="https://elixir.bootlin.com/linux/v6.3.2/C/ident/napi" TargetMode="External"/><Relationship Id="rId22" Type="http://schemas.openxmlformats.org/officeDocument/2006/relationships/hyperlink" Target="https://elixir.bootlin.com/linux/v6.3.2/C/ident/igb_poll" TargetMode="External"/><Relationship Id="rId23" Type="http://schemas.openxmlformats.org/officeDocument/2006/relationships/slideLayout" Target="../slideLayouts/slideLayout17.xml"/>
</Relationships>
</file>

<file path=ppt/slides/_rels/slide24.xml.rels><?xml version="1.0" encoding="UTF-8"?>
<Relationships xmlns="http://schemas.openxmlformats.org/package/2006/relationships"><Relationship Id="rId1" Type="http://schemas.openxmlformats.org/officeDocument/2006/relationships/hyperlink" Target="https://elixir.bootlin.com/linux/v6.3.2/C/ident/irqreturn_t" TargetMode="External"/><Relationship Id="rId2" Type="http://schemas.openxmlformats.org/officeDocument/2006/relationships/hyperlink" Target="https://elixir.bootlin.com/linux/v6.3.2/C/ident/cp_interrupt" TargetMode="External"/><Relationship Id="rId3" Type="http://schemas.openxmlformats.org/officeDocument/2006/relationships/hyperlink" Target="https://elixir.bootlin.com/linux/v6.3.2/C/ident/dev_instance" TargetMode="External"/><Relationship Id="rId4" Type="http://schemas.openxmlformats.org/officeDocument/2006/relationships/slideLayout" Target="../slideLayouts/slideLayout1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6.xml.rels><?xml version="1.0" encoding="UTF-8"?>
<Relationships xmlns="http://schemas.openxmlformats.org/package/2006/relationships"><Relationship Id="rId1" Type="http://schemas.openxmlformats.org/officeDocument/2006/relationships/hyperlink" Target="https://elixir.bootlin.com/linux/v6.3.2/C/ident/ethtool_ops" TargetMode="External"/><Relationship Id="rId2" Type="http://schemas.openxmlformats.org/officeDocument/2006/relationships/hyperlink" Target="https://elixir.bootlin.com/linux/v6.3.2/C/ident/cp_ethtool_ops" TargetMode="External"/><Relationship Id="rId3" Type="http://schemas.openxmlformats.org/officeDocument/2006/relationships/hyperlink" Target="https://elixir.bootlin.com/linux/v6.3.2/C/ident/ndev" TargetMode="External"/><Relationship Id="rId4" Type="http://schemas.openxmlformats.org/officeDocument/2006/relationships/hyperlink" Target="https://elixir.bootlin.com/linux/v6.3.2/C/ident/ethtool_ops" TargetMode="External"/><Relationship Id="rId5" Type="http://schemas.openxmlformats.org/officeDocument/2006/relationships/hyperlink" Target="https://elixir.bootlin.com/linux/v6.3.2/C/ident/axienet_ethtool_ops" TargetMode="External"/><Relationship Id="rId6" Type="http://schemas.openxmlformats.org/officeDocument/2006/relationships/slideLayout" Target="../slideLayouts/slideLayout1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hyperlink" Target="https://en.wikipedia.org/wiki/PCI_Express" TargetMode="External"/><Relationship Id="rId2" Type="http://schemas.openxmlformats.org/officeDocument/2006/relationships/hyperlink" Target="https://en.wikipedia.org/wiki/PCI_configuration_space#Standardized_registers" TargetMode="External"/><Relationship Id="rId3" Type="http://schemas.openxmlformats.org/officeDocument/2006/relationships/slideLayout" Target="../slideLayouts/slideLayout25.xml"/>
</Relationships>
</file>

<file path=ppt/slides/_rels/slide29.xml.rels><?xml version="1.0" encoding="UTF-8"?>
<Relationships xmlns="http://schemas.openxmlformats.org/package/2006/relationships"><Relationship Id="rId1" Type="http://schemas.openxmlformats.org/officeDocument/2006/relationships/hyperlink" Target="http://wiki.osdev.org/I/O_Ports" TargetMode="External"/><Relationship Id="rId2" Type="http://schemas.openxmlformats.org/officeDocument/2006/relationships/hyperlink" Target="https://en.wikipedia.org/wiki/Direct_memory_access" TargetMode="External"/><Relationship Id="rId3" Type="http://schemas.openxmlformats.org/officeDocument/2006/relationships/slideLayout" Target="../slideLayouts/slideLayout25.xml"/>
</Relationships>
</file>

<file path=ppt/slides/_rels/slide30.xml.rels><?xml version="1.0" encoding="UTF-8"?>
<Relationships xmlns="http://schemas.openxmlformats.org/package/2006/relationships"><Relationship Id="rId1" Type="http://schemas.openxmlformats.org/officeDocument/2006/relationships/hyperlink" Target="https://en.wikipedia.org/wiki/Direct_memory_access" TargetMode="External"/><Relationship Id="rId2" Type="http://schemas.openxmlformats.org/officeDocument/2006/relationships/hyperlink" Target="https://github.com/torvalds/linux/blob/v3.13/Documentation/PCI/pcieaer-howto.txt" TargetMode="External"/><Relationship Id="rId3" Type="http://schemas.openxmlformats.org/officeDocument/2006/relationships/slideLayout" Target="../slideLayouts/slideLayout25.xml"/>
</Relationships>
</file>

<file path=ppt/slides/_rels/slide31.xml.rels><?xml version="1.0" encoding="UTF-8"?>
<Relationships xmlns="http://schemas.openxmlformats.org/package/2006/relationships"><Relationship Id="rId1" Type="http://schemas.openxmlformats.org/officeDocument/2006/relationships/hyperlink" Target="https://www.kernel.org/pub/software/network/ethtool/" TargetMode="External"/><Relationship Id="rId2" Type="http://schemas.openxmlformats.org/officeDocument/2006/relationships/hyperlink" Target="http://man7.org/linux/man-pages/man2/ioctl.2.html" TargetMode="External"/><Relationship Id="rId3" Type="http://schemas.openxmlformats.org/officeDocument/2006/relationships/slideLayout" Target="../slideLayouts/slideLayout2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7.xml"/>
</Relationships>
</file>

<file path=ppt/slides/_rels/slide3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7.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CustomShape 1"/>
          <p:cNvSpPr/>
          <p:nvPr/>
        </p:nvSpPr>
        <p:spPr>
          <a:xfrm>
            <a:off x="144000" y="465840"/>
            <a:ext cx="9068400" cy="12589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006699"/>
                </a:solidFill>
                <a:latin typeface="Arial"/>
                <a:ea typeface="DejaVu Sans"/>
              </a:rPr>
              <a:t>Linux Ethernet Driver</a:t>
            </a:r>
            <a:endParaRPr b="0" lang="en-US" sz="4400" spc="-1" strike="noStrike">
              <a:solidFill>
                <a:srgbClr val="000000"/>
              </a:solidFill>
              <a:latin typeface="Arial"/>
            </a:endParaRPr>
          </a:p>
        </p:txBody>
      </p:sp>
      <p:pic>
        <p:nvPicPr>
          <p:cNvPr id="156" name="" descr=""/>
          <p:cNvPicPr/>
          <p:nvPr/>
        </p:nvPicPr>
        <p:blipFill>
          <a:blip r:embed="rId1"/>
          <a:stretch/>
        </p:blipFill>
        <p:spPr>
          <a:xfrm>
            <a:off x="2908080" y="2523240"/>
            <a:ext cx="3208680" cy="27295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CustomShape 1"/>
          <p:cNvSpPr/>
          <p:nvPr/>
        </p:nvSpPr>
        <p:spPr>
          <a:xfrm>
            <a:off x="504000" y="30132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Contents</a:t>
            </a:r>
            <a:endParaRPr b="0" lang="en-US" sz="4400" spc="-1" strike="noStrike">
              <a:solidFill>
                <a:srgbClr val="000000"/>
              </a:solidFill>
              <a:latin typeface="Arial"/>
            </a:endParaRPr>
          </a:p>
        </p:txBody>
      </p:sp>
      <p:sp>
        <p:nvSpPr>
          <p:cNvPr id="158" name="CustomShape 3"/>
          <p:cNvSpPr/>
          <p:nvPr/>
        </p:nvSpPr>
        <p:spPr>
          <a:xfrm>
            <a:off x="216000" y="5269320"/>
            <a:ext cx="9611640" cy="855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Platform Ethernet driver</a:t>
            </a:r>
            <a:endParaRPr b="0" lang="en-US" sz="1800" spc="-1" strike="noStrike">
              <a:solidFill>
                <a:srgbClr val="000000"/>
              </a:solidFill>
              <a:latin typeface="Arial"/>
            </a:endParaRPr>
          </a:p>
          <a:p>
            <a:pPr>
              <a:lnSpc>
                <a:spcPct val="100000"/>
              </a:lnSpc>
            </a:pPr>
            <a:r>
              <a:rPr b="0" lang="en-IN" sz="1800" spc="-1" strike="noStrike" u="sng">
                <a:solidFill>
                  <a:srgbClr val="0000ff"/>
                </a:solidFill>
                <a:uFillTx/>
                <a:latin typeface="Arial"/>
                <a:ea typeface="DejaVu Sans"/>
                <a:hlinkClick r:id="rId1"/>
              </a:rPr>
              <a:t>https://elixir.bootlin.com/linux/v6.3.2/source/drivers/net/ethernet/xilinx/xilinx_axienet_main.c</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159" name="CustomShape 4"/>
          <p:cNvSpPr/>
          <p:nvPr/>
        </p:nvSpPr>
        <p:spPr>
          <a:xfrm>
            <a:off x="216000" y="3636000"/>
            <a:ext cx="957276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PCI bus based Ethernet drivers Realtek/Intel IGB</a:t>
            </a:r>
            <a:endParaRPr b="0" lang="en-US" sz="1800" spc="-1" strike="noStrike">
              <a:solidFill>
                <a:srgbClr val="000000"/>
              </a:solidFill>
              <a:latin typeface="Arial"/>
            </a:endParaRPr>
          </a:p>
          <a:p>
            <a:pPr>
              <a:lnSpc>
                <a:spcPct val="100000"/>
              </a:lnSpc>
            </a:pPr>
            <a:r>
              <a:rPr b="0" lang="en-IN" sz="1800" spc="-1" strike="noStrike" u="sng">
                <a:solidFill>
                  <a:srgbClr val="0000ff"/>
                </a:solidFill>
                <a:uFillTx/>
                <a:latin typeface="Arial"/>
                <a:ea typeface="DejaVu Sans"/>
                <a:hlinkClick r:id="rId2"/>
              </a:rPr>
              <a:t>https://elixir.bootlin.com/linux/v6.3.2/source/drivers/net/ethernet/realtek/8139cp.c</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u="sng">
                <a:solidFill>
                  <a:srgbClr val="0000ff"/>
                </a:solidFill>
                <a:uFillTx/>
                <a:latin typeface="Arial"/>
                <a:ea typeface="DejaVu Sans"/>
                <a:hlinkClick r:id="rId3"/>
              </a:rPr>
              <a:t>https://elixir.bootlin.com/linux/v6.3.2/source/drivers/net/ethernet/intel/igb/igb_main.c</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160" name="CustomShape 8"/>
          <p:cNvSpPr/>
          <p:nvPr/>
        </p:nvSpPr>
        <p:spPr>
          <a:xfrm>
            <a:off x="216000" y="1044000"/>
            <a:ext cx="957276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 How Ethernet driver works?</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 Flow sequence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 Data Path</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 Control Path</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p:nvPr/>
        </p:nvSpPr>
        <p:spPr>
          <a:xfrm>
            <a:off x="1828800" y="1143000"/>
            <a:ext cx="5255640" cy="4550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Application</a:t>
            </a:r>
            <a:endParaRPr b="0" lang="en-US" sz="1800" spc="-1" strike="noStrike">
              <a:solidFill>
                <a:srgbClr val="000000"/>
              </a:solidFill>
              <a:latin typeface="Arial"/>
            </a:endParaRPr>
          </a:p>
        </p:txBody>
      </p:sp>
      <p:sp>
        <p:nvSpPr>
          <p:cNvPr id="162" name=""/>
          <p:cNvSpPr/>
          <p:nvPr/>
        </p:nvSpPr>
        <p:spPr>
          <a:xfrm>
            <a:off x="1828800" y="2079000"/>
            <a:ext cx="5255640" cy="455040"/>
          </a:xfrm>
          <a:prstGeom prst="rect">
            <a:avLst/>
          </a:prstGeom>
          <a:solidFill>
            <a:srgbClr val="00a933"/>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System Call/Socket Calls</a:t>
            </a:r>
            <a:endParaRPr b="0" lang="en-US" sz="1800" spc="-1" strike="noStrike">
              <a:solidFill>
                <a:srgbClr val="ffffff"/>
              </a:solidFill>
              <a:latin typeface="Arial"/>
            </a:endParaRPr>
          </a:p>
        </p:txBody>
      </p:sp>
      <p:sp>
        <p:nvSpPr>
          <p:cNvPr id="163" name=""/>
          <p:cNvSpPr/>
          <p:nvPr/>
        </p:nvSpPr>
        <p:spPr>
          <a:xfrm>
            <a:off x="1828800" y="2971800"/>
            <a:ext cx="5255640" cy="1598040"/>
          </a:xfrm>
          <a:prstGeom prst="rect">
            <a:avLst/>
          </a:prstGeom>
          <a:solidFill>
            <a:srgbClr val="ff3838"/>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Network Stack</a:t>
            </a:r>
            <a:endParaRPr b="0" lang="en-US" sz="1800" spc="-1" strike="noStrike">
              <a:solidFill>
                <a:srgbClr val="ffffff"/>
              </a:solidFill>
              <a:latin typeface="Arial"/>
            </a:endParaRPr>
          </a:p>
        </p:txBody>
      </p:sp>
      <p:sp>
        <p:nvSpPr>
          <p:cNvPr id="164" name=""/>
          <p:cNvSpPr/>
          <p:nvPr/>
        </p:nvSpPr>
        <p:spPr>
          <a:xfrm>
            <a:off x="3657600" y="1600200"/>
            <a:ext cx="360" cy="4572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65" name=""/>
          <p:cNvSpPr/>
          <p:nvPr/>
        </p:nvSpPr>
        <p:spPr>
          <a:xfrm>
            <a:off x="3657600" y="2514600"/>
            <a:ext cx="360" cy="4572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66" name=""/>
          <p:cNvSpPr/>
          <p:nvPr/>
        </p:nvSpPr>
        <p:spPr>
          <a:xfrm>
            <a:off x="5029200" y="16002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67" name=""/>
          <p:cNvSpPr/>
          <p:nvPr/>
        </p:nvSpPr>
        <p:spPr>
          <a:xfrm>
            <a:off x="5029200" y="250056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68" name=""/>
          <p:cNvSpPr/>
          <p:nvPr/>
        </p:nvSpPr>
        <p:spPr>
          <a:xfrm>
            <a:off x="1828800" y="5257800"/>
            <a:ext cx="1826640" cy="455040"/>
          </a:xfrm>
          <a:prstGeom prst="rect">
            <a:avLst/>
          </a:prstGeom>
          <a:solidFill>
            <a:srgbClr val="861141"/>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Ethernet Driver</a:t>
            </a:r>
            <a:endParaRPr b="0" lang="en-US" sz="1800" spc="-1" strike="noStrike">
              <a:solidFill>
                <a:srgbClr val="ffffff"/>
              </a:solidFill>
              <a:latin typeface="Arial"/>
            </a:endParaRPr>
          </a:p>
        </p:txBody>
      </p:sp>
      <p:sp>
        <p:nvSpPr>
          <p:cNvPr id="169" name=""/>
          <p:cNvSpPr/>
          <p:nvPr/>
        </p:nvSpPr>
        <p:spPr>
          <a:xfrm>
            <a:off x="3886200" y="5257800"/>
            <a:ext cx="1826640" cy="455040"/>
          </a:xfrm>
          <a:prstGeom prst="rect">
            <a:avLst/>
          </a:prstGeom>
          <a:solidFill>
            <a:srgbClr val="861141"/>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Wireless Driver</a:t>
            </a:r>
            <a:endParaRPr b="0" lang="en-US" sz="1800" spc="-1" strike="noStrike">
              <a:solidFill>
                <a:srgbClr val="ffffff"/>
              </a:solidFill>
              <a:latin typeface="Arial"/>
            </a:endParaRPr>
          </a:p>
        </p:txBody>
      </p:sp>
      <p:sp>
        <p:nvSpPr>
          <p:cNvPr id="170" name=""/>
          <p:cNvSpPr/>
          <p:nvPr/>
        </p:nvSpPr>
        <p:spPr>
          <a:xfrm>
            <a:off x="5897520" y="5257800"/>
            <a:ext cx="1644120" cy="455040"/>
          </a:xfrm>
          <a:prstGeom prst="rect">
            <a:avLst/>
          </a:prstGeom>
          <a:solidFill>
            <a:srgbClr val="861141"/>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USB Network Driver</a:t>
            </a:r>
            <a:endParaRPr b="0" lang="en-US" sz="1800" spc="-1" strike="noStrike">
              <a:solidFill>
                <a:srgbClr val="ffffff"/>
              </a:solidFill>
              <a:latin typeface="Arial"/>
            </a:endParaRPr>
          </a:p>
        </p:txBody>
      </p:sp>
      <p:sp>
        <p:nvSpPr>
          <p:cNvPr id="171" name=""/>
          <p:cNvSpPr/>
          <p:nvPr/>
        </p:nvSpPr>
        <p:spPr>
          <a:xfrm>
            <a:off x="2361600" y="4572000"/>
            <a:ext cx="360" cy="6858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72" name=""/>
          <p:cNvSpPr/>
          <p:nvPr/>
        </p:nvSpPr>
        <p:spPr>
          <a:xfrm>
            <a:off x="2971800" y="4572000"/>
            <a:ext cx="360" cy="6858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73" name=""/>
          <p:cNvSpPr/>
          <p:nvPr/>
        </p:nvSpPr>
        <p:spPr>
          <a:xfrm>
            <a:off x="5347800" y="4572360"/>
            <a:ext cx="360" cy="6858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74" name=""/>
          <p:cNvSpPr/>
          <p:nvPr/>
        </p:nvSpPr>
        <p:spPr>
          <a:xfrm>
            <a:off x="6823800" y="4572360"/>
            <a:ext cx="360" cy="6858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75" name=""/>
          <p:cNvSpPr/>
          <p:nvPr/>
        </p:nvSpPr>
        <p:spPr>
          <a:xfrm>
            <a:off x="4377600" y="4572000"/>
            <a:ext cx="360" cy="6858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76" name=""/>
          <p:cNvSpPr/>
          <p:nvPr/>
        </p:nvSpPr>
        <p:spPr>
          <a:xfrm>
            <a:off x="6465600" y="4572000"/>
            <a:ext cx="360" cy="6858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77" name=""/>
          <p:cNvSpPr/>
          <p:nvPr/>
        </p:nvSpPr>
        <p:spPr>
          <a:xfrm>
            <a:off x="1913400" y="4800600"/>
            <a:ext cx="912240" cy="226440"/>
          </a:xfrm>
          <a:prstGeom prst="ellipse">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eth0</a:t>
            </a:r>
            <a:endParaRPr b="0" lang="en-US" sz="1800" spc="-1" strike="noStrike">
              <a:solidFill>
                <a:srgbClr val="000000"/>
              </a:solidFill>
              <a:latin typeface="Arial"/>
            </a:endParaRPr>
          </a:p>
        </p:txBody>
      </p:sp>
      <p:sp>
        <p:nvSpPr>
          <p:cNvPr id="178" name=""/>
          <p:cNvSpPr/>
          <p:nvPr/>
        </p:nvSpPr>
        <p:spPr>
          <a:xfrm>
            <a:off x="3965760" y="4800600"/>
            <a:ext cx="912240" cy="226440"/>
          </a:xfrm>
          <a:prstGeom prst="ellipse">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wifi0</a:t>
            </a:r>
            <a:endParaRPr b="0" lang="en-US" sz="1800" spc="-1" strike="noStrike">
              <a:solidFill>
                <a:srgbClr val="000000"/>
              </a:solidFill>
              <a:latin typeface="Arial"/>
            </a:endParaRPr>
          </a:p>
        </p:txBody>
      </p:sp>
      <p:sp>
        <p:nvSpPr>
          <p:cNvPr id="179" name=""/>
          <p:cNvSpPr/>
          <p:nvPr/>
        </p:nvSpPr>
        <p:spPr>
          <a:xfrm>
            <a:off x="6054120" y="4800600"/>
            <a:ext cx="1258920" cy="226440"/>
          </a:xfrm>
          <a:prstGeom prst="ellipse">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usb0</a:t>
            </a:r>
            <a:endParaRPr b="0" lang="en-US" sz="1800" spc="-1" strike="noStrike">
              <a:solidFill>
                <a:srgbClr val="000000"/>
              </a:solidFill>
              <a:latin typeface="Arial"/>
            </a:endParaRPr>
          </a:p>
        </p:txBody>
      </p:sp>
      <p:sp>
        <p:nvSpPr>
          <p:cNvPr id="180" name=""/>
          <p:cNvSpPr/>
          <p:nvPr/>
        </p:nvSpPr>
        <p:spPr>
          <a:xfrm>
            <a:off x="685800" y="228600"/>
            <a:ext cx="79988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Interfaces in Network Stack</a:t>
            </a:r>
            <a:endParaRPr b="0" lang="en-US" sz="1800" spc="-1" strike="noStrike">
              <a:solidFill>
                <a:srgbClr val="000000"/>
              </a:solidFill>
              <a:latin typeface="Arial"/>
            </a:endParaRPr>
          </a:p>
        </p:txBody>
      </p:sp>
      <p:sp>
        <p:nvSpPr>
          <p:cNvPr id="181" name=""/>
          <p:cNvSpPr/>
          <p:nvPr/>
        </p:nvSpPr>
        <p:spPr>
          <a:xfrm>
            <a:off x="795600" y="6400800"/>
            <a:ext cx="2741040" cy="455040"/>
          </a:xfrm>
          <a:prstGeom prst="rect">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Ethernet Controller</a:t>
            </a:r>
            <a:endParaRPr b="0" lang="en-US" sz="1800" spc="-1" strike="noStrike">
              <a:solidFill>
                <a:srgbClr val="ffffff"/>
              </a:solidFill>
              <a:latin typeface="Arial"/>
            </a:endParaRPr>
          </a:p>
        </p:txBody>
      </p:sp>
      <p:sp>
        <p:nvSpPr>
          <p:cNvPr id="182" name=""/>
          <p:cNvSpPr/>
          <p:nvPr/>
        </p:nvSpPr>
        <p:spPr>
          <a:xfrm>
            <a:off x="3675600" y="6400800"/>
            <a:ext cx="2741040" cy="455040"/>
          </a:xfrm>
          <a:prstGeom prst="rect">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ffffff"/>
                </a:solidFill>
                <a:latin typeface="Arial"/>
                <a:ea typeface="DejaVu Sans"/>
              </a:rPr>
              <a:t>Wireless Controller</a:t>
            </a:r>
            <a:endParaRPr b="0" lang="en-US" sz="1800" spc="-1" strike="noStrike">
              <a:solidFill>
                <a:srgbClr val="ffffff"/>
              </a:solidFill>
              <a:latin typeface="Arial"/>
            </a:endParaRPr>
          </a:p>
        </p:txBody>
      </p:sp>
      <p:sp>
        <p:nvSpPr>
          <p:cNvPr id="183" name=""/>
          <p:cNvSpPr/>
          <p:nvPr/>
        </p:nvSpPr>
        <p:spPr>
          <a:xfrm>
            <a:off x="6555600" y="6400800"/>
            <a:ext cx="2741040" cy="455040"/>
          </a:xfrm>
          <a:prstGeom prst="rect">
            <a:avLst/>
          </a:prstGeom>
          <a:solidFill>
            <a:srgbClr val="ffe994"/>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USB Controller</a:t>
            </a:r>
            <a:endParaRPr b="0" lang="en-US" sz="1800" spc="-1" strike="noStrike">
              <a:solidFill>
                <a:srgbClr val="000000"/>
              </a:solidFill>
              <a:latin typeface="Arial"/>
            </a:endParaRPr>
          </a:p>
        </p:txBody>
      </p:sp>
      <p:sp>
        <p:nvSpPr>
          <p:cNvPr id="184" name=""/>
          <p:cNvSpPr/>
          <p:nvPr/>
        </p:nvSpPr>
        <p:spPr>
          <a:xfrm>
            <a:off x="2253600" y="5724000"/>
            <a:ext cx="360" cy="6858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85" name=""/>
          <p:cNvSpPr/>
          <p:nvPr/>
        </p:nvSpPr>
        <p:spPr>
          <a:xfrm>
            <a:off x="3007800" y="5724720"/>
            <a:ext cx="360" cy="6858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86" name=""/>
          <p:cNvSpPr/>
          <p:nvPr/>
        </p:nvSpPr>
        <p:spPr>
          <a:xfrm>
            <a:off x="5455800" y="5688720"/>
            <a:ext cx="360" cy="6858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87" name=""/>
          <p:cNvSpPr/>
          <p:nvPr/>
        </p:nvSpPr>
        <p:spPr>
          <a:xfrm>
            <a:off x="7543800" y="5760720"/>
            <a:ext cx="360" cy="6858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88" name=""/>
          <p:cNvSpPr/>
          <p:nvPr/>
        </p:nvSpPr>
        <p:spPr>
          <a:xfrm>
            <a:off x="4413600" y="5724000"/>
            <a:ext cx="360" cy="6858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89" name=""/>
          <p:cNvSpPr/>
          <p:nvPr/>
        </p:nvSpPr>
        <p:spPr>
          <a:xfrm>
            <a:off x="6861600" y="5760000"/>
            <a:ext cx="360" cy="6858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90" name=""/>
          <p:cNvSpPr/>
          <p:nvPr/>
        </p:nvSpPr>
        <p:spPr>
          <a:xfrm>
            <a:off x="228600" y="1828800"/>
            <a:ext cx="9372600" cy="36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91" name=""/>
          <p:cNvSpPr/>
          <p:nvPr/>
        </p:nvSpPr>
        <p:spPr>
          <a:xfrm>
            <a:off x="228960" y="6076800"/>
            <a:ext cx="9372600" cy="36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a typeface="DejaVu Sans"/>
            </a:endParaRPr>
          </a:p>
        </p:txBody>
      </p:sp>
      <p:sp>
        <p:nvSpPr>
          <p:cNvPr id="192" name=""/>
          <p:cNvSpPr/>
          <p:nvPr/>
        </p:nvSpPr>
        <p:spPr>
          <a:xfrm>
            <a:off x="7543800" y="1143000"/>
            <a:ext cx="18266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User space</a:t>
            </a:r>
            <a:endParaRPr b="0" lang="en-US" sz="1800" spc="-1" strike="noStrike">
              <a:solidFill>
                <a:srgbClr val="000000"/>
              </a:solidFill>
              <a:latin typeface="Arial"/>
            </a:endParaRPr>
          </a:p>
        </p:txBody>
      </p:sp>
      <p:sp>
        <p:nvSpPr>
          <p:cNvPr id="193" name=""/>
          <p:cNvSpPr/>
          <p:nvPr/>
        </p:nvSpPr>
        <p:spPr>
          <a:xfrm>
            <a:off x="7543800" y="3807000"/>
            <a:ext cx="18266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Kernel space</a:t>
            </a:r>
            <a:endParaRPr b="0" lang="en-US" sz="1800" spc="-1" strike="noStrike">
              <a:solidFill>
                <a:srgbClr val="000000"/>
              </a:solidFill>
              <a:latin typeface="Arial"/>
            </a:endParaRPr>
          </a:p>
        </p:txBody>
      </p:sp>
      <p:sp>
        <p:nvSpPr>
          <p:cNvPr id="194" name=""/>
          <p:cNvSpPr/>
          <p:nvPr/>
        </p:nvSpPr>
        <p:spPr>
          <a:xfrm>
            <a:off x="7903800" y="6975000"/>
            <a:ext cx="18266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Hardware</a:t>
            </a:r>
            <a:endParaRPr b="0" lang="en-US" sz="1800" spc="-1" strike="noStrike">
              <a:solidFill>
                <a:srgbClr val="000000"/>
              </a:solidFill>
              <a:latin typeface="Arial"/>
            </a:endParaRPr>
          </a:p>
        </p:txBody>
      </p:sp>
      <p:pic>
        <p:nvPicPr>
          <p:cNvPr id="195" name="" descr=""/>
          <p:cNvPicPr/>
          <p:nvPr/>
        </p:nvPicPr>
        <p:blipFill>
          <a:blip r:embed="rId1"/>
          <a:stretch/>
        </p:blipFill>
        <p:spPr>
          <a:xfrm>
            <a:off x="1456200" y="6922440"/>
            <a:ext cx="747000" cy="635040"/>
          </a:xfrm>
          <a:prstGeom prst="rect">
            <a:avLst/>
          </a:prstGeom>
          <a:ln w="0">
            <a:noFill/>
          </a:ln>
        </p:spPr>
      </p:pic>
      <p:pic>
        <p:nvPicPr>
          <p:cNvPr id="196" name="" descr=""/>
          <p:cNvPicPr/>
          <p:nvPr/>
        </p:nvPicPr>
        <p:blipFill>
          <a:blip r:embed="rId2"/>
          <a:stretch/>
        </p:blipFill>
        <p:spPr>
          <a:xfrm>
            <a:off x="4114800" y="6873840"/>
            <a:ext cx="815400" cy="683640"/>
          </a:xfrm>
          <a:prstGeom prst="rect">
            <a:avLst/>
          </a:prstGeom>
          <a:ln w="0">
            <a:noFill/>
          </a:ln>
        </p:spPr>
      </p:pic>
      <p:pic>
        <p:nvPicPr>
          <p:cNvPr id="197" name="" descr=""/>
          <p:cNvPicPr/>
          <p:nvPr/>
        </p:nvPicPr>
        <p:blipFill>
          <a:blip r:embed="rId3"/>
          <a:stretch/>
        </p:blipFill>
        <p:spPr>
          <a:xfrm>
            <a:off x="6629400" y="6933960"/>
            <a:ext cx="912240" cy="6541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
          <p:cNvSpPr/>
          <p:nvPr/>
        </p:nvSpPr>
        <p:spPr>
          <a:xfrm>
            <a:off x="0" y="0"/>
            <a:ext cx="50270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Data Flow in the Network Stack</a:t>
            </a:r>
            <a:endParaRPr b="0" lang="en-US" sz="1800" spc="-1" strike="noStrike">
              <a:solidFill>
                <a:srgbClr val="000000"/>
              </a:solidFill>
              <a:latin typeface="Arial"/>
            </a:endParaRPr>
          </a:p>
        </p:txBody>
      </p:sp>
      <p:graphicFrame>
        <p:nvGraphicFramePr>
          <p:cNvPr id="199" name=""/>
          <p:cNvGraphicFramePr/>
          <p:nvPr/>
        </p:nvGraphicFramePr>
        <p:xfrm>
          <a:off x="-11880" y="429120"/>
          <a:ext cx="10012320" cy="8210160"/>
        </p:xfrm>
        <a:graphic>
          <a:graphicData uri="http://schemas.openxmlformats.org/drawingml/2006/table">
            <a:tbl>
              <a:tblPr/>
              <a:tblGrid>
                <a:gridCol w="2354400"/>
                <a:gridCol w="3763440"/>
                <a:gridCol w="3894840"/>
              </a:tblGrid>
              <a:tr h="3143880">
                <a:tc>
                  <a:txBody>
                    <a:bodyPr lIns="36000" rIns="36000" anchor="t">
                      <a:noAutofit/>
                    </a:bodyPr>
                    <a:p>
                      <a:pPr>
                        <a:lnSpc>
                          <a:spcPct val="100000"/>
                        </a:lnSpc>
                      </a:pPr>
                      <a:r>
                        <a:rPr b="1" lang="en-US" sz="1800" spc="-1" strike="noStrike">
                          <a:solidFill>
                            <a:srgbClr val="000000"/>
                          </a:solidFill>
                          <a:latin typeface="Arial"/>
                        </a:rPr>
                        <a:t>Wired Ethernet Interface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1" lang="en-US" sz="1800" spc="-1" strike="noStrike">
                          <a:solidFill>
                            <a:srgbClr val="000000"/>
                          </a:solidFill>
                          <a:latin typeface="Arial"/>
                        </a:rPr>
                        <a:t>TX Flow:</a:t>
                      </a:r>
                      <a:br>
                        <a:rPr sz="1800"/>
                      </a:br>
                      <a:r>
                        <a:rPr b="0" lang="en-US" sz="1800" spc="-1" strike="noStrike">
                          <a:solidFill>
                            <a:srgbClr val="000000"/>
                          </a:solidFill>
                          <a:latin typeface="Arial"/>
                        </a:rPr>
                        <a:t>Application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Socket API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IP/TCP layer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net_device_ops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a:t>
                      </a:r>
                      <a:r>
                        <a:rPr b="0" lang="en-US" sz="1800" spc="-1" strike="noStrike">
                          <a:solidFill>
                            <a:srgbClr val="000000"/>
                          </a:solidFill>
                          <a:latin typeface="Arial"/>
                        </a:rPr>
                        <a:t>ndo_start_xmit()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Driver-specific xmit() </a:t>
                      </a:r>
                      <a:br>
                        <a:rPr sz="1800"/>
                      </a:br>
                      <a:r>
                        <a:rPr b="0" lang="en-US" sz="1800" spc="-1" strike="noStrike">
                          <a:solidFill>
                            <a:srgbClr val="000000"/>
                          </a:solidFill>
                          <a:latin typeface="Arial"/>
                        </a:rPr>
                        <a:t>(e.g., e1000_xmit_frame)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DMA descriptor ring setup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PCI Bus (via DMA)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Ethernet Controller (MAC + PHY)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RJ45 Port → Network Cable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1" lang="en-US" sz="1800" spc="-1" strike="noStrike">
                          <a:solidFill>
                            <a:srgbClr val="000000"/>
                          </a:solidFill>
                          <a:latin typeface="Arial"/>
                          <a:ea typeface="Noto Sans CJK SC"/>
                        </a:rPr>
                        <a:t>RX Flow:</a:t>
                      </a:r>
                      <a:br>
                        <a:rPr sz="1800"/>
                      </a:br>
                      <a:r>
                        <a:rPr b="0" lang="en-US" sz="1800" spc="-1" strike="noStrike">
                          <a:solidFill>
                            <a:srgbClr val="000000"/>
                          </a:solidFill>
                          <a:latin typeface="Arial"/>
                          <a:ea typeface="Noto Sans CJK SC"/>
                        </a:rPr>
                        <a:t>Network Cable →</a:t>
                      </a:r>
                      <a:br>
                        <a:rPr sz="1800"/>
                      </a:br>
                      <a:r>
                        <a:rPr b="0" lang="en-US" sz="1800" spc="-1" strike="noStrike">
                          <a:solidFill>
                            <a:srgbClr val="000000"/>
                          </a:solidFill>
                          <a:latin typeface="Arial"/>
                          <a:ea typeface="Noto Sans CJK SC"/>
                        </a:rPr>
                        <a:t>RJ45 Port→ </a:t>
                      </a:r>
                      <a:br>
                        <a:rPr sz="1800"/>
                      </a:br>
                      <a:r>
                        <a:rPr b="0" lang="en-US" sz="1800" spc="-1" strike="noStrike">
                          <a:solidFill>
                            <a:srgbClr val="000000"/>
                          </a:solidFill>
                          <a:latin typeface="Arial"/>
                          <a:ea typeface="Noto Sans CJK SC"/>
                        </a:rPr>
                        <a:t>Ethernet Controller (PHY + MAC)→ PCI Bus (via DMA)→</a:t>
                      </a:r>
                      <a:br>
                        <a:rPr sz="1800"/>
                      </a:br>
                      <a:r>
                        <a:rPr b="0" lang="en-US" sz="1800" spc="-1" strike="noStrike">
                          <a:solidFill>
                            <a:srgbClr val="000000"/>
                          </a:solidFill>
                          <a:latin typeface="Arial"/>
                          <a:ea typeface="Noto Sans CJK SC"/>
                        </a:rPr>
                        <a:t>DMA Descriptor Ring (RX ring)→ Driver-specific RX function →</a:t>
                      </a:r>
                      <a:br>
                        <a:rPr sz="1800"/>
                      </a:br>
                      <a:r>
                        <a:rPr b="0" lang="en-US" sz="1800" spc="-1" strike="noStrike">
                          <a:solidFill>
                            <a:srgbClr val="000000"/>
                          </a:solidFill>
                          <a:latin typeface="Arial"/>
                          <a:ea typeface="Noto Sans CJK SC"/>
                        </a:rPr>
                        <a:t> (e.g., e1000_clean_rx_irq)</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netif_receive_skb()</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IP/TCP layer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Socket API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Application</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887920">
                <a:tc>
                  <a:txBody>
                    <a:bodyPr lIns="36000" rIns="36000" anchor="t">
                      <a:noAutofit/>
                    </a:bodyPr>
                    <a:p>
                      <a:pPr>
                        <a:lnSpc>
                          <a:spcPct val="100000"/>
                        </a:lnSpc>
                      </a:pPr>
                      <a:r>
                        <a:rPr b="1" lang="en-US" sz="1800" spc="-1" strike="noStrike">
                          <a:solidFill>
                            <a:srgbClr val="000000"/>
                          </a:solidFill>
                          <a:latin typeface="Arial"/>
                        </a:rPr>
                        <a:t>Wireless Ethernet Interface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Application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a:t>
                      </a:r>
                      <a:r>
                        <a:rPr b="0" lang="en-US" sz="1800" spc="-1" strike="noStrike">
                          <a:solidFill>
                            <a:srgbClr val="000000"/>
                          </a:solidFill>
                          <a:latin typeface="Arial"/>
                        </a:rPr>
                        <a:t>Socket API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a:t>
                      </a:r>
                      <a:r>
                        <a:rPr b="0" lang="en-US" sz="1800" spc="-1" strike="noStrike">
                          <a:solidFill>
                            <a:srgbClr val="000000"/>
                          </a:solidFill>
                          <a:latin typeface="Arial"/>
                        </a:rPr>
                        <a:t>IP/TCP layer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a:t>
                      </a:r>
                      <a:r>
                        <a:rPr b="0" lang="en-US" sz="1800" spc="-1" strike="noStrike">
                          <a:solidFill>
                            <a:srgbClr val="000000"/>
                          </a:solidFill>
                          <a:latin typeface="Arial"/>
                          <a:ea typeface="Noto Sans CJK SC"/>
                        </a:rPr>
                        <a:t>net_device_ops-→ndo_start_xmit()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mac80211 stack (software MAC)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Driver-specific xmit() </a:t>
                      </a:r>
                      <a:br>
                        <a:rPr sz="1800"/>
                      </a:br>
                      <a:r>
                        <a:rPr b="0" lang="en-US" sz="1800" spc="-1" strike="noStrike">
                          <a:solidFill>
                            <a:srgbClr val="000000"/>
                          </a:solidFill>
                          <a:latin typeface="Arial"/>
                          <a:ea typeface="Noto Sans CJK SC"/>
                        </a:rPr>
                        <a:t>   (e.g., iwlwifi_tx_skb)</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Firmware / Hardware offload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Radio PHY (802.11 frames)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Antenna → Air medium</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ea typeface="Noto Sans CJK SC"/>
                        </a:rPr>
                        <a:t>Antenna → PHY Layer → </a:t>
                      </a:r>
                      <a:br>
                        <a:rPr sz="1800"/>
                      </a:br>
                      <a:r>
                        <a:rPr b="0" lang="en-US" sz="1800" spc="-1" strike="noStrike">
                          <a:solidFill>
                            <a:srgbClr val="000000"/>
                          </a:solidFill>
                          <a:latin typeface="Arial"/>
                          <a:ea typeface="Noto Sans CJK SC"/>
                        </a:rPr>
                        <a:t>Wi-Fi NIC (MAC + Firmware)→ Kernel Driver</a:t>
                      </a:r>
                      <a:br>
                        <a:rPr sz="1800"/>
                      </a:br>
                      <a:r>
                        <a:rPr b="0" lang="en-US" sz="1800" spc="-1" strike="noStrike">
                          <a:solidFill>
                            <a:srgbClr val="000000"/>
                          </a:solidFill>
                          <a:latin typeface="Arial"/>
                          <a:ea typeface="Noto Sans CJK SC"/>
                        </a:rPr>
                        <a:t> (cfg80211 / mac80211)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Network Stack (IP / TCP / UDP)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Noto Sans CJK SC"/>
                        </a:rPr>
                        <a:t>→ </a:t>
                      </a:r>
                      <a:r>
                        <a:rPr b="0" lang="en-US" sz="1800" spc="-1" strike="noStrike">
                          <a:solidFill>
                            <a:srgbClr val="000000"/>
                          </a:solidFill>
                          <a:latin typeface="Arial"/>
                          <a:ea typeface="Noto Sans CJK SC"/>
                        </a:rPr>
                        <a:t>Socket Layer → Application</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20040">
                <a:tc>
                  <a:txBody>
                    <a:bodyPr lIns="36000" rIns="36000" anchor="t">
                      <a:noAutofit/>
                    </a:bodyPr>
                    <a:p>
                      <a:pPr>
                        <a:lnSpc>
                          <a:spcPct val="100000"/>
                        </a:lnSpc>
                      </a:pPr>
                      <a:r>
                        <a:rPr b="1" lang="en-US" sz="1800" spc="-1" strike="noStrike">
                          <a:solidFill>
                            <a:srgbClr val="000000"/>
                          </a:solidFill>
                          <a:latin typeface="Arial"/>
                        </a:rPr>
                        <a:t>USB Ethernet Interface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Application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Socket API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IP/TCP layer→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net_device_ops→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ndo_start_xmit()→ usbnet_start_xmit() → usb_submit_urb()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USB Controller → Device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Device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USB Interrupt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URB completion handler→ usbnet_bh()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netif_rx()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IP stack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Socket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Application</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0" name="" descr=""/>
          <p:cNvPicPr/>
          <p:nvPr/>
        </p:nvPicPr>
        <p:blipFill>
          <a:blip r:embed="rId1"/>
          <a:stretch/>
        </p:blipFill>
        <p:spPr>
          <a:xfrm>
            <a:off x="0" y="914400"/>
            <a:ext cx="5072040" cy="3656160"/>
          </a:xfrm>
          <a:prstGeom prst="rect">
            <a:avLst/>
          </a:prstGeom>
          <a:ln w="0">
            <a:noFill/>
          </a:ln>
        </p:spPr>
      </p:pic>
      <p:sp>
        <p:nvSpPr>
          <p:cNvPr id="201" name=""/>
          <p:cNvSpPr/>
          <p:nvPr/>
        </p:nvSpPr>
        <p:spPr>
          <a:xfrm>
            <a:off x="457200" y="339120"/>
            <a:ext cx="502776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The Linux Kernel Networking Stack</a:t>
            </a:r>
            <a:endParaRPr b="0" lang="en-US" sz="1800" spc="-1" strike="noStrike">
              <a:solidFill>
                <a:srgbClr val="000000"/>
              </a:solidFill>
              <a:latin typeface="Arial"/>
            </a:endParaRPr>
          </a:p>
        </p:txBody>
      </p:sp>
      <p:pic>
        <p:nvPicPr>
          <p:cNvPr id="202" name="" descr=""/>
          <p:cNvPicPr/>
          <p:nvPr/>
        </p:nvPicPr>
        <p:blipFill>
          <a:blip r:embed="rId2"/>
          <a:stretch/>
        </p:blipFill>
        <p:spPr>
          <a:xfrm>
            <a:off x="6400800" y="1114920"/>
            <a:ext cx="2801880" cy="3227040"/>
          </a:xfrm>
          <a:prstGeom prst="rect">
            <a:avLst/>
          </a:prstGeom>
          <a:ln w="0">
            <a:noFill/>
          </a:ln>
        </p:spPr>
      </p:pic>
      <p:sp>
        <p:nvSpPr>
          <p:cNvPr id="203" name=""/>
          <p:cNvSpPr/>
          <p:nvPr/>
        </p:nvSpPr>
        <p:spPr>
          <a:xfrm>
            <a:off x="30240" y="4656600"/>
            <a:ext cx="363852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Abstracts the Network Devices</a:t>
            </a:r>
            <a:endParaRPr b="0" lang="en-US" sz="1800" spc="-1" strike="noStrike">
              <a:solidFill>
                <a:srgbClr val="000000"/>
              </a:solidFill>
              <a:latin typeface="Arial"/>
            </a:endParaRPr>
          </a:p>
        </p:txBody>
      </p:sp>
      <p:sp>
        <p:nvSpPr>
          <p:cNvPr id="204" name=""/>
          <p:cNvSpPr/>
          <p:nvPr/>
        </p:nvSpPr>
        <p:spPr>
          <a:xfrm>
            <a:off x="110520" y="5139720"/>
            <a:ext cx="331704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Implements some OSI Layers :</a:t>
            </a:r>
            <a:endParaRPr b="0" lang="en-US" sz="1800" spc="-1" strike="noStrike">
              <a:solidFill>
                <a:srgbClr val="000000"/>
              </a:solidFill>
              <a:latin typeface="Arial"/>
            </a:endParaRPr>
          </a:p>
        </p:txBody>
      </p:sp>
      <p:sp>
        <p:nvSpPr>
          <p:cNvPr id="205" name=""/>
          <p:cNvSpPr/>
          <p:nvPr/>
        </p:nvSpPr>
        <p:spPr>
          <a:xfrm>
            <a:off x="914400" y="5514840"/>
            <a:ext cx="4513680" cy="1113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Layer 1 (PHY) : Ethernet, WiFi, CAN,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Layer 2 (MAC) : Bridging, VLANs,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Layer 3 (Network) : IPv4, IPv6,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Layer 4 (Transport) : TCP, UDP, etc</a:t>
            </a:r>
            <a:endParaRPr b="0" lang="en-US" sz="1800" spc="-1" strike="noStrike">
              <a:solidFill>
                <a:srgbClr val="000000"/>
              </a:solidFill>
              <a:latin typeface="Arial"/>
            </a:endParaRPr>
          </a:p>
        </p:txBody>
      </p:sp>
      <p:sp>
        <p:nvSpPr>
          <p:cNvPr id="206" name=""/>
          <p:cNvSpPr/>
          <p:nvPr/>
        </p:nvSpPr>
        <p:spPr>
          <a:xfrm>
            <a:off x="5749200" y="5139720"/>
            <a:ext cx="385056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Provides a set of APIs to userspace </a:t>
            </a:r>
            <a:endParaRPr b="0" lang="en-US" sz="1800" spc="-1" strike="noStrike">
              <a:solidFill>
                <a:srgbClr val="000000"/>
              </a:solidFill>
              <a:latin typeface="Arial"/>
            </a:endParaRPr>
          </a:p>
        </p:txBody>
      </p:sp>
      <p:sp>
        <p:nvSpPr>
          <p:cNvPr id="207" name=""/>
          <p:cNvSpPr/>
          <p:nvPr/>
        </p:nvSpPr>
        <p:spPr>
          <a:xfrm>
            <a:off x="5715000" y="5569560"/>
            <a:ext cx="3574800" cy="60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Socket API and io_uring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Control through ioctl and Netlink</a:t>
            </a:r>
            <a:endParaRPr b="0" lang="en-US" sz="1800" spc="-1" strike="noStrike">
              <a:solidFill>
                <a:srgbClr val="000000"/>
              </a:solidFill>
              <a:latin typeface="Arial"/>
            </a:endParaRPr>
          </a:p>
        </p:txBody>
      </p:sp>
      <p:sp>
        <p:nvSpPr>
          <p:cNvPr id="208" name=""/>
          <p:cNvSpPr/>
          <p:nvPr/>
        </p:nvSpPr>
        <p:spPr>
          <a:xfrm>
            <a:off x="0" y="6940800"/>
            <a:ext cx="9973080" cy="489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io_uring is a high-performance asynchronous I/O interface in Linux designed to drastically reduce syscall overhead and context switches compared to traditional async I/O (aio, epoll, select, etc.).</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
          <p:cNvSpPr/>
          <p:nvPr/>
        </p:nvSpPr>
        <p:spPr>
          <a:xfrm>
            <a:off x="784080" y="339120"/>
            <a:ext cx="424368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Physical and MAC support</a:t>
            </a:r>
            <a:endParaRPr b="0" lang="en-US" sz="1800" spc="-1" strike="noStrike">
              <a:solidFill>
                <a:srgbClr val="000000"/>
              </a:solidFill>
              <a:latin typeface="Arial"/>
            </a:endParaRPr>
          </a:p>
        </p:txBody>
      </p:sp>
      <p:sp>
        <p:nvSpPr>
          <p:cNvPr id="210" name=""/>
          <p:cNvSpPr/>
          <p:nvPr/>
        </p:nvSpPr>
        <p:spPr>
          <a:xfrm>
            <a:off x="102960" y="925200"/>
            <a:ext cx="9496800" cy="2730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a:t>
            </a:r>
            <a:r>
              <a:rPr b="0" lang="en-US" sz="1400" spc="-1" strike="noStrike">
                <a:solidFill>
                  <a:srgbClr val="000000"/>
                </a:solidFill>
                <a:latin typeface="Arial"/>
                <a:ea typeface="DejaVu Sans"/>
              </a:rPr>
              <a:t>The Networking stack provides a framework for Layer 2 drivers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struct net_device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Used by Ethernet, Wifi, Bluetooth, CAN, 802.15.4, Radio, etc.</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PHY drivers have their dedicated frameworks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phylib for Ethernet PHYs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mac80211 and wiphy for 802.11 PHYs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A lot of communication technologies are handled through the network stack</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Ethernet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Wifi</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Bluetooth and Bluetooth Low Energy</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Infiniband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802.15.4, radio, X.25</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CAN Bus</a:t>
            </a:r>
            <a:endParaRPr b="0" lang="en-US" sz="1400" spc="-1" strike="noStrike">
              <a:solidFill>
                <a:srgbClr val="000000"/>
              </a:solidFill>
              <a:latin typeface="Arial"/>
            </a:endParaRPr>
          </a:p>
        </p:txBody>
      </p:sp>
      <p:sp>
        <p:nvSpPr>
          <p:cNvPr id="211" name=""/>
          <p:cNvSpPr/>
          <p:nvPr/>
        </p:nvSpPr>
        <p:spPr>
          <a:xfrm>
            <a:off x="228600" y="3657600"/>
            <a:ext cx="388476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Userspace Networking</a:t>
            </a:r>
            <a:endParaRPr b="0" lang="en-US" sz="1800" spc="-1" strike="noStrike">
              <a:solidFill>
                <a:srgbClr val="000000"/>
              </a:solidFill>
              <a:latin typeface="Arial"/>
            </a:endParaRPr>
          </a:p>
        </p:txBody>
      </p:sp>
      <p:sp>
        <p:nvSpPr>
          <p:cNvPr id="212" name=""/>
          <p:cNvSpPr/>
          <p:nvPr/>
        </p:nvSpPr>
        <p:spPr>
          <a:xfrm>
            <a:off x="228600" y="3979080"/>
            <a:ext cx="9047520" cy="264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Userspace applications can also access traffic at various points in the stack</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through sockets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AF_PACKET Sockets allow raw Layer 2 access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Can be used for custom protocol support in userspace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Used by libpcap and traffic monitoring tools like </a:t>
            </a:r>
            <a:r>
              <a:rPr b="1" lang="en-US" sz="1600" spc="-1" strike="noStrike">
                <a:solidFill>
                  <a:srgbClr val="000000"/>
                </a:solidFill>
                <a:latin typeface="Arial"/>
                <a:ea typeface="DejaVu Sans"/>
              </a:rPr>
              <a:t>tcpdump</a:t>
            </a:r>
            <a:r>
              <a:rPr b="0" lang="en-US" sz="1600" spc="-1" strike="noStrike">
                <a:solidFill>
                  <a:srgbClr val="000000"/>
                </a:solidFill>
                <a:latin typeface="Arial"/>
                <a:ea typeface="DejaVu Sans"/>
              </a:rPr>
              <a:t> and </a:t>
            </a:r>
            <a:r>
              <a:rPr b="1" lang="en-US" sz="1600" spc="-1" strike="noStrike">
                <a:solidFill>
                  <a:srgbClr val="000000"/>
                </a:solidFill>
                <a:latin typeface="Arial"/>
                <a:ea typeface="DejaVu Sans"/>
              </a:rPr>
              <a:t>wireshark</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socket(AF_PACKET, SOCK_DGRAM, 0) sockets expose raw IPv4 and IPv6 packets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Some protocols only have userspace implementations by design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QUIC : Not in the kernel when the protocol was first introduced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Rationale was to prevent ossification</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Recent kernel-side implementation submitted for inclusion in the kernel</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3" name="" descr=""/>
          <p:cNvPicPr/>
          <p:nvPr/>
        </p:nvPicPr>
        <p:blipFill>
          <a:blip r:embed="rId1"/>
          <a:stretch/>
        </p:blipFill>
        <p:spPr>
          <a:xfrm>
            <a:off x="57600" y="972000"/>
            <a:ext cx="6569640" cy="2912040"/>
          </a:xfrm>
          <a:prstGeom prst="rect">
            <a:avLst/>
          </a:prstGeom>
          <a:ln w="0">
            <a:noFill/>
          </a:ln>
        </p:spPr>
      </p:pic>
      <p:sp>
        <p:nvSpPr>
          <p:cNvPr id="214" name=""/>
          <p:cNvSpPr/>
          <p:nvPr/>
        </p:nvSpPr>
        <p:spPr>
          <a:xfrm>
            <a:off x="457200" y="3942360"/>
            <a:ext cx="7313040" cy="39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MAC: 802.3 Operations(Collision management, Flow control)</a:t>
            </a:r>
            <a:endParaRPr b="0" lang="en-US" sz="1800" spc="-1" strike="noStrike">
              <a:solidFill>
                <a:srgbClr val="000000"/>
              </a:solidFill>
              <a:latin typeface="Arial"/>
            </a:endParaRPr>
          </a:p>
        </p:txBody>
      </p:sp>
      <p:sp>
        <p:nvSpPr>
          <p:cNvPr id="215" name=""/>
          <p:cNvSpPr/>
          <p:nvPr/>
        </p:nvSpPr>
        <p:spPr>
          <a:xfrm>
            <a:off x="1143000" y="228600"/>
            <a:ext cx="36554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Inside Ethernet Controller</a:t>
            </a:r>
            <a:endParaRPr b="0" lang="en-US" sz="1800" spc="-1" strike="noStrike">
              <a:solidFill>
                <a:srgbClr val="000000"/>
              </a:solidFill>
              <a:latin typeface="Arial"/>
            </a:endParaRPr>
          </a:p>
        </p:txBody>
      </p:sp>
      <p:sp>
        <p:nvSpPr>
          <p:cNvPr id="216" name=""/>
          <p:cNvSpPr/>
          <p:nvPr/>
        </p:nvSpPr>
        <p:spPr>
          <a:xfrm>
            <a:off x="6858000" y="1143000"/>
            <a:ext cx="2741040" cy="1368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 </a:t>
            </a:r>
            <a:r>
              <a:rPr b="1" lang="en-US" sz="1800" spc="-1" strike="noStrike">
                <a:solidFill>
                  <a:srgbClr val="000000"/>
                </a:solidFill>
                <a:latin typeface="Arial"/>
                <a:ea typeface="DejaVu Sans"/>
              </a:rPr>
              <a:t>MII Interface to PHY</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 </a:t>
            </a:r>
            <a:r>
              <a:rPr b="1" lang="en-US" sz="1800" spc="-1" strike="noStrike">
                <a:solidFill>
                  <a:srgbClr val="000000"/>
                </a:solidFill>
                <a:latin typeface="Arial"/>
                <a:ea typeface="DejaVu Sans"/>
              </a:rPr>
              <a:t>Queues and DMA</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 </a:t>
            </a:r>
            <a:r>
              <a:rPr b="1" lang="en-US" sz="1800" spc="-1" strike="noStrike">
                <a:solidFill>
                  <a:srgbClr val="000000"/>
                </a:solidFill>
                <a:latin typeface="Arial"/>
                <a:ea typeface="DejaVu Sans"/>
              </a:rPr>
              <a:t>Internal Engines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(Time stamping,Filtering, Parsing, Encryption..</a:t>
            </a:r>
            <a:endParaRPr b="0" lang="en-US" sz="1800" spc="-1" strike="noStrike">
              <a:solidFill>
                <a:srgbClr val="000000"/>
              </a:solidFill>
              <a:latin typeface="Arial"/>
            </a:endParaRPr>
          </a:p>
        </p:txBody>
      </p:sp>
      <p:pic>
        <p:nvPicPr>
          <p:cNvPr id="217" name="" descr=""/>
          <p:cNvPicPr/>
          <p:nvPr/>
        </p:nvPicPr>
        <p:blipFill>
          <a:blip r:embed="rId2"/>
          <a:stretch/>
        </p:blipFill>
        <p:spPr>
          <a:xfrm>
            <a:off x="924120" y="4572000"/>
            <a:ext cx="6846120" cy="20167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
          <p:cNvSpPr/>
          <p:nvPr/>
        </p:nvSpPr>
        <p:spPr>
          <a:xfrm>
            <a:off x="228600" y="3886200"/>
            <a:ext cx="9838800" cy="41839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Represent a network interface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Back bone of driver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The probe function of driver usually registers via register_netdev()</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net_devices are network interfaces visible via </a:t>
            </a:r>
            <a:r>
              <a:rPr b="1" lang="en-US" sz="1800" spc="-1" strike="noStrike">
                <a:solidFill>
                  <a:srgbClr val="000000"/>
                </a:solidFill>
                <a:latin typeface="Arial"/>
                <a:ea typeface="DejaVu Sans"/>
              </a:rPr>
              <a:t>ip link show/ifconfig -a</a:t>
            </a:r>
            <a:br>
              <a:rPr sz="1800"/>
            </a:br>
            <a:r>
              <a:rPr b="1" lang="en-US" sz="1800" spc="-1" strike="noStrike">
                <a:solidFill>
                  <a:srgbClr val="000000"/>
                </a:solidFill>
                <a:latin typeface="Arial"/>
                <a:ea typeface="DejaVu Sans"/>
              </a:rPr>
              <a:t> </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Each net_device has unique if_index within its name space (struct net)</a:t>
            </a:r>
            <a:br>
              <a:rPr sz="1800"/>
            </a:br>
            <a:r>
              <a:rPr b="0" lang="en-US" sz="1800" spc="-1" strike="noStrike">
                <a:solidFill>
                  <a:srgbClr val="000000"/>
                </a:solidFill>
                <a:latin typeface="Arial"/>
                <a:ea typeface="DejaVu Sans"/>
              </a:rPr>
              <a:t> </a:t>
            </a:r>
            <a:endParaRPr b="0" lang="en-US" sz="1800" spc="-1" strike="noStrike">
              <a:solidFill>
                <a:srgbClr val="000000"/>
              </a:solidFill>
              <a:latin typeface="Arial"/>
            </a:endParaRPr>
          </a:p>
          <a:p>
            <a:pPr>
              <a:lnSpc>
                <a:spcPct val="100000"/>
              </a:lnSpc>
            </a:pPr>
            <a:br>
              <a:rPr sz="1800"/>
            </a:b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219" name=""/>
          <p:cNvSpPr/>
          <p:nvPr/>
        </p:nvSpPr>
        <p:spPr>
          <a:xfrm>
            <a:off x="228600" y="1007280"/>
            <a:ext cx="9599760" cy="264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In UNIX systems, the common saying is that ”everything is a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Most classes of devices follow that rule, and expose block and char devices in /dev</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/dev/mmcblk0 : eMMC device 0</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/dev/i2c-3 : I2C bus number 3</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/dev/input/* : HID devices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Network devices don’t follow that rule, as they are rarely directly accessed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Linux Kernel provides access to Layers 2, 3 and 4 through the socket API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Network devices appear as interfaces under /sys/class/net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sysfs API is only for limited control and device information</a:t>
            </a:r>
            <a:endParaRPr b="0" lang="en-US" sz="1800" spc="-1" strike="noStrike">
              <a:solidFill>
                <a:srgbClr val="000000"/>
              </a:solidFill>
              <a:latin typeface="Arial"/>
            </a:endParaRPr>
          </a:p>
        </p:txBody>
      </p:sp>
      <p:sp>
        <p:nvSpPr>
          <p:cNvPr id="220" name=""/>
          <p:cNvSpPr/>
          <p:nvPr/>
        </p:nvSpPr>
        <p:spPr>
          <a:xfrm>
            <a:off x="325800" y="3468600"/>
            <a:ext cx="5941800" cy="45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struct net_device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
          <p:cNvSpPr/>
          <p:nvPr/>
        </p:nvSpPr>
        <p:spPr>
          <a:xfrm>
            <a:off x="228600" y="3750480"/>
            <a:ext cx="9142560" cy="264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Userspace sees a netdev as an 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Listed with ip link show or ifconfig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Also appearing under /sys/class/net/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Interfaces have a name, which may change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Interfaces also have an index (ifindex) that uniquely identifies them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They have attributes, changeable or not, depending on their type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Addresses : IPv4, IPv6, MAC,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Properties : MTU, Queue length,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Statistics : RX/TX packets, link events,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State : Link up or down, admin state, Promiscuous, etc.</a:t>
            </a:r>
            <a:endParaRPr b="0" lang="en-US" sz="1800" spc="-1" strike="noStrike">
              <a:solidFill>
                <a:srgbClr val="000000"/>
              </a:solidFill>
              <a:latin typeface="Arial"/>
            </a:endParaRPr>
          </a:p>
        </p:txBody>
      </p:sp>
      <p:sp>
        <p:nvSpPr>
          <p:cNvPr id="222" name=""/>
          <p:cNvSpPr/>
          <p:nvPr/>
        </p:nvSpPr>
        <p:spPr>
          <a:xfrm>
            <a:off x="228600" y="1034640"/>
            <a:ext cx="9142560" cy="2392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net devices can be part of hierarchy: lower and upper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Allocated through (devm_)alloc_etherdev_(mqs)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Driver specified data retrieved using netdev_priv(dev)</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Used for physical interfaces and virtual interfaces</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Abstract interfaces can be used for vlan, bridging, tap, veth, etc.</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CustomShape 1"/>
          <p:cNvSpPr/>
          <p:nvPr/>
        </p:nvSpPr>
        <p:spPr>
          <a:xfrm>
            <a:off x="504000" y="301320"/>
            <a:ext cx="9068400" cy="63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4" name="CustomShape 2"/>
          <p:cNvSpPr/>
          <p:nvPr/>
        </p:nvSpPr>
        <p:spPr>
          <a:xfrm>
            <a:off x="144000" y="1080000"/>
            <a:ext cx="9284760" cy="872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This entire flow will be examined in detail in the following sections. </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Ethernet driver initialization and registration with PCI/Platform bus </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25" name="CustomShape 3"/>
          <p:cNvSpPr/>
          <p:nvPr/>
        </p:nvSpPr>
        <p:spPr>
          <a:xfrm>
            <a:off x="288000" y="1955880"/>
            <a:ext cx="2444760" cy="920880"/>
          </a:xfrm>
          <a:prstGeom prst="rect">
            <a:avLst/>
          </a:prstGeom>
          <a:solidFill>
            <a:srgbClr val="729fcf"/>
          </a:solidFill>
          <a:ln w="0">
            <a:solidFill>
              <a:srgbClr val="3465a4"/>
            </a:solidFill>
          </a:ln>
        </p:spPr>
        <p:style>
          <a:lnRef idx="0"/>
          <a:fillRef idx="0"/>
          <a:effectRef idx="0"/>
          <a:fontRef idx="minor"/>
        </p:style>
        <p:txBody>
          <a:bodyPr wrap="none" lIns="90000" rIns="90000" tIns="45000" bIns="45000" anchor="ctr">
            <a:noAutofit/>
          </a:bodyPr>
          <a:p>
            <a:pPr algn="ctr">
              <a:lnSpc>
                <a:spcPct val="100000"/>
              </a:lnSpc>
            </a:pPr>
            <a:r>
              <a:rPr b="0" lang="en-IN" sz="1800" spc="-1" strike="noStrike">
                <a:solidFill>
                  <a:srgbClr val="000000"/>
                </a:solidFill>
                <a:latin typeface="Arial"/>
                <a:ea typeface="DejaVu Sans"/>
              </a:rPr>
              <a:t>Init_module</a:t>
            </a:r>
            <a:endParaRPr b="0" lang="en-US" sz="1800" spc="-1" strike="noStrike">
              <a:solidFill>
                <a:srgbClr val="000000"/>
              </a:solidFill>
              <a:latin typeface="Arial"/>
            </a:endParaRPr>
          </a:p>
        </p:txBody>
      </p:sp>
      <p:sp>
        <p:nvSpPr>
          <p:cNvPr id="226" name="CustomShape 4"/>
          <p:cNvSpPr/>
          <p:nvPr/>
        </p:nvSpPr>
        <p:spPr>
          <a:xfrm>
            <a:off x="3312000" y="1955880"/>
            <a:ext cx="2444760" cy="920880"/>
          </a:xfrm>
          <a:prstGeom prst="rect">
            <a:avLst/>
          </a:prstGeom>
          <a:solidFill>
            <a:srgbClr val="729fcf"/>
          </a:solidFill>
          <a:ln w="0">
            <a:solidFill>
              <a:srgbClr val="3465a4"/>
            </a:solidFill>
          </a:ln>
        </p:spPr>
        <p:style>
          <a:lnRef idx="0"/>
          <a:fillRef idx="0"/>
          <a:effectRef idx="0"/>
          <a:fontRef idx="minor"/>
        </p:style>
        <p:txBody>
          <a:bodyPr wrap="none" lIns="90000" rIns="90000" tIns="45000" bIns="45000" anchor="ctr">
            <a:noAutofit/>
          </a:bodyPr>
          <a:p>
            <a:pPr algn="ctr">
              <a:lnSpc>
                <a:spcPct val="100000"/>
              </a:lnSpc>
            </a:pPr>
            <a:r>
              <a:rPr b="0" lang="en-IN" sz="1800" spc="-1" strike="noStrike">
                <a:solidFill>
                  <a:srgbClr val="000000"/>
                </a:solidFill>
                <a:latin typeface="Arial"/>
                <a:ea typeface="DejaVu Sans"/>
              </a:rPr>
              <a:t>module_pci_driver/</a:t>
            </a:r>
            <a:endParaRPr b="0" lang="en-US" sz="1800" spc="-1" strike="noStrike">
              <a:solidFill>
                <a:srgbClr val="000000"/>
              </a:solidFill>
              <a:latin typeface="Arial"/>
            </a:endParaRPr>
          </a:p>
          <a:p>
            <a:pPr algn="ctr">
              <a:lnSpc>
                <a:spcPct val="100000"/>
              </a:lnSpc>
            </a:pPr>
            <a:r>
              <a:rPr b="0" lang="en-IN" sz="1800" spc="-1" strike="noStrike">
                <a:solidFill>
                  <a:srgbClr val="000000"/>
                </a:solidFill>
                <a:latin typeface="Arial"/>
                <a:ea typeface="DejaVu Sans"/>
              </a:rPr>
              <a:t>pci_register_driver/</a:t>
            </a:r>
            <a:endParaRPr b="0" lang="en-US" sz="1800" spc="-1" strike="noStrike">
              <a:solidFill>
                <a:srgbClr val="000000"/>
              </a:solidFill>
              <a:latin typeface="Arial"/>
            </a:endParaRPr>
          </a:p>
          <a:p>
            <a:pPr algn="ctr">
              <a:lnSpc>
                <a:spcPct val="100000"/>
              </a:lnSpc>
            </a:pPr>
            <a:r>
              <a:rPr b="0" lang="en-IN" sz="1800" spc="-1" strike="noStrike">
                <a:solidFill>
                  <a:srgbClr val="000000"/>
                </a:solidFill>
                <a:latin typeface="Arial"/>
                <a:ea typeface="DejaVu Sans"/>
              </a:rPr>
              <a:t>module_platform_driver</a:t>
            </a:r>
            <a:endParaRPr b="0" lang="en-US" sz="1800" spc="-1" strike="noStrike">
              <a:solidFill>
                <a:srgbClr val="000000"/>
              </a:solidFill>
              <a:latin typeface="Arial"/>
            </a:endParaRPr>
          </a:p>
        </p:txBody>
      </p:sp>
      <p:sp>
        <p:nvSpPr>
          <p:cNvPr id="227" name="CustomShape 5"/>
          <p:cNvSpPr/>
          <p:nvPr/>
        </p:nvSpPr>
        <p:spPr>
          <a:xfrm>
            <a:off x="6336000" y="1955880"/>
            <a:ext cx="2444760" cy="920880"/>
          </a:xfrm>
          <a:prstGeom prst="rect">
            <a:avLst/>
          </a:prstGeom>
          <a:solidFill>
            <a:srgbClr val="729fcf"/>
          </a:solidFill>
          <a:ln w="0">
            <a:solidFill>
              <a:srgbClr val="3465a4"/>
            </a:solidFill>
          </a:ln>
        </p:spPr>
        <p:style>
          <a:lnRef idx="0"/>
          <a:fillRef idx="0"/>
          <a:effectRef idx="0"/>
          <a:fontRef idx="minor"/>
        </p:style>
        <p:txBody>
          <a:bodyPr wrap="none" lIns="90000" rIns="90000" tIns="45000" bIns="45000" anchor="ctr">
            <a:noAutofit/>
          </a:bodyPr>
          <a:p>
            <a:pPr algn="ctr">
              <a:lnSpc>
                <a:spcPct val="100000"/>
              </a:lnSpc>
            </a:pPr>
            <a:r>
              <a:rPr b="0" lang="en-IN" sz="1800" spc="-1" strike="noStrike">
                <a:solidFill>
                  <a:srgbClr val="000000"/>
                </a:solidFill>
                <a:latin typeface="Arial"/>
                <a:ea typeface="DejaVu Sans"/>
              </a:rPr>
              <a:t>igb_probe/cp_init_one/</a:t>
            </a:r>
            <a:endParaRPr b="0" lang="en-US" sz="1800" spc="-1" strike="noStrike">
              <a:solidFill>
                <a:srgbClr val="000000"/>
              </a:solidFill>
              <a:latin typeface="Arial"/>
            </a:endParaRPr>
          </a:p>
          <a:p>
            <a:pPr algn="ctr">
              <a:lnSpc>
                <a:spcPct val="100000"/>
              </a:lnSpc>
            </a:pPr>
            <a:r>
              <a:rPr b="0" lang="en-IN" sz="1800" spc="-1" strike="noStrike">
                <a:solidFill>
                  <a:srgbClr val="000000"/>
                </a:solidFill>
                <a:latin typeface="Arial"/>
                <a:ea typeface="DejaVu Sans"/>
              </a:rPr>
              <a:t>axienet_probe</a:t>
            </a:r>
            <a:endParaRPr b="0" lang="en-US" sz="1800" spc="-1" strike="noStrike">
              <a:solidFill>
                <a:srgbClr val="000000"/>
              </a:solidFill>
              <a:latin typeface="Arial"/>
            </a:endParaRPr>
          </a:p>
        </p:txBody>
      </p:sp>
      <p:sp>
        <p:nvSpPr>
          <p:cNvPr id="228" name="CustomShape 6"/>
          <p:cNvSpPr/>
          <p:nvPr/>
        </p:nvSpPr>
        <p:spPr>
          <a:xfrm>
            <a:off x="136440" y="3058200"/>
            <a:ext cx="9796320" cy="38383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200" spc="-1" strike="noStrike">
                <a:solidFill>
                  <a:srgbClr val="000000"/>
                </a:solidFill>
                <a:latin typeface="Arial"/>
                <a:ea typeface="DejaVu Sans"/>
              </a:rPr>
              <a:t>Initialization (Init_module)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driver registers an initialization function which is called by the kernel when the driver is loaded. This function is registered by using the module_init macro.. The igb initialization function (igb_init_module)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igb_init_module - Driver Registration Routine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igb_init_module is the first routine called when the driver is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loaded. All it does is register with the PCI subsystem.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static int __init igb_init_module(void)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int ret;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pr_info("%s\n", igb_driver_string);</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pr_info("%s\n", igb_copyright);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ret = pci_register_driver(&amp;igb_driver);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return ret;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module_init(igb_init_module);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29" name="Line 7"/>
          <p:cNvSpPr/>
          <p:nvPr/>
        </p:nvSpPr>
        <p:spPr>
          <a:xfrm>
            <a:off x="2736000" y="2376000"/>
            <a:ext cx="648000" cy="360"/>
          </a:xfrm>
          <a:prstGeom prst="line">
            <a:avLst/>
          </a:prstGeom>
          <a:ln w="0">
            <a:solidFill>
              <a:srgbClr val="000000"/>
            </a:solidFill>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230" name="Line 8"/>
          <p:cNvSpPr/>
          <p:nvPr/>
        </p:nvSpPr>
        <p:spPr>
          <a:xfrm>
            <a:off x="5760000" y="2448000"/>
            <a:ext cx="648000" cy="360"/>
          </a:xfrm>
          <a:prstGeom prst="line">
            <a:avLst/>
          </a:prstGeom>
          <a:ln w="0">
            <a:solidFill>
              <a:srgbClr val="000000"/>
            </a:solidFill>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231" name="CustomShape 9"/>
          <p:cNvSpPr/>
          <p:nvPr/>
        </p:nvSpPr>
        <p:spPr>
          <a:xfrm>
            <a:off x="3744000" y="5400000"/>
            <a:ext cx="1076760" cy="644760"/>
          </a:xfrm>
          <a:custGeom>
            <a:avLst/>
            <a:gdLst>
              <a:gd name="textAreaLeft" fmla="*/ 0 w 1076760"/>
              <a:gd name="textAreaRight" fmla="*/ 1079280 w 1076760"/>
              <a:gd name="textAreaTop" fmla="*/ 0 h 644760"/>
              <a:gd name="textAreaBottom" fmla="*/ 647280 h 644760"/>
            </a:gdLst>
            <a:ahLst/>
            <a:rect l="textAreaLeft" t="textAreaTop" r="textAreaRight" b="textAreaBottom"/>
            <a:pathLst>
              <a:path w="3002" h="1801">
                <a:moveTo>
                  <a:pt x="0" y="450"/>
                </a:moveTo>
                <a:lnTo>
                  <a:pt x="2250" y="450"/>
                </a:lnTo>
                <a:lnTo>
                  <a:pt x="2250" y="0"/>
                </a:lnTo>
                <a:lnTo>
                  <a:pt x="3001" y="900"/>
                </a:lnTo>
                <a:lnTo>
                  <a:pt x="2250" y="1800"/>
                </a:lnTo>
                <a:lnTo>
                  <a:pt x="2250" y="1350"/>
                </a:lnTo>
                <a:lnTo>
                  <a:pt x="0" y="1350"/>
                </a:lnTo>
                <a:lnTo>
                  <a:pt x="0" y="450"/>
                </a:lnTo>
              </a:path>
            </a:pathLst>
          </a:custGeom>
          <a:solidFill>
            <a:srgbClr val="729fcf"/>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2" name="CustomShape 10"/>
          <p:cNvSpPr/>
          <p:nvPr/>
        </p:nvSpPr>
        <p:spPr>
          <a:xfrm>
            <a:off x="5328000" y="5976000"/>
            <a:ext cx="2387160" cy="1677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200" spc="-1" strike="noStrike" u="sng">
                <a:solidFill>
                  <a:srgbClr val="0000ff"/>
                </a:solidFill>
                <a:uFillTx/>
                <a:latin typeface="Arial"/>
                <a:ea typeface="DejaVu Sans"/>
                <a:hlinkClick r:id="rId1"/>
              </a:rPr>
              <a:t>module_pci_driver</a:t>
            </a:r>
            <a:r>
              <a:rPr b="0" lang="en-IN" sz="1200" spc="-1" strike="noStrike">
                <a:solidFill>
                  <a:srgbClr val="0000ff"/>
                </a:solidFill>
                <a:latin typeface="Arial"/>
                <a:ea typeface="DejaVu Sans"/>
              </a:rPr>
              <a:t>(</a:t>
            </a:r>
            <a:r>
              <a:rPr b="0" lang="en-IN" sz="1200" spc="-1" strike="noStrike" u="sng">
                <a:solidFill>
                  <a:srgbClr val="0000ff"/>
                </a:solidFill>
                <a:uFillTx/>
                <a:latin typeface="Arial"/>
                <a:ea typeface="DejaVu Sans"/>
                <a:hlinkClick r:id="rId2"/>
              </a:rPr>
              <a:t>cp_driver</a:t>
            </a:r>
            <a:r>
              <a:rPr b="0" lang="en-IN" sz="1200" spc="-1" strike="noStrike">
                <a:solidFill>
                  <a:srgbClr val="0000ff"/>
                </a:solidFill>
                <a:latin typeface="Arial"/>
                <a:ea typeface="DejaVu Sans"/>
              </a:rPr>
              <a:t>);</a:t>
            </a:r>
            <a:endParaRPr b="0" lang="en-US" sz="1200" spc="-1" strike="noStrike">
              <a:solidFill>
                <a:srgbClr val="000000"/>
              </a:solidFill>
              <a:latin typeface="Arial"/>
            </a:endParaRPr>
          </a:p>
        </p:txBody>
      </p:sp>
      <p:sp>
        <p:nvSpPr>
          <p:cNvPr id="233" name="CustomShape 11"/>
          <p:cNvSpPr/>
          <p:nvPr/>
        </p:nvSpPr>
        <p:spPr>
          <a:xfrm>
            <a:off x="5256000" y="4421520"/>
            <a:ext cx="4244760" cy="2703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Courier New"/>
                <a:ea typeface="Courier New"/>
              </a:rPr>
              <a:t>static struct </a:t>
            </a:r>
            <a:r>
              <a:rPr b="0" lang="en-IN" sz="1400" spc="-1" strike="noStrike" u="sng">
                <a:solidFill>
                  <a:srgbClr val="0000ff"/>
                </a:solidFill>
                <a:uFillTx/>
                <a:latin typeface="Courier New"/>
                <a:ea typeface="Courier New"/>
                <a:hlinkClick r:id="rId3"/>
              </a:rPr>
              <a:t>pci_driver</a:t>
            </a:r>
            <a:r>
              <a:rPr b="0" lang="en-IN" sz="1400" spc="-1" strike="noStrike">
                <a:solidFill>
                  <a:srgbClr val="0000ff"/>
                </a:solidFill>
                <a:latin typeface="Courier New"/>
                <a:ea typeface="Courier New"/>
              </a:rPr>
              <a:t> </a:t>
            </a:r>
            <a:r>
              <a:rPr b="0" lang="en-IN" sz="1400" spc="-1" strike="noStrike" u="sng">
                <a:solidFill>
                  <a:srgbClr val="0000ff"/>
                </a:solidFill>
                <a:uFillTx/>
                <a:latin typeface="Courier New"/>
                <a:ea typeface="Courier New"/>
                <a:hlinkClick r:id="rId4"/>
              </a:rPr>
              <a:t>cp_driver</a:t>
            </a:r>
            <a:r>
              <a:rPr b="0" lang="en-IN" sz="1400" spc="-1" strike="noStrike">
                <a:solidFill>
                  <a:srgbClr val="0000ff"/>
                </a:solidFill>
                <a:latin typeface="Courier New"/>
                <a:ea typeface="Courier New"/>
              </a:rPr>
              <a:t> = {</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Courier New"/>
                <a:ea typeface="Courier New"/>
              </a:rPr>
              <a:t>        </a:t>
            </a:r>
            <a:r>
              <a:rPr b="0" lang="en-IN" sz="1400" spc="-1" strike="noStrike">
                <a:solidFill>
                  <a:srgbClr val="0000ff"/>
                </a:solidFill>
                <a:latin typeface="Courier New"/>
                <a:ea typeface="Courier New"/>
              </a:rPr>
              <a:t>.name         = </a:t>
            </a:r>
            <a:r>
              <a:rPr b="0" lang="en-IN" sz="1400" spc="-1" strike="noStrike" u="sng">
                <a:solidFill>
                  <a:srgbClr val="0000ff"/>
                </a:solidFill>
                <a:uFillTx/>
                <a:latin typeface="Courier New"/>
                <a:ea typeface="Courier New"/>
                <a:hlinkClick r:id="rId5"/>
              </a:rPr>
              <a:t>DRV_NAME</a:t>
            </a:r>
            <a:r>
              <a:rPr b="0" lang="en-IN" sz="1400" spc="-1" strike="noStrike">
                <a:solidFill>
                  <a:srgbClr val="0000ff"/>
                </a:solidFill>
                <a:latin typeface="Courier New"/>
                <a:ea typeface="Courier New"/>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Courier New"/>
                <a:ea typeface="Courier New"/>
              </a:rPr>
              <a:t>        </a:t>
            </a:r>
            <a:r>
              <a:rPr b="0" lang="en-IN" sz="1400" spc="-1" strike="noStrike">
                <a:solidFill>
                  <a:srgbClr val="0000ff"/>
                </a:solidFill>
                <a:latin typeface="Courier New"/>
                <a:ea typeface="Courier New"/>
              </a:rPr>
              <a:t>.</a:t>
            </a:r>
            <a:r>
              <a:rPr b="0" lang="en-IN" sz="1400" spc="-1" strike="noStrike" u="sng">
                <a:solidFill>
                  <a:srgbClr val="0000ff"/>
                </a:solidFill>
                <a:uFillTx/>
                <a:latin typeface="Courier New"/>
                <a:ea typeface="Courier New"/>
                <a:hlinkClick r:id="rId6"/>
              </a:rPr>
              <a:t>id_table</a:t>
            </a:r>
            <a:r>
              <a:rPr b="0" lang="en-IN" sz="1400" spc="-1" strike="noStrike">
                <a:solidFill>
                  <a:srgbClr val="0000ff"/>
                </a:solidFill>
                <a:latin typeface="Courier New"/>
                <a:ea typeface="Courier New"/>
              </a:rPr>
              <a:t>     = </a:t>
            </a:r>
            <a:r>
              <a:rPr b="0" lang="en-IN" sz="1400" spc="-1" strike="noStrike" u="sng">
                <a:solidFill>
                  <a:srgbClr val="0000ff"/>
                </a:solidFill>
                <a:uFillTx/>
                <a:latin typeface="Courier New"/>
                <a:ea typeface="Courier New"/>
                <a:hlinkClick r:id="rId7"/>
              </a:rPr>
              <a:t>cp_pci_tbl</a:t>
            </a:r>
            <a:r>
              <a:rPr b="0" lang="en-IN" sz="1400" spc="-1" strike="noStrike">
                <a:solidFill>
                  <a:srgbClr val="0000ff"/>
                </a:solidFill>
                <a:latin typeface="Courier New"/>
                <a:ea typeface="Courier New"/>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Courier New"/>
                <a:ea typeface="Courier New"/>
              </a:rPr>
              <a:t>        </a:t>
            </a:r>
            <a:r>
              <a:rPr b="0" lang="en-IN" sz="1400" spc="-1" strike="noStrike">
                <a:solidFill>
                  <a:srgbClr val="0000ff"/>
                </a:solidFill>
                <a:latin typeface="Courier New"/>
                <a:ea typeface="Courier New"/>
              </a:rPr>
              <a:t>.</a:t>
            </a:r>
            <a:r>
              <a:rPr b="0" lang="en-IN" sz="1400" spc="-1" strike="noStrike" u="sng">
                <a:solidFill>
                  <a:srgbClr val="0000ff"/>
                </a:solidFill>
                <a:uFillTx/>
                <a:latin typeface="Courier New"/>
                <a:ea typeface="Courier New"/>
                <a:hlinkClick r:id="rId8"/>
              </a:rPr>
              <a:t>probe</a:t>
            </a:r>
            <a:r>
              <a:rPr b="0" lang="en-IN" sz="1400" spc="-1" strike="noStrike">
                <a:solidFill>
                  <a:srgbClr val="0000ff"/>
                </a:solidFill>
                <a:latin typeface="Courier New"/>
                <a:ea typeface="Courier New"/>
              </a:rPr>
              <a:t>        = </a:t>
            </a:r>
            <a:r>
              <a:rPr b="0" lang="en-IN" sz="1400" spc="-1" strike="noStrike" u="sng">
                <a:solidFill>
                  <a:srgbClr val="0000ff"/>
                </a:solidFill>
                <a:uFillTx/>
                <a:latin typeface="Courier New"/>
                <a:ea typeface="Courier New"/>
                <a:hlinkClick r:id="rId9"/>
              </a:rPr>
              <a:t>cp_init_one</a:t>
            </a:r>
            <a:r>
              <a:rPr b="0" lang="en-IN" sz="1400" spc="-1" strike="noStrike">
                <a:solidFill>
                  <a:srgbClr val="0000ff"/>
                </a:solidFill>
                <a:latin typeface="Courier New"/>
                <a:ea typeface="Courier New"/>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Courier New"/>
                <a:ea typeface="Courier New"/>
              </a:rPr>
              <a:t>        </a:t>
            </a:r>
            <a:r>
              <a:rPr b="0" lang="en-IN" sz="1400" spc="-1" strike="noStrike">
                <a:solidFill>
                  <a:srgbClr val="0000ff"/>
                </a:solidFill>
                <a:latin typeface="Courier New"/>
                <a:ea typeface="Courier New"/>
              </a:rPr>
              <a:t>.</a:t>
            </a:r>
            <a:r>
              <a:rPr b="0" lang="en-IN" sz="1400" spc="-1" strike="noStrike" u="sng">
                <a:solidFill>
                  <a:srgbClr val="0000ff"/>
                </a:solidFill>
                <a:uFillTx/>
                <a:latin typeface="Courier New"/>
                <a:ea typeface="Courier New"/>
                <a:hlinkClick r:id="rId10"/>
              </a:rPr>
              <a:t>remove</a:t>
            </a:r>
            <a:r>
              <a:rPr b="0" lang="en-IN" sz="1400" spc="-1" strike="noStrike">
                <a:solidFill>
                  <a:srgbClr val="0000ff"/>
                </a:solidFill>
                <a:latin typeface="Courier New"/>
                <a:ea typeface="Courier New"/>
              </a:rPr>
              <a:t>       = </a:t>
            </a:r>
            <a:r>
              <a:rPr b="0" lang="en-IN" sz="1400" spc="-1" strike="noStrike" u="sng">
                <a:solidFill>
                  <a:srgbClr val="0000ff"/>
                </a:solidFill>
                <a:uFillTx/>
                <a:latin typeface="Courier New"/>
                <a:ea typeface="Courier New"/>
                <a:hlinkClick r:id="rId11"/>
              </a:rPr>
              <a:t>cp_remove_one</a:t>
            </a:r>
            <a:r>
              <a:rPr b="0" lang="en-IN" sz="1400" spc="-1" strike="noStrike">
                <a:solidFill>
                  <a:srgbClr val="0000ff"/>
                </a:solidFill>
                <a:latin typeface="Courier New"/>
                <a:ea typeface="Courier New"/>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Courier New"/>
                <a:ea typeface="Courier New"/>
              </a:rPr>
              <a:t>        </a:t>
            </a:r>
            <a:r>
              <a:rPr b="0" lang="en-IN" sz="1400" spc="-1" strike="noStrike">
                <a:solidFill>
                  <a:srgbClr val="0000ff"/>
                </a:solidFill>
                <a:latin typeface="Courier New"/>
                <a:ea typeface="Courier New"/>
              </a:rPr>
              <a:t>.driver.</a:t>
            </a:r>
            <a:r>
              <a:rPr b="0" lang="en-IN" sz="1400" spc="-1" strike="noStrike" u="sng">
                <a:solidFill>
                  <a:srgbClr val="0000ff"/>
                </a:solidFill>
                <a:uFillTx/>
                <a:latin typeface="Courier New"/>
                <a:ea typeface="Courier New"/>
                <a:hlinkClick r:id="rId12"/>
              </a:rPr>
              <a:t>pm</a:t>
            </a:r>
            <a:r>
              <a:rPr b="0" lang="en-IN" sz="1400" spc="-1" strike="noStrike">
                <a:solidFill>
                  <a:srgbClr val="0000ff"/>
                </a:solidFill>
                <a:latin typeface="Courier New"/>
                <a:ea typeface="Courier New"/>
              </a:rPr>
              <a:t>    = &amp;cp_pm_ops,</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Courier New"/>
                <a:ea typeface="Courier New"/>
              </a:rPr>
              <a:t>};</a:t>
            </a:r>
            <a:endParaRPr b="0" lang="en-US" sz="1400" spc="-1" strike="noStrike">
              <a:solidFill>
                <a:srgbClr val="000000"/>
              </a:solidFill>
              <a:latin typeface="Arial"/>
            </a:endParaRPr>
          </a:p>
        </p:txBody>
      </p:sp>
      <p:sp>
        <p:nvSpPr>
          <p:cNvPr id="234" name="CustomShape 12"/>
          <p:cNvSpPr/>
          <p:nvPr/>
        </p:nvSpPr>
        <p:spPr>
          <a:xfrm>
            <a:off x="5256000" y="6192000"/>
            <a:ext cx="3596760" cy="356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u="sng">
                <a:solidFill>
                  <a:srgbClr val="0000ff"/>
                </a:solidFill>
                <a:uFillTx/>
                <a:latin typeface="Courier New"/>
                <a:ea typeface="Courier New"/>
                <a:hlinkClick r:id="rId13"/>
              </a:rPr>
              <a:t>module_platform_driver</a:t>
            </a:r>
            <a:r>
              <a:rPr b="0" lang="en-IN" sz="1000" spc="-1" strike="noStrike">
                <a:solidFill>
                  <a:srgbClr val="0000ff"/>
                </a:solidFill>
                <a:latin typeface="Courier New"/>
                <a:ea typeface="Courier New"/>
              </a:rPr>
              <a:t>(</a:t>
            </a:r>
            <a:r>
              <a:rPr b="0" lang="en-IN" sz="1000" spc="-1" strike="noStrike" u="sng">
                <a:solidFill>
                  <a:srgbClr val="0000ff"/>
                </a:solidFill>
                <a:uFillTx/>
                <a:latin typeface="Courier New"/>
                <a:ea typeface="Courier New"/>
                <a:hlinkClick r:id="rId14"/>
              </a:rPr>
              <a:t>axienet_driver</a:t>
            </a:r>
            <a:r>
              <a:rPr b="0" lang="en-IN" sz="1000" spc="-1" strike="noStrike">
                <a:solidFill>
                  <a:srgbClr val="0000ff"/>
                </a:solidFill>
                <a:latin typeface="Courier New"/>
                <a:ea typeface="Courier New"/>
              </a:rPr>
              <a:t>);</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CustomShape 1"/>
          <p:cNvSpPr/>
          <p:nvPr/>
        </p:nvSpPr>
        <p:spPr>
          <a:xfrm>
            <a:off x="504000" y="30132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PCI initialization</a:t>
            </a:r>
            <a:endParaRPr b="0" lang="en-US" sz="4400" spc="-1" strike="noStrike">
              <a:solidFill>
                <a:srgbClr val="000000"/>
              </a:solidFill>
              <a:latin typeface="Arial"/>
            </a:endParaRPr>
          </a:p>
        </p:txBody>
      </p:sp>
      <p:sp>
        <p:nvSpPr>
          <p:cNvPr id="236" name="CustomShape 2"/>
          <p:cNvSpPr/>
          <p:nvPr/>
        </p:nvSpPr>
        <p:spPr>
          <a:xfrm>
            <a:off x="71280" y="936000"/>
            <a:ext cx="10077480" cy="22683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400" spc="-1" strike="noStrike">
                <a:solidFill>
                  <a:srgbClr val="000000"/>
                </a:solidFill>
                <a:latin typeface="Arial"/>
                <a:ea typeface="DejaVu Sans"/>
              </a:rPr>
              <a:t>The Intel I350 and Realtek network cards are   </a:t>
            </a:r>
            <a:r>
              <a:rPr b="0" lang="en-IN" sz="1400" spc="-1" strike="noStrike" u="sng">
                <a:solidFill>
                  <a:srgbClr val="0000ff"/>
                </a:solidFill>
                <a:uFillTx/>
                <a:latin typeface="Arial"/>
                <a:ea typeface="DejaVu Sans"/>
                <a:hlinkClick r:id="rId1"/>
              </a:rPr>
              <a:t>PCI express</a:t>
            </a:r>
            <a:r>
              <a:rPr b="0" lang="en-IN" sz="1400" spc="-1" strike="noStrike">
                <a:solidFill>
                  <a:srgbClr val="0000ff"/>
                </a:solidFill>
                <a:latin typeface="Arial"/>
                <a:ea typeface="DejaVu Sans"/>
              </a:rPr>
              <a:t>. PCI devices identify themselves with a series of registers in the </a:t>
            </a:r>
            <a:r>
              <a:rPr b="0" lang="en-IN" sz="1400" spc="-1" strike="noStrike" u="sng">
                <a:solidFill>
                  <a:srgbClr val="0000ff"/>
                </a:solidFill>
                <a:uFillTx/>
                <a:latin typeface="Arial"/>
                <a:ea typeface="DejaVu Sans"/>
                <a:hlinkClick r:id="rId2"/>
              </a:rPr>
              <a:t>PCI Configuration Space</a:t>
            </a: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When a device driver is compiled, a macro named MODULE_DEVICE_TABLE (from </a:t>
            </a:r>
            <a:r>
              <a:rPr b="0" lang="en-IN" sz="1400" spc="-1" strike="noStrike" u="sng">
                <a:solidFill>
                  <a:srgbClr val="0000ff"/>
                </a:solidFill>
                <a:uFillTx/>
                <a:latin typeface="Arial"/>
                <a:ea typeface="DejaVu Sans"/>
                <a:hlinkClick r:id="rId3"/>
              </a:rPr>
              <a:t>include/module.h</a:t>
            </a:r>
            <a:r>
              <a:rPr b="0" lang="en-IN" sz="1400" spc="-1" strike="noStrike">
                <a:solidFill>
                  <a:srgbClr val="0000ff"/>
                </a:solidFill>
                <a:latin typeface="Arial"/>
                <a:ea typeface="DejaVu Sans"/>
              </a:rPr>
              <a:t>) is used to export a table of PCI device IDs identifying devices that the device driver can control. The table is also registered as part of a structure.The kernel uses this table to determine which device driver to load to control the device.Thats how the OS can figure out which devices are connected to the system and which driver should be used to talk to the device.This table and the PCI device IDs for the igb driver can be found in </a:t>
            </a:r>
            <a:r>
              <a:rPr b="0" lang="en-IN" sz="1400" spc="-1" strike="noStrike" u="sng">
                <a:solidFill>
                  <a:srgbClr val="0000ff"/>
                </a:solidFill>
                <a:uFillTx/>
                <a:latin typeface="Arial"/>
                <a:ea typeface="DejaVu Sans"/>
                <a:hlinkClick r:id="rId4"/>
              </a:rPr>
              <a:t>drivers/net/ethernet/intel/igb/igb_main.c</a:t>
            </a:r>
            <a:r>
              <a:rPr b="0" lang="en-IN" sz="1400" spc="-1" strike="noStrike">
                <a:solidFill>
                  <a:srgbClr val="0000ff"/>
                </a:solidFill>
                <a:latin typeface="Arial"/>
                <a:ea typeface="DejaVu Sans"/>
              </a:rPr>
              <a:t> and </a:t>
            </a:r>
            <a:r>
              <a:rPr b="0" lang="en-IN" sz="1400" spc="-1" strike="noStrike" u="sng">
                <a:solidFill>
                  <a:srgbClr val="0000ff"/>
                </a:solidFill>
                <a:uFillTx/>
                <a:latin typeface="Arial"/>
                <a:ea typeface="DejaVu Sans"/>
                <a:hlinkClick r:id="rId5"/>
              </a:rPr>
              <a:t>drivers/net/ethernet/intel/igb/e1000_hw.h</a:t>
            </a:r>
            <a:r>
              <a:rPr b="0" lang="en-IN" sz="1400" spc="-1" strike="noStrike">
                <a:solidFill>
                  <a:srgbClr val="0000ff"/>
                </a:solidFill>
                <a:latin typeface="Arial"/>
                <a:ea typeface="DejaVu Sans"/>
              </a:rPr>
              <a:t>, respectively: Similary PCI device id for realtek card can be found in https://elixir.bootlin.com/linux/v6.3.2/source/drivers/net/ethernet/realtek/8139cp.c</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graphicFrame>
        <p:nvGraphicFramePr>
          <p:cNvPr id="237" name="Table 3"/>
          <p:cNvGraphicFramePr/>
          <p:nvPr/>
        </p:nvGraphicFramePr>
        <p:xfrm>
          <a:off x="61920" y="2920320"/>
          <a:ext cx="9464040" cy="3834000"/>
        </p:xfrm>
        <a:graphic>
          <a:graphicData uri="http://schemas.openxmlformats.org/drawingml/2006/table">
            <a:tbl>
              <a:tblPr/>
              <a:tblGrid>
                <a:gridCol w="4824360"/>
                <a:gridCol w="4640040"/>
              </a:tblGrid>
              <a:tr h="1692360">
                <a:tc>
                  <a:txBody>
                    <a:bodyPr lIns="90000" rIns="90000" anchor="t">
                      <a:noAutofit/>
                    </a:bodyPr>
                    <a:p>
                      <a:pPr>
                        <a:lnSpc>
                          <a:spcPct val="100000"/>
                        </a:lnSpc>
                      </a:pPr>
                      <a:r>
                        <a:rPr b="0" lang="en-IN" sz="1400" spc="-1" strike="noStrike">
                          <a:solidFill>
                            <a:srgbClr val="000000"/>
                          </a:solidFill>
                          <a:latin typeface="Arial"/>
                          <a:ea typeface="DejaVu Sans"/>
                        </a:rPr>
                        <a:t>static const struct </a:t>
                      </a:r>
                      <a:r>
                        <a:rPr b="0" lang="en-IN" sz="1400" spc="-1" strike="noStrike" u="sng">
                          <a:solidFill>
                            <a:srgbClr val="0000ff"/>
                          </a:solidFill>
                          <a:uFillTx/>
                          <a:latin typeface="Arial"/>
                          <a:ea typeface="DejaVu Sans"/>
                          <a:hlinkClick r:id="rId6"/>
                        </a:rPr>
                        <a:t>pci_device_id</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7"/>
                        </a:rPr>
                        <a:t>igb_pci_tbl</a:t>
                      </a:r>
                      <a:r>
                        <a:rPr b="0" lang="en-IN" sz="1400" spc="-1" strike="noStrike">
                          <a:solidFill>
                            <a:srgbClr val="0000ff"/>
                          </a:solidFill>
                          <a:latin typeface="Arial"/>
                          <a:ea typeface="DejaVu Sans"/>
                        </a:rPr>
                        <a:t>[] = {</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8"/>
                        </a:rPr>
                        <a:t>PCI_VDEVICE</a:t>
                      </a:r>
                      <a:r>
                        <a:rPr b="0" lang="en-IN" sz="1400" spc="-1" strike="noStrike">
                          <a:solidFill>
                            <a:srgbClr val="0000ff"/>
                          </a:solidFill>
                          <a:latin typeface="Arial"/>
                          <a:ea typeface="DejaVu Sans"/>
                        </a:rPr>
                        <a:t>(</a:t>
                      </a:r>
                      <a:r>
                        <a:rPr b="0" lang="en-IN" sz="1400" spc="-1" strike="noStrike" u="sng">
                          <a:solidFill>
                            <a:srgbClr val="0000ff"/>
                          </a:solidFill>
                          <a:uFillTx/>
                          <a:latin typeface="Arial"/>
                          <a:ea typeface="DejaVu Sans"/>
                          <a:hlinkClick r:id="rId9"/>
                        </a:rPr>
                        <a:t>INTEL</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10"/>
                        </a:rPr>
                        <a:t>E1000_DEV_ID_I354_BACKPLANE_1GBPS</a:t>
                      </a:r>
                      <a:r>
                        <a:rPr b="0" lang="en-IN" sz="1400" spc="-1" strike="noStrike">
                          <a:solidFill>
                            <a:srgbClr val="0000ff"/>
                          </a:solidFill>
                          <a:latin typeface="Arial"/>
                          <a:ea typeface="DejaVu Sans"/>
                        </a:rPr>
                        <a:t>) },</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11"/>
                        </a:rPr>
                        <a:t>PCI_VDEVICE</a:t>
                      </a:r>
                      <a:r>
                        <a:rPr b="0" lang="en-IN" sz="1400" spc="-1" strike="noStrike">
                          <a:solidFill>
                            <a:srgbClr val="0000ff"/>
                          </a:solidFill>
                          <a:latin typeface="Arial"/>
                          <a:ea typeface="DejaVu Sans"/>
                        </a:rPr>
                        <a:t>(</a:t>
                      </a:r>
                      <a:r>
                        <a:rPr b="0" lang="en-IN" sz="1400" spc="-1" strike="noStrike" u="sng">
                          <a:solidFill>
                            <a:srgbClr val="0000ff"/>
                          </a:solidFill>
                          <a:uFillTx/>
                          <a:latin typeface="Arial"/>
                          <a:ea typeface="DejaVu Sans"/>
                          <a:hlinkClick r:id="rId12"/>
                        </a:rPr>
                        <a:t>INTEL</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13"/>
                        </a:rPr>
                        <a:t>E1000_DEV_ID_I354_SGMII</a:t>
                      </a:r>
                      <a:r>
                        <a:rPr b="0" lang="en-IN" sz="1400" spc="-1" strike="noStrike">
                          <a:solidFill>
                            <a:srgbClr val="0000ff"/>
                          </a:solidFill>
                          <a:latin typeface="Arial"/>
                          <a:ea typeface="DejaVu Sans"/>
                        </a:rPr>
                        <a:t>) },</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14"/>
                        </a:rPr>
                        <a:t>PCI_VDEVICE</a:t>
                      </a:r>
                      <a:r>
                        <a:rPr b="0" lang="en-IN" sz="1400" spc="-1" strike="noStrike">
                          <a:solidFill>
                            <a:srgbClr val="0000ff"/>
                          </a:solidFill>
                          <a:latin typeface="Arial"/>
                          <a:ea typeface="DejaVu Sans"/>
                        </a:rPr>
                        <a:t>(</a:t>
                      </a:r>
                      <a:r>
                        <a:rPr b="0" lang="en-IN" sz="1400" spc="-1" strike="noStrike" u="sng">
                          <a:solidFill>
                            <a:srgbClr val="0000ff"/>
                          </a:solidFill>
                          <a:uFillTx/>
                          <a:latin typeface="Arial"/>
                          <a:ea typeface="DejaVu Sans"/>
                          <a:hlinkClick r:id="rId15"/>
                        </a:rPr>
                        <a:t>INTEL</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16"/>
                        </a:rPr>
                        <a:t>E1000_DEV_ID_I354_BACKPLANE_2_5GBPS</a:t>
                      </a:r>
                      <a:r>
                        <a:rPr b="0" lang="en-IN" sz="1400" spc="-1" strike="noStrike">
                          <a:solidFill>
                            <a:srgbClr val="0000ff"/>
                          </a:solidFill>
                          <a:latin typeface="Arial"/>
                          <a:ea typeface="DejaVu Sans"/>
                        </a:rPr>
                        <a:t>) },</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u="sng">
                          <a:solidFill>
                            <a:srgbClr val="0000ff"/>
                          </a:solidFill>
                          <a:uFillTx/>
                          <a:latin typeface="Arial"/>
                          <a:ea typeface="DejaVu Sans"/>
                          <a:hlinkClick r:id="rId17"/>
                        </a:rPr>
                        <a:t>MODULE_DEVICE_TABLE</a:t>
                      </a:r>
                      <a:r>
                        <a:rPr b="0" lang="en-IN" sz="1400" spc="-1" strike="noStrike">
                          <a:solidFill>
                            <a:srgbClr val="0000ff"/>
                          </a:solidFill>
                          <a:latin typeface="Arial"/>
                          <a:ea typeface="DejaVu Sans"/>
                        </a:rPr>
                        <a:t>(</a:t>
                      </a:r>
                      <a:r>
                        <a:rPr b="0" lang="en-IN" sz="1400" spc="-1" strike="noStrike" u="sng">
                          <a:solidFill>
                            <a:srgbClr val="0000ff"/>
                          </a:solidFill>
                          <a:uFillTx/>
                          <a:latin typeface="Arial"/>
                          <a:ea typeface="DejaVu Sans"/>
                          <a:hlinkClick r:id="rId18"/>
                        </a:rPr>
                        <a:t>pci</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19"/>
                        </a:rPr>
                        <a:t>igb_pci_tbl</a:t>
                      </a:r>
                      <a:r>
                        <a:rPr b="0" lang="en-IN" sz="1400" spc="-1" strike="noStrike">
                          <a:solidFill>
                            <a:srgbClr val="0000ff"/>
                          </a:solidFill>
                          <a:latin typeface="Arial"/>
                          <a:ea typeface="DejaVu Sans"/>
                        </a:rPr>
                        <a:t>);</a:t>
                      </a:r>
                      <a:endParaRPr b="0" lang="en-US" sz="14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0" lang="en-IN" sz="1400" spc="-1" strike="noStrike">
                          <a:solidFill>
                            <a:srgbClr val="000000"/>
                          </a:solidFill>
                          <a:latin typeface="Arial"/>
                          <a:ea typeface="DejaVu Sans"/>
                        </a:rPr>
                        <a:t>static const struct pci_device_id cp_pci_tbl[] =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PCI_DEVICE(PCI_VENDOR_ID_REALTEK,   PCI_DEVICE_ID_REALTEK_8139),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 PCI_DEVICE(PCI_VENDOR_ID_TTTECH,      PCI_DEVICE_ID_TTTECH_MC322),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MODULE_DEVICE_TABLE(pci, cp_pci_tbl);</a:t>
                      </a:r>
                      <a:endParaRPr b="0" lang="en-US" sz="14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2141640">
                <a:tc gridSpan="2">
                  <a:txBody>
                    <a:bodyPr lIns="90000" rIns="90000" anchor="t">
                      <a:noAutofit/>
                    </a:bodyPr>
                    <a:p>
                      <a:pPr>
                        <a:lnSpc>
                          <a:spcPct val="100000"/>
                        </a:lnSpc>
                      </a:pPr>
                      <a:r>
                        <a:rPr b="0" lang="en-IN" sz="1800" spc="-1" strike="noStrike">
                          <a:solidFill>
                            <a:srgbClr val="000000"/>
                          </a:solidFill>
                          <a:latin typeface="Arial"/>
                        </a:rPr>
                        <a:t>Xilinx Platform Ethernet driver, will bind according to Device tree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Match table for  of_platform binding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static const struct of_device_id axienet_of_match[]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 .compatible = "xlnx,axi-ethernet-1.00.a",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 .compatible = "xlnx,axi-ethernet-1.01.a",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 .compatible = "xlnx,axi-ethernet-2.01.a",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MODULE_DEVICE_TABLE(of, axienet_of_match);</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CustomShape 1"/>
          <p:cNvSpPr/>
          <p:nvPr/>
        </p:nvSpPr>
        <p:spPr>
          <a:xfrm>
            <a:off x="504000" y="301320"/>
            <a:ext cx="9068400" cy="63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aphicFrame>
        <p:nvGraphicFramePr>
          <p:cNvPr id="239" name="Table 2"/>
          <p:cNvGraphicFramePr/>
          <p:nvPr/>
        </p:nvGraphicFramePr>
        <p:xfrm>
          <a:off x="-60840" y="1050840"/>
          <a:ext cx="9916560" cy="5816880"/>
        </p:xfrm>
        <a:graphic>
          <a:graphicData uri="http://schemas.openxmlformats.org/drawingml/2006/table">
            <a:tbl>
              <a:tblPr/>
              <a:tblGrid>
                <a:gridCol w="4957920"/>
                <a:gridCol w="4959000"/>
              </a:tblGrid>
              <a:tr h="2653560">
                <a:tc>
                  <a:txBody>
                    <a:bodyPr lIns="90000" rIns="90000" anchor="t">
                      <a:noAutofit/>
                    </a:bodyPr>
                    <a:p>
                      <a:pPr>
                        <a:lnSpc>
                          <a:spcPct val="100000"/>
                        </a:lnSpc>
                      </a:pPr>
                      <a:r>
                        <a:rPr b="0" lang="en-IN" sz="1800" spc="-1" strike="noStrike">
                          <a:solidFill>
                            <a:srgbClr val="000000"/>
                          </a:solidFill>
                          <a:latin typeface="Arial"/>
                        </a:rPr>
                        <a:t>static struct pci_driver igb_driver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.name     = igb_driver_name,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1" lang="en-IN" sz="1800" spc="-1" strike="noStrike">
                          <a:solidFill>
                            <a:srgbClr val="000000"/>
                          </a:solidFill>
                          <a:latin typeface="Arial"/>
                        </a:rPr>
                        <a:t>.id_table = igb_pci_tbl,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.probe    = igb_probe,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.remove   = igb_remove,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.shutdown = igb_shutdown,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.sriov_configure = igb_pci_sriov_configure,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.err_handler = &amp;igb_err_handler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0" lang="en-IN" sz="1800" spc="-1" strike="noStrike">
                          <a:solidFill>
                            <a:srgbClr val="000000"/>
                          </a:solidFill>
                          <a:latin typeface="Arial"/>
                        </a:rPr>
                        <a:t>static struct pci_driver cp_driver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.name         = DRV_NAME,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.id_table     = </a:t>
                      </a:r>
                      <a:r>
                        <a:rPr b="1" lang="en-IN" sz="1800" spc="-1" strike="noStrike">
                          <a:solidFill>
                            <a:srgbClr val="000000"/>
                          </a:solidFill>
                          <a:latin typeface="Arial"/>
                        </a:rPr>
                        <a:t>cp_pci_tbl,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.probe        =</a:t>
                      </a:r>
                      <a:r>
                        <a:rPr b="0" lang="en-IN" sz="1800" spc="-1" strike="noStrike">
                          <a:solidFill>
                            <a:srgbClr val="000000"/>
                          </a:solidFill>
                          <a:latin typeface="Arial"/>
                        </a:rPr>
                        <a:t>	</a:t>
                      </a:r>
                      <a:r>
                        <a:rPr b="0" lang="en-IN" sz="1800" spc="-1" strike="noStrike">
                          <a:solidFill>
                            <a:srgbClr val="000000"/>
                          </a:solidFill>
                          <a:latin typeface="Arial"/>
                        </a:rPr>
                        <a:t>cp_init_one,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.remove       = cp_remove_one,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.driver.pm    = &amp;cp_pm_ops,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720000">
                <a:tc gridSpan="2">
                  <a:txBody>
                    <a:bodyPr lIns="90000" rIns="90000" anchor="t">
                      <a:noAutofit/>
                    </a:bodyPr>
                    <a:p>
                      <a:pPr>
                        <a:lnSpc>
                          <a:spcPct val="100000"/>
                        </a:lnSpc>
                      </a:pPr>
                      <a:r>
                        <a:rPr b="0" lang="en-IN" sz="1800" spc="-1" strike="noStrike">
                          <a:solidFill>
                            <a:srgbClr val="000000"/>
                          </a:solidFill>
                          <a:latin typeface="Arial"/>
                        </a:rPr>
                        <a:t>Xilinx AXI Ethernet driver probe will happen with device tree match node </a:t>
                      </a:r>
                      <a:r>
                        <a:rPr b="1" lang="en-IN" sz="1800" spc="-1" strike="noStrike">
                          <a:solidFill>
                            <a:srgbClr val="000000"/>
                          </a:solidFill>
                          <a:latin typeface="Arial"/>
                        </a:rPr>
                        <a:t>“.compatible”</a:t>
                      </a:r>
                      <a:r>
                        <a:rPr b="0" lang="en-IN" sz="1800" spc="-1" strike="noStrike">
                          <a:solidFill>
                            <a:srgbClr val="000000"/>
                          </a:solidFill>
                          <a:latin typeface="Arial"/>
                        </a:rPr>
                        <a:t> string.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static struct platform_driver axienet_driver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.probe = axienet_probe,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.remove = axienet_remove,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.shutdown = axienet_shutdown,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.driver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	</a:t>
                      </a:r>
                      <a:r>
                        <a:rPr b="0" lang="en-IN" sz="1800" spc="-1" strike="noStrike">
                          <a:solidFill>
                            <a:srgbClr val="000000"/>
                          </a:solidFill>
                          <a:latin typeface="Arial"/>
                        </a:rPr>
                        <a:t> </a:t>
                      </a:r>
                      <a:r>
                        <a:rPr b="0" lang="en-IN" sz="1800" spc="-1" strike="noStrike">
                          <a:solidFill>
                            <a:srgbClr val="000000"/>
                          </a:solidFill>
                          <a:latin typeface="Arial"/>
                        </a:rPr>
                        <a:t>.name = "xilinx_axienet",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	</a:t>
                      </a:r>
                      <a:r>
                        <a:rPr b="0" lang="en-IN" sz="1800" spc="-1" strike="noStrike">
                          <a:solidFill>
                            <a:srgbClr val="000000"/>
                          </a:solidFill>
                          <a:latin typeface="Arial"/>
                        </a:rPr>
                        <a:t> </a:t>
                      </a:r>
                      <a:r>
                        <a:rPr b="0" lang="en-IN" sz="1800" spc="-1" strike="noStrike">
                          <a:solidFill>
                            <a:srgbClr val="000000"/>
                          </a:solidFill>
                          <a:latin typeface="Arial"/>
                        </a:rPr>
                        <a:t>.pm = &amp;axienet_pm_ops,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	</a:t>
                      </a:r>
                      <a:r>
                        <a:rPr b="0" lang="en-IN" sz="1800" spc="-1" strike="noStrike">
                          <a:solidFill>
                            <a:srgbClr val="000000"/>
                          </a:solidFill>
                          <a:latin typeface="Arial"/>
                        </a:rPr>
                        <a:t> </a:t>
                      </a:r>
                      <a:r>
                        <a:rPr b="0" lang="en-IN" sz="1800" spc="-1" strike="noStrike">
                          <a:solidFill>
                            <a:srgbClr val="000000"/>
                          </a:solidFill>
                          <a:latin typeface="Arial"/>
                        </a:rPr>
                        <a:t>.</a:t>
                      </a:r>
                      <a:r>
                        <a:rPr b="1" lang="en-IN" sz="1800" spc="-1" strike="noStrike">
                          <a:solidFill>
                            <a:srgbClr val="000000"/>
                          </a:solidFill>
                          <a:latin typeface="Arial"/>
                        </a:rPr>
                        <a:t>of_match_table = axienet_of_match,</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CustomShape 1"/>
          <p:cNvSpPr/>
          <p:nvPr/>
        </p:nvSpPr>
        <p:spPr>
          <a:xfrm>
            <a:off x="504000" y="30132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PCI probe</a:t>
            </a:r>
            <a:endParaRPr b="0" lang="en-US" sz="4400" spc="-1" strike="noStrike">
              <a:solidFill>
                <a:srgbClr val="000000"/>
              </a:solidFill>
              <a:latin typeface="Arial"/>
            </a:endParaRPr>
          </a:p>
        </p:txBody>
      </p:sp>
      <p:sp>
        <p:nvSpPr>
          <p:cNvPr id="241" name="CustomShape 2"/>
          <p:cNvSpPr/>
          <p:nvPr/>
        </p:nvSpPr>
        <p:spPr>
          <a:xfrm>
            <a:off x="720" y="901800"/>
            <a:ext cx="10155240" cy="4036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Once a device has been identified by its PCI IDs, the kernel can then select the proper driver to use to control the device. Each PCI driver registers a probe function with the PCI system in the kernel. The kernel calls this function for devices which have not yet been claimed by a device driver. Once a device is claimed, other drivers will not be asked about the device. Most drivers have a lot of code that runs to get the device ready for use. The exact things done vary from driver to driver.Some typical operations to perform include: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1. Enabling the PCI device.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2. Requesting memory ranges and </a:t>
            </a:r>
            <a:r>
              <a:rPr b="0" lang="en-IN" sz="1200" spc="-1" strike="noStrike" u="sng">
                <a:solidFill>
                  <a:srgbClr val="0000ff"/>
                </a:solidFill>
                <a:uFillTx/>
                <a:latin typeface="Arial"/>
                <a:ea typeface="DejaVu Sans"/>
                <a:hlinkClick r:id="rId1"/>
              </a:rPr>
              <a:t>IO ports</a:t>
            </a:r>
            <a:r>
              <a:rPr b="0" lang="en-IN" sz="1200" spc="-1" strike="noStrike">
                <a:solidFill>
                  <a:srgbClr val="0000ff"/>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3. Setting the </a:t>
            </a:r>
            <a:r>
              <a:rPr b="0" lang="en-IN" sz="1200" spc="-1" strike="noStrike" u="sng">
                <a:solidFill>
                  <a:srgbClr val="0000ff"/>
                </a:solidFill>
                <a:uFillTx/>
                <a:latin typeface="Arial"/>
                <a:ea typeface="DejaVu Sans"/>
                <a:hlinkClick r:id="rId2"/>
              </a:rPr>
              <a:t>DMA</a:t>
            </a:r>
            <a:r>
              <a:rPr b="0" lang="en-IN" sz="1200" spc="-1" strike="noStrike">
                <a:solidFill>
                  <a:srgbClr val="0000ff"/>
                </a:solidFill>
                <a:latin typeface="Arial"/>
                <a:ea typeface="DejaVu Sans"/>
              </a:rPr>
              <a:t> mask.</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4. The ethtool functions the driver supports are registered.</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5. Any watchdog tasks needed (for example, e1000e has a watchdog task to check if the hardware is hung). Other device specific stuff like workarounds or dealing with hardware specific quirks or similar.</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6. The creation, initialization, and registration of a </a:t>
            </a:r>
            <a:r>
              <a:rPr b="1" lang="en-IN" sz="1200" spc="-1" strike="noStrike">
                <a:solidFill>
                  <a:srgbClr val="0000ff"/>
                </a:solidFill>
                <a:latin typeface="Arial"/>
                <a:ea typeface="DejaVu Sans"/>
              </a:rPr>
              <a:t>struct net_device_ops</a:t>
            </a:r>
            <a:r>
              <a:rPr b="0" lang="en-IN" sz="1200" spc="-1" strike="noStrike">
                <a:solidFill>
                  <a:srgbClr val="0000ff"/>
                </a:solidFill>
                <a:latin typeface="Arial"/>
                <a:ea typeface="DejaVu Sans"/>
              </a:rPr>
              <a:t> structure. This structure contains function pointers to the various functions needed for opening the device, sending data to the network, setting the MAC address, and more.</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7. The creation, initialization, and registration of a high level </a:t>
            </a:r>
            <a:r>
              <a:rPr b="1" lang="en-IN" sz="1200" spc="-1" strike="noStrike">
                <a:solidFill>
                  <a:srgbClr val="0000ff"/>
                </a:solidFill>
                <a:latin typeface="Arial"/>
                <a:ea typeface="DejaVu Sans"/>
              </a:rPr>
              <a:t>struct net_device</a:t>
            </a:r>
            <a:r>
              <a:rPr b="0" lang="en-IN" sz="1200" spc="-1" strike="noStrike">
                <a:solidFill>
                  <a:srgbClr val="0000ff"/>
                </a:solidFill>
                <a:latin typeface="Arial"/>
                <a:ea typeface="DejaVu Sans"/>
              </a:rPr>
              <a:t> which represents a network device.</a:t>
            </a:r>
            <a:endParaRPr b="0" lang="en-US" sz="1200" spc="-1" strike="noStrike">
              <a:solidFill>
                <a:srgbClr val="000000"/>
              </a:solidFill>
              <a:latin typeface="Arial"/>
            </a:endParaRPr>
          </a:p>
          <a:p>
            <a:pPr>
              <a:lnSpc>
                <a:spcPct val="100000"/>
              </a:lnSpc>
            </a:pPr>
            <a:r>
              <a:rPr b="1" lang="en-IN" sz="1200" spc="-1" strike="noStrike">
                <a:solidFill>
                  <a:srgbClr val="0000ff"/>
                </a:solidFill>
                <a:latin typeface="Arial"/>
                <a:ea typeface="DejaVu Sans"/>
              </a:rPr>
              <a:t>The following code from the igb_probe function and cp_init_one function does some basic PCI configuration.</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graphicFrame>
        <p:nvGraphicFramePr>
          <p:cNvPr id="242" name="Table 3"/>
          <p:cNvGraphicFramePr/>
          <p:nvPr/>
        </p:nvGraphicFramePr>
        <p:xfrm>
          <a:off x="75600" y="4586400"/>
          <a:ext cx="9970200" cy="2907360"/>
        </p:xfrm>
        <a:graphic>
          <a:graphicData uri="http://schemas.openxmlformats.org/drawingml/2006/table">
            <a:tbl>
              <a:tblPr/>
              <a:tblGrid>
                <a:gridCol w="5554800"/>
                <a:gridCol w="4415760"/>
              </a:tblGrid>
              <a:tr h="2406600">
                <a:tc>
                  <a:txBody>
                    <a:bodyPr lIns="90000" rIns="90000" anchor="t">
                      <a:noAutofit/>
                    </a:bodyPr>
                    <a:p>
                      <a:pPr>
                        <a:lnSpc>
                          <a:spcPct val="100000"/>
                        </a:lnSpc>
                      </a:pPr>
                      <a:r>
                        <a:rPr b="0" lang="en-IN" sz="1800" spc="-1" strike="noStrike">
                          <a:solidFill>
                            <a:srgbClr val="000000"/>
                          </a:solidFill>
                          <a:latin typeface="Arial"/>
                        </a:rPr>
                        <a:t>err = pci_enable_device_mem(pdev);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err = dma_set_mask_and_coherent(&amp;pdev-&gt;dev, DMA_BIT_MASK(64));</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err = pci_request_selected_regions(pdev, pci_select_bars(pdev,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IORESOURCE_MEM),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igb_driver_name);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pci_enable_pcie_error_reporting(pdev);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pci_set_master(pdev);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pci_save_state(pdev);</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0" lang="en-IN" sz="1800" spc="-1" strike="noStrike">
                          <a:solidFill>
                            <a:srgbClr val="000000"/>
                          </a:solidFill>
                          <a:latin typeface="Arial"/>
                        </a:rPr>
                        <a:t>rc = pci_enable_device(pdev);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rc = pci_set_mwi(pdev);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rc = pci_request_regions(pdev, DRV_NAME);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pciaddr = pci_resource_start(pdev, 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rc =pci_resource_len(pdev, 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regs = ioremap(pciaddr, CP_REGS_SIZE);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pci_set_drvdata(pdev, 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pci_set_master(pdev);</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CustomShape 1"/>
          <p:cNvSpPr/>
          <p:nvPr/>
        </p:nvSpPr>
        <p:spPr>
          <a:xfrm>
            <a:off x="504000" y="301320"/>
            <a:ext cx="9068400" cy="63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4" name="CustomShape 2"/>
          <p:cNvSpPr/>
          <p:nvPr/>
        </p:nvSpPr>
        <p:spPr>
          <a:xfrm>
            <a:off x="0" y="1050480"/>
            <a:ext cx="9851760" cy="1967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200" spc="-1" strike="noStrike">
                <a:solidFill>
                  <a:srgbClr val="000000"/>
                </a:solidFill>
                <a:latin typeface="Arial"/>
                <a:ea typeface="DejaVu Sans"/>
              </a:rPr>
              <a:t>First, the device is initialized with pci_enable_device_mem. This will wake up the device if it is suspended, enable memory resources, and more. Next, the </a:t>
            </a:r>
            <a:r>
              <a:rPr b="0" lang="en-IN" sz="1200" spc="-1" strike="noStrike" u="sng">
                <a:solidFill>
                  <a:srgbClr val="0000ff"/>
                </a:solidFill>
                <a:uFillTx/>
                <a:latin typeface="Arial"/>
                <a:ea typeface="DejaVu Sans"/>
                <a:hlinkClick r:id="rId1"/>
              </a:rPr>
              <a:t>DMA</a:t>
            </a:r>
            <a:r>
              <a:rPr b="0" lang="en-IN" sz="1200" spc="-1" strike="noStrike">
                <a:solidFill>
                  <a:srgbClr val="0000ff"/>
                </a:solidFill>
                <a:latin typeface="Arial"/>
                <a:ea typeface="DejaVu Sans"/>
              </a:rPr>
              <a:t> mask will be set. This device can read and write to 64bit memory addresses, so dma_set_mask_and_coherent is called with DMA_BIT_MASK(64). </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Memory regions will be reserved with a call to pci_request_selected_regions,  </a:t>
            </a:r>
            <a:r>
              <a:rPr b="0" lang="en-IN" sz="1200" spc="-1" strike="noStrike" u="sng">
                <a:solidFill>
                  <a:srgbClr val="0000ff"/>
                </a:solidFill>
                <a:uFillTx/>
                <a:latin typeface="Arial"/>
                <a:ea typeface="DejaVu Sans"/>
                <a:hlinkClick r:id="rId2"/>
              </a:rPr>
              <a:t>PCI Express Advanced Error Reporting</a:t>
            </a:r>
            <a:r>
              <a:rPr b="0" lang="en-IN" sz="1200" spc="-1" strike="noStrike">
                <a:solidFill>
                  <a:srgbClr val="0000ff"/>
                </a:solidFill>
                <a:latin typeface="Arial"/>
                <a:ea typeface="DejaVu Sans"/>
              </a:rPr>
              <a:t> is enabled (if the PCI AER driver is loaded), DMA is enabled with a call to pci_set_master, and the PCI configuration space is saved with a call to pci_save_state.</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On the other hand platform bus based drivers allocate registger space using below command</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graphicFrame>
        <p:nvGraphicFramePr>
          <p:cNvPr id="245" name="Table 3"/>
          <p:cNvGraphicFramePr/>
          <p:nvPr/>
        </p:nvGraphicFramePr>
        <p:xfrm>
          <a:off x="211680" y="2219040"/>
          <a:ext cx="7592760" cy="1115640"/>
        </p:xfrm>
        <a:graphic>
          <a:graphicData uri="http://schemas.openxmlformats.org/drawingml/2006/table">
            <a:tbl>
              <a:tblPr/>
              <a:tblGrid>
                <a:gridCol w="7593120"/>
              </a:tblGrid>
              <a:tr h="719640">
                <a:tc>
                  <a:txBody>
                    <a:bodyPr lIns="90000" rIns="90000" anchor="t">
                      <a:noAutofit/>
                    </a:bodyPr>
                    <a:p>
                      <a:pPr>
                        <a:lnSpc>
                          <a:spcPct val="100000"/>
                        </a:lnSpc>
                      </a:pPr>
                      <a:r>
                        <a:rPr b="0" lang="en-IN" sz="1200" spc="-1" strike="noStrike">
                          <a:solidFill>
                            <a:srgbClr val="000000"/>
                          </a:solidFill>
                          <a:latin typeface="Arial"/>
                        </a:rPr>
                        <a:t>/* Map device registers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lp-&gt;regs = devm_platform_get_and_ioremap_resource(pdev, 0, &amp;ethres);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if (IS_ERR(lp-&gt;regs))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ret = PTR_ERR(lp-&gt;regs);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goto cleanup_clk;</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bl>
          </a:graphicData>
        </a:graphic>
      </p:graphicFrame>
      <p:sp>
        <p:nvSpPr>
          <p:cNvPr id="246" name="CustomShape 4"/>
          <p:cNvSpPr/>
          <p:nvPr/>
        </p:nvSpPr>
        <p:spPr>
          <a:xfrm>
            <a:off x="178920" y="5029200"/>
            <a:ext cx="9825840" cy="2761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200" spc="-1" strike="noStrike">
                <a:solidFill>
                  <a:srgbClr val="000000"/>
                </a:solidFill>
                <a:latin typeface="Arial"/>
                <a:ea typeface="DejaVu Sans"/>
              </a:rPr>
              <a:t>Network device initialization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a:t>
            </a:r>
            <a:r>
              <a:rPr b="1" lang="en-IN" sz="1200" spc="-1" strike="noStrike">
                <a:solidFill>
                  <a:srgbClr val="000000"/>
                </a:solidFill>
                <a:latin typeface="Arial"/>
                <a:ea typeface="DejaVu Sans"/>
              </a:rPr>
              <a:t>igb_probe/cp_init_one/axienet_probe</a:t>
            </a:r>
            <a:r>
              <a:rPr b="0" lang="en-IN" sz="1200" spc="-1" strike="noStrike">
                <a:solidFill>
                  <a:srgbClr val="000000"/>
                </a:solidFill>
                <a:latin typeface="Arial"/>
                <a:ea typeface="DejaVu Sans"/>
              </a:rPr>
              <a:t> function does some important network device initialization. In addition to the PCI specific work, it will do more general networking and network device work:</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-&gt; The struct net_device_ops is registered.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-&gt; ethtool operations are registered.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-&gt; The default MAC address is obtained from the NIC.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-&gt; net_device feature flags are set.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struct </a:t>
            </a:r>
            <a:r>
              <a:rPr b="1" lang="en-IN" sz="1200" spc="-1" strike="noStrike">
                <a:solidFill>
                  <a:srgbClr val="000000"/>
                </a:solidFill>
                <a:latin typeface="Arial"/>
                <a:ea typeface="DejaVu Sans"/>
              </a:rPr>
              <a:t>net_device_ops </a:t>
            </a:r>
            <a:r>
              <a:rPr b="0" lang="en-IN" sz="1200" spc="-1" strike="noStrike">
                <a:solidFill>
                  <a:srgbClr val="000000"/>
                </a:solidFill>
                <a:latin typeface="Arial"/>
                <a:ea typeface="DejaVu Sans"/>
              </a:rPr>
              <a:t>contains function pointers to lots of important operations that the network subsystem needs to control the device. We’ll be mentioning this structure many times throughout the rest of this post.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47" name=""/>
          <p:cNvSpPr/>
          <p:nvPr/>
        </p:nvSpPr>
        <p:spPr>
          <a:xfrm>
            <a:off x="228600" y="3430080"/>
            <a:ext cx="9599760" cy="1369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alloc_etherdev_mqs() : Allocate a new struct net_device for Ethernet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Sets the number of queues passed as parameters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Creates a default name using the "eth\%d" template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Sets all the Ethernet-specific default parameters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MTU, Header len, Address len, etc</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
          <p:cNvSpPr/>
          <p:nvPr/>
        </p:nvSpPr>
        <p:spPr>
          <a:xfrm>
            <a:off x="685800" y="228600"/>
            <a:ext cx="5941800" cy="45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pc="-1" strike="noStrike">
                <a:solidFill>
                  <a:srgbClr val="000000"/>
                </a:solidFill>
                <a:latin typeface="Arial"/>
                <a:ea typeface="DejaVu Sans"/>
              </a:rPr>
              <a:t>struct net_device_ops</a:t>
            </a:r>
            <a:endParaRPr b="0" lang="en-US" sz="2400" spc="-1" strike="noStrike">
              <a:solidFill>
                <a:srgbClr val="000000"/>
              </a:solidFill>
              <a:latin typeface="Arial"/>
            </a:endParaRPr>
          </a:p>
        </p:txBody>
      </p:sp>
      <p:sp>
        <p:nvSpPr>
          <p:cNvPr id="249" name=""/>
          <p:cNvSpPr/>
          <p:nvPr/>
        </p:nvSpPr>
        <p:spPr>
          <a:xfrm>
            <a:off x="218160" y="1092960"/>
            <a:ext cx="9838800" cy="617076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Call backs that driver exposes to the net core</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Referred to as “NDO”</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Some are on data path, some are on control path</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One is mandatory </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ndo_start_xmit() to transmit data</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Others might be required depending on exposed features</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Specified at init time before registration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static const struct </a:t>
            </a:r>
            <a:r>
              <a:rPr b="0" lang="en-US" sz="1800" spc="-1" strike="noStrike" u="sng">
                <a:solidFill>
                  <a:srgbClr val="0000ff"/>
                </a:solidFill>
                <a:uFillTx/>
                <a:latin typeface="Courier New"/>
                <a:ea typeface="DejaVu Sans"/>
                <a:hlinkClick r:id="rId1"/>
              </a:rPr>
              <a:t>net_device_ops</a:t>
            </a:r>
            <a:r>
              <a:rPr b="0" lang="en-US" sz="1800" spc="-1" strike="noStrike">
                <a:solidFill>
                  <a:srgbClr val="000000"/>
                </a:solidFill>
                <a:latin typeface="Courier New"/>
                <a:ea typeface="DejaVu Sans"/>
              </a:rPr>
              <a:t> </a:t>
            </a:r>
            <a:r>
              <a:rPr b="0" lang="en-US" sz="1800" spc="-1" strike="noStrike" u="sng">
                <a:solidFill>
                  <a:srgbClr val="0000ff"/>
                </a:solidFill>
                <a:uFillTx/>
                <a:latin typeface="Courier New"/>
                <a:ea typeface="DejaVu Sans"/>
                <a:hlinkClick r:id="rId2"/>
              </a:rPr>
              <a:t>rtl_netdev_ops</a:t>
            </a:r>
            <a:r>
              <a:rPr b="0" lang="en-US" sz="1800" spc="-1" strike="noStrike">
                <a:solidFill>
                  <a:srgbClr val="000000"/>
                </a:solidFill>
                <a:latin typeface="Courier New"/>
                <a:ea typeface="DejaVu Sans"/>
              </a:rPr>
              <a:t> =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3"/>
              </a:rPr>
              <a:t>ndo_open</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4"/>
              </a:rPr>
              <a:t>rtl_open</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5"/>
              </a:rPr>
              <a:t>ndo_stop</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6"/>
              </a:rPr>
              <a:t>rtl8169_close</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7"/>
              </a:rPr>
              <a:t>ndo_get_stats64</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8"/>
              </a:rPr>
              <a:t>rtl8169_get_stats64</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9"/>
              </a:rPr>
              <a:t>ndo_start_xmit</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10"/>
              </a:rPr>
              <a:t>rtl8169_start_xmit</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11"/>
              </a:rPr>
              <a:t>ndo_features_check</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12"/>
              </a:rPr>
              <a:t>rtl8169_features_check</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13"/>
              </a:rPr>
              <a:t>ndo_tx_timeout</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14"/>
              </a:rPr>
              <a:t>rtl8169_tx_timeout</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15"/>
              </a:rPr>
              <a:t>ndo_validate_addr</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16"/>
              </a:rPr>
              <a:t>eth_validate_addr</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17"/>
              </a:rPr>
              <a:t>ndo_change_mtu</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18"/>
              </a:rPr>
              <a:t>rtl8169_change_mtu</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19"/>
              </a:rPr>
              <a:t>ndo_fix_features</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20"/>
              </a:rPr>
              <a:t>rtl8169_fix_features</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21"/>
              </a:rPr>
              <a:t>ndo_set_features</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22"/>
              </a:rPr>
              <a:t>rtl8169_set_features</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23"/>
              </a:rPr>
              <a:t>ndo_set_mac_address</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24"/>
              </a:rPr>
              <a:t>rtl_set_mac_address</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25"/>
              </a:rPr>
              <a:t>ndo_eth_ioctl</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26"/>
              </a:rPr>
              <a:t>phy_do_ioctl_running</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        </a:t>
            </a:r>
            <a:r>
              <a:rPr b="0" lang="en-US" sz="1800" spc="-1" strike="noStrike">
                <a:solidFill>
                  <a:srgbClr val="000000"/>
                </a:solidFill>
                <a:latin typeface="Courier New"/>
                <a:ea typeface="DejaVu Sans"/>
              </a:rPr>
              <a:t>.</a:t>
            </a:r>
            <a:r>
              <a:rPr b="0" lang="en-US" sz="1800" spc="-1" strike="noStrike" u="sng">
                <a:solidFill>
                  <a:srgbClr val="0000ff"/>
                </a:solidFill>
                <a:uFillTx/>
                <a:latin typeface="Courier New"/>
                <a:ea typeface="DejaVu Sans"/>
                <a:hlinkClick r:id="rId27"/>
              </a:rPr>
              <a:t>ndo_set_rx_mode</a:t>
            </a:r>
            <a:r>
              <a:rPr b="0" lang="en-US" sz="1800" spc="-1" strike="noStrike">
                <a:solidFill>
                  <a:srgbClr val="000000"/>
                </a:solidFill>
                <a:latin typeface="Courier New"/>
                <a:ea typeface="DejaVu Sans"/>
              </a:rPr>
              <a:t>        = </a:t>
            </a:r>
            <a:r>
              <a:rPr b="0" lang="en-US" sz="1800" spc="-1" strike="noStrike" u="sng">
                <a:solidFill>
                  <a:srgbClr val="0000ff"/>
                </a:solidFill>
                <a:uFillTx/>
                <a:latin typeface="Courier New"/>
                <a:ea typeface="DejaVu Sans"/>
                <a:hlinkClick r:id="rId28"/>
              </a:rPr>
              <a:t>rtl_set_rx_mode</a:t>
            </a: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ourier New"/>
                <a:ea typeface="DejaVu Sans"/>
              </a:rPr>
              <a:t>};</a:t>
            </a:r>
            <a:endParaRPr b="0" lang="en-US" sz="1800" spc="-1" strike="noStrike">
              <a:solidFill>
                <a:srgbClr val="000000"/>
              </a:solidFill>
              <a:latin typeface="Arial"/>
            </a:endParaRPr>
          </a:p>
          <a:p>
            <a:pPr>
              <a:lnSpc>
                <a:spcPct val="100000"/>
              </a:lnSpc>
            </a:pPr>
            <a:r>
              <a:rPr b="1" lang="en-US" sz="1400" spc="-1" strike="noStrike">
                <a:solidFill>
                  <a:srgbClr val="000000"/>
                </a:solidFill>
                <a:latin typeface="Courier New"/>
                <a:ea typeface="Courier New"/>
              </a:rPr>
              <a:t>dev-&gt;</a:t>
            </a:r>
            <a:r>
              <a:rPr b="1" lang="en-US" sz="1400" spc="-1" strike="noStrike" u="sng">
                <a:solidFill>
                  <a:srgbClr val="0000ff"/>
                </a:solidFill>
                <a:uFillTx/>
                <a:latin typeface="Courier New"/>
                <a:ea typeface="Courier New"/>
                <a:hlinkClick r:id="rId29"/>
              </a:rPr>
              <a:t>netdev_ops</a:t>
            </a:r>
            <a:r>
              <a:rPr b="1" lang="en-US" sz="1400" spc="-1" strike="noStrike">
                <a:solidFill>
                  <a:srgbClr val="000000"/>
                </a:solidFill>
                <a:latin typeface="Courier New"/>
                <a:ea typeface="Courier New"/>
              </a:rPr>
              <a:t> = &amp;</a:t>
            </a:r>
            <a:r>
              <a:rPr b="1" lang="en-US" sz="1400" spc="-1" strike="noStrike" u="sng">
                <a:solidFill>
                  <a:srgbClr val="0000ff"/>
                </a:solidFill>
                <a:uFillTx/>
                <a:latin typeface="Courier New"/>
                <a:ea typeface="Courier New"/>
                <a:hlinkClick r:id="rId30"/>
              </a:rPr>
              <a:t>rtl_netdev_ops</a:t>
            </a:r>
            <a:r>
              <a:rPr b="1" lang="en-US" sz="1400" spc="-1" strike="noStrike">
                <a:solidFill>
                  <a:srgbClr val="000000"/>
                </a:solidFill>
                <a:latin typeface="Courier New"/>
                <a:ea typeface="Courier New"/>
              </a:rPr>
              <a:t>;</a:t>
            </a:r>
            <a:br>
              <a:rPr sz="1400"/>
            </a:b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
          <p:cNvSpPr/>
          <p:nvPr/>
        </p:nvSpPr>
        <p:spPr>
          <a:xfrm>
            <a:off x="0" y="914400"/>
            <a:ext cx="9210600" cy="2904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register_netdevice() : Registers the struct net_device, in the netdev-&gt;net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namespace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Allocates the interface index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Makes the device visible from userspace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From this point on, NDOs may be called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Assumes RTNL (Routing Netlink lock) is held.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Sometimes the Network Stack’s Big Kernel Lock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Its scope is slowly getting removed, replaced with more specific locks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.ndo_init is called at that stage, if provided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register_netdev() : Calls register_netdevice() with RTNL held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Used mostly in drivers, as the device driver’s .probe() doesn’t hold RTNL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
          <p:cNvSpPr/>
          <p:nvPr/>
        </p:nvSpPr>
        <p:spPr>
          <a:xfrm>
            <a:off x="685800" y="228600"/>
            <a:ext cx="5941800" cy="45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pc="-1" strike="noStrike">
                <a:solidFill>
                  <a:srgbClr val="000000"/>
                </a:solidFill>
                <a:latin typeface="Arial"/>
                <a:ea typeface="DejaVu Sans"/>
              </a:rPr>
              <a:t>Data Path: struct sk_buff</a:t>
            </a:r>
            <a:endParaRPr b="0" lang="en-US" sz="2400" spc="-1" strike="noStrike">
              <a:solidFill>
                <a:srgbClr val="000000"/>
              </a:solidFill>
              <a:latin typeface="Arial"/>
            </a:endParaRPr>
          </a:p>
        </p:txBody>
      </p:sp>
      <p:pic>
        <p:nvPicPr>
          <p:cNvPr id="252" name="" descr=""/>
          <p:cNvPicPr/>
          <p:nvPr/>
        </p:nvPicPr>
        <p:blipFill>
          <a:blip r:embed="rId1"/>
          <a:stretch/>
        </p:blipFill>
        <p:spPr>
          <a:xfrm>
            <a:off x="248040" y="1256400"/>
            <a:ext cx="3864960" cy="3169800"/>
          </a:xfrm>
          <a:prstGeom prst="rect">
            <a:avLst/>
          </a:prstGeom>
          <a:ln w="0">
            <a:noFill/>
          </a:ln>
        </p:spPr>
      </p:pic>
      <p:sp>
        <p:nvSpPr>
          <p:cNvPr id="253" name=""/>
          <p:cNvSpPr/>
          <p:nvPr/>
        </p:nvSpPr>
        <p:spPr>
          <a:xfrm>
            <a:off x="3944520" y="1044360"/>
            <a:ext cx="5883480" cy="444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struct sk_buff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struct sk_buff *next;       // Next packet in queue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struct sk_buff *prev;       // Previous packet in queue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struct sock *sk;            // Associated socket (if any)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struct net_device *dev;     // Network device (NIC)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unsigned int len;           // Total packet length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unsigned char *head;        // Start of allocated buffer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unsigned char *data;        // Start of actual packet data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unsigned char *tail;        // End of packet data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unsigned char *end;         // End of allocated area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struct timeval timestamp;   // Arrival time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p:txBody>
      </p:sp>
      <p:sp>
        <p:nvSpPr>
          <p:cNvPr id="254" name=""/>
          <p:cNvSpPr/>
          <p:nvPr/>
        </p:nvSpPr>
        <p:spPr>
          <a:xfrm>
            <a:off x="0" y="4344840"/>
            <a:ext cx="5941800" cy="2648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RX Path:</a:t>
            </a:r>
            <a:br>
              <a:rPr sz="1800"/>
            </a:br>
            <a:r>
              <a:rPr b="0" lang="en-US" sz="1800" spc="-1" strike="noStrike">
                <a:solidFill>
                  <a:srgbClr val="000000"/>
                </a:solidFill>
                <a:latin typeface="Arial"/>
                <a:ea typeface="DejaVu Sans"/>
              </a:rPr>
              <a:t>struct sk_buff *skb = netdev_alloc_skb(dev, length);</a:t>
            </a:r>
            <a:br>
              <a:rPr sz="1800"/>
            </a:br>
            <a:r>
              <a:rPr b="0" lang="en-US" sz="1800" spc="-1" strike="noStrike">
                <a:solidFill>
                  <a:srgbClr val="000000"/>
                </a:solidFill>
                <a:latin typeface="Arial"/>
                <a:ea typeface="DejaVu Sans"/>
              </a:rPr>
              <a:t>skb_put_data(skb, data, length); //Fill the data(DMA)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netif_rx(skb); // Pass to network upper layers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TX Path: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dev_queue_xmit(skb);</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p:nvPr/>
        </p:nvSpPr>
        <p:spPr>
          <a:xfrm>
            <a:off x="685800" y="228600"/>
            <a:ext cx="5941800" cy="45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pc="-1" strike="noStrike">
                <a:solidFill>
                  <a:srgbClr val="000000"/>
                </a:solidFill>
                <a:latin typeface="Arial"/>
                <a:ea typeface="DejaVu Sans"/>
              </a:rPr>
              <a:t>NAPI → </a:t>
            </a:r>
            <a:r>
              <a:rPr b="1" lang="en-US" sz="2400" spc="-1" strike="sngStrike">
                <a:solidFill>
                  <a:srgbClr val="000000"/>
                </a:solidFill>
                <a:latin typeface="Arial"/>
                <a:ea typeface="DejaVu Sans"/>
              </a:rPr>
              <a:t>New</a:t>
            </a:r>
            <a:r>
              <a:rPr b="1" lang="en-US" sz="2400" spc="-1" strike="noStrike">
                <a:solidFill>
                  <a:srgbClr val="000000"/>
                </a:solidFill>
                <a:latin typeface="Arial"/>
                <a:ea typeface="DejaVu Sans"/>
              </a:rPr>
              <a:t> API → NAPI</a:t>
            </a:r>
            <a:endParaRPr b="0" lang="en-US" sz="2400" spc="-1" strike="noStrike">
              <a:solidFill>
                <a:srgbClr val="000000"/>
              </a:solidFill>
              <a:latin typeface="Arial"/>
            </a:endParaRPr>
          </a:p>
        </p:txBody>
      </p:sp>
      <p:sp>
        <p:nvSpPr>
          <p:cNvPr id="256" name=""/>
          <p:cNvSpPr/>
          <p:nvPr/>
        </p:nvSpPr>
        <p:spPr>
          <a:xfrm>
            <a:off x="228600" y="1143000"/>
            <a:ext cx="9599400" cy="4183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Processed RX packets in budgeted poll loops after a first packet is received.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NAPI instances are registered through netif_napi_add() passing a poll callback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1. The first RX packet raises interrupt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2. Driver calls napi_schedule() and keeps interrupt disabled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3. The poll callback  of driver called, with a budget of N packets to process at most.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4. Once N or all packets processed, the interrupt is re-enabled.</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spcBef>
                <a:spcPts val="1191"/>
              </a:spcBef>
              <a:spcAft>
                <a:spcPts val="992"/>
              </a:spcAft>
            </a:pPr>
            <a:endParaRPr b="0" lang="en-US" sz="10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257" name=""/>
          <p:cNvSpPr/>
          <p:nvPr/>
        </p:nvSpPr>
        <p:spPr>
          <a:xfrm>
            <a:off x="228600" y="3092040"/>
            <a:ext cx="9635760" cy="2392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NAPI does not stand for New API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 was new in Linux v2.4, today NAPI means NAPI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Designed to avoid interrupt interference, as traffic often occurs in bursts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first packet of a burst is handled through interrupt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interrupt stays disabled, each subsequent packet is pulled using polling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polling stops when the budget is exhausted (by default, 50 packets)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driver must then re-enable the interrupts for further processing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
          <p:cNvSpPr/>
          <p:nvPr/>
        </p:nvSpPr>
        <p:spPr>
          <a:xfrm>
            <a:off x="0" y="914400"/>
            <a:ext cx="10190520" cy="264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Run in softirq context, can be switched into threads.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Also works for TX, for processing TX completions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NAPI is not a batch processing mechanism, which is achievable through interrupt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Coalescing . Interrupt coalescing is a performance optimization where hardware groups multiple      events into a single interrupt instead of interrupting the CPU for every event. </a:t>
            </a:r>
            <a:br>
              <a:rPr sz="1800"/>
            </a:br>
            <a:r>
              <a:rPr b="0" lang="en-US" sz="1800" spc="-1" strike="noStrike">
                <a:solidFill>
                  <a:srgbClr val="000000"/>
                </a:solidFill>
                <a:latin typeface="Arial"/>
                <a:ea typeface="DejaVu Sans"/>
              </a:rPr>
              <a:t>    Several packets → one interrupt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Multiple NAPI instances can be registered,  Usually one per channel or per CPU</a:t>
            </a:r>
            <a:endParaRPr b="0" lang="en-US" sz="1800" spc="-1" strike="noStrike">
              <a:solidFill>
                <a:srgbClr val="000000"/>
              </a:solidFill>
              <a:latin typeface="Arial"/>
            </a:endParaRPr>
          </a:p>
        </p:txBody>
      </p:sp>
      <p:sp>
        <p:nvSpPr>
          <p:cNvPr id="259" name=""/>
          <p:cNvSpPr/>
          <p:nvPr/>
        </p:nvSpPr>
        <p:spPr>
          <a:xfrm>
            <a:off x="197280" y="3429000"/>
            <a:ext cx="8030880" cy="2136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Packet timestamping can be done in RX and TX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Hardware timestamping is configured in the .ndo_ioctl()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Being replaced in favor of .ndo_timestamping()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Timestamp is stored in the skb_shared_info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On TX timestamping, the skb is cloned, timestamp is attached to the clone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clone is sent back to the socket error queue </a:t>
            </a:r>
            <a:br>
              <a:rPr sz="1800"/>
            </a:br>
            <a:br>
              <a:rPr sz="1800"/>
            </a:br>
            <a:endParaRPr b="0" lang="en-US" sz="1800" spc="-1" strike="noStrike">
              <a:solidFill>
                <a:srgbClr val="000000"/>
              </a:solidFill>
              <a:latin typeface="Arial"/>
            </a:endParaRPr>
          </a:p>
        </p:txBody>
      </p:sp>
      <p:sp>
        <p:nvSpPr>
          <p:cNvPr id="260" name=""/>
          <p:cNvSpPr/>
          <p:nvPr/>
        </p:nvSpPr>
        <p:spPr>
          <a:xfrm>
            <a:off x="349200" y="5389200"/>
            <a:ext cx="7542360" cy="3672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static int igb_ioctl(struct net_device *netdev,</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struct ifreq *ifr, int cmd)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switch (cmd)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case SIOCSHWTSTAMP: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return igb_hwtstamp_set(netdev, ifr);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case SIOCGHWTSTAMP: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return igb_hwtstamp_get(netdev, ifr);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
          <p:cNvSpPr/>
          <p:nvPr/>
        </p:nvSpPr>
        <p:spPr>
          <a:xfrm>
            <a:off x="457200" y="339120"/>
            <a:ext cx="274176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Offloading</a:t>
            </a:r>
            <a:endParaRPr b="0" lang="en-US" sz="1800" spc="-1" strike="noStrike">
              <a:solidFill>
                <a:srgbClr val="000000"/>
              </a:solidFill>
              <a:latin typeface="Arial"/>
            </a:endParaRPr>
          </a:p>
        </p:txBody>
      </p:sp>
      <p:sp>
        <p:nvSpPr>
          <p:cNvPr id="262" name=""/>
          <p:cNvSpPr/>
          <p:nvPr/>
        </p:nvSpPr>
        <p:spPr>
          <a:xfrm>
            <a:off x="0" y="874440"/>
            <a:ext cx="9828360" cy="367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Most modern controllers can perform themselves some operations on packets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checksumming offload makes so the CPU doesn’t have to check or compute checksums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filtering offloads makes so that the MAC drops unknown MAC addresses and VLANs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classification-capable controllers may implement more powerful features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header hashing computes a hash of a specific set of fields in the header. Useful for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RSS.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flow steering allows specific actions (enqueueing, drop, redirection) to be done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based on specific header values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crypto offload for some tunneling technologies such as MACSec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1" lang="en-US" sz="1800" spc="-1" strike="noStrike">
                <a:solidFill>
                  <a:srgbClr val="000000"/>
                </a:solidFill>
                <a:latin typeface="Arial"/>
                <a:ea typeface="DejaVu Sans"/>
              </a:rPr>
              <a:t>Offloading can however make debugging harder, as decisions are taken before</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packets reach the CPU</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Most controllers will expose counters, accessible over ethtool -S &lt;iface&gt;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
          <p:cNvSpPr/>
          <p:nvPr/>
        </p:nvSpPr>
        <p:spPr>
          <a:xfrm>
            <a:off x="109800" y="1045800"/>
            <a:ext cx="9969480" cy="3981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000000"/>
                </a:solidFill>
                <a:latin typeface="Arial"/>
                <a:ea typeface="DejaVu Sans"/>
              </a:rPr>
              <a:t> </a:t>
            </a:r>
            <a:r>
              <a:rPr b="0" lang="en-US" sz="1400" spc="-1" strike="noStrike">
                <a:solidFill>
                  <a:srgbClr val="000000"/>
                </a:solidFill>
                <a:latin typeface="Arial"/>
                <a:ea typeface="DejaVu Sans"/>
              </a:rPr>
              <a:t>In networking, Receive Side Scaling (RSS) header hashing is a hardware-offload mechanism used by Network Interface Cards (NICs) to distribute incoming network traffic across multiple CPU cores for parallel processing. The NIC extracts specific fields from the headers of incoming packets and applies a hash function to them to generate a hash value. </a:t>
            </a:r>
            <a:br>
              <a:rPr sz="1400"/>
            </a:br>
            <a:r>
              <a:rPr b="1" lang="en-US" sz="1400" spc="-1" strike="noStrike">
                <a:solidFill>
                  <a:srgbClr val="000000"/>
                </a:solidFill>
                <a:latin typeface="Arial"/>
                <a:ea typeface="DejaVu Sans"/>
              </a:rPr>
              <a:t>Header Field Selection: </a:t>
            </a:r>
            <a:r>
              <a:rPr b="0" lang="en-US" sz="1400" spc="-1" strike="noStrike">
                <a:solidFill>
                  <a:srgbClr val="000000"/>
                </a:solidFill>
                <a:latin typeface="Arial"/>
                <a:ea typeface="DejaVu Sans"/>
              </a:rPr>
              <a:t>Common fields used for hashing include the Source/Destination IP addresses (L3) and Source/Destination Port numbers (L4). </a:t>
            </a:r>
            <a:br>
              <a:rPr sz="1400"/>
            </a:br>
            <a:r>
              <a:rPr b="1" lang="en-US" sz="1400" spc="-1" strike="noStrike">
                <a:solidFill>
                  <a:srgbClr val="000000"/>
                </a:solidFill>
                <a:latin typeface="Arial"/>
                <a:ea typeface="DejaVu Sans"/>
              </a:rPr>
              <a:t>Hash Algorithms: </a:t>
            </a:r>
            <a:r>
              <a:rPr b="0" lang="en-US" sz="1400" spc="-1" strike="noStrike">
                <a:solidFill>
                  <a:srgbClr val="000000"/>
                </a:solidFill>
                <a:latin typeface="Arial"/>
                <a:ea typeface="DejaVu Sans"/>
              </a:rPr>
              <a:t>The most common algorithm used is Toeplitz, but some hardware also supports a simple XOR function.</a:t>
            </a:r>
            <a:br>
              <a:rPr sz="1400"/>
            </a:br>
            <a:r>
              <a:rPr b="1" lang="en-US" sz="1400" spc="-1" strike="noStrike">
                <a:solidFill>
                  <a:srgbClr val="000000"/>
                </a:solidFill>
                <a:latin typeface="Arial"/>
                <a:ea typeface="DejaVu Sans"/>
              </a:rPr>
              <a:t>Indirection Table: </a:t>
            </a:r>
            <a:r>
              <a:rPr b="0" lang="en-US" sz="1400" spc="-1" strike="noStrike">
                <a:solidFill>
                  <a:srgbClr val="000000"/>
                </a:solidFill>
                <a:latin typeface="Arial"/>
                <a:ea typeface="DejaVu Sans"/>
              </a:rPr>
              <a:t>The resulting hash value is used as an index into a "redirection" or "indirection" table, which maps the packet to a specific RX (receive) queue assigned to a CPU core.</a:t>
            </a:r>
            <a:br>
              <a:rPr sz="1400"/>
            </a:br>
            <a:r>
              <a:rPr b="1" lang="en-US" sz="1400" spc="-1" strike="noStrike">
                <a:solidFill>
                  <a:srgbClr val="000000"/>
                </a:solidFill>
                <a:latin typeface="Arial"/>
                <a:ea typeface="DejaVu Sans"/>
              </a:rPr>
              <a:t>Packet arrives at NIC</a:t>
            </a:r>
            <a:br>
              <a:rPr sz="1400"/>
            </a:br>
            <a:r>
              <a:rPr b="0" lang="en-US" sz="1400" spc="-1" strike="noStrike">
                <a:solidFill>
                  <a:srgbClr val="000000"/>
                </a:solidFill>
                <a:latin typeface="Arial"/>
                <a:ea typeface="DejaVu Sans"/>
              </a:rPr>
              <a:t>1. NIC computes a hash of header fields</a:t>
            </a:r>
            <a:br>
              <a:rPr sz="1400"/>
            </a:br>
            <a:r>
              <a:rPr b="0" lang="en-US" sz="1400" spc="-1" strike="noStrike">
                <a:solidFill>
                  <a:srgbClr val="000000"/>
                </a:solidFill>
                <a:latin typeface="Arial"/>
                <a:ea typeface="DejaVu Sans"/>
              </a:rPr>
              <a:t>2. Hash is mapped to an RX queue</a:t>
            </a:r>
            <a:br>
              <a:rPr sz="1400"/>
            </a:br>
            <a:r>
              <a:rPr b="0" lang="en-US" sz="1400" spc="-1" strike="noStrike">
                <a:solidFill>
                  <a:srgbClr val="000000"/>
                </a:solidFill>
                <a:latin typeface="Arial"/>
                <a:ea typeface="DejaVu Sans"/>
              </a:rPr>
              <a:t>3. That queue triggers an interrupt / NAPI poll on a specific CPU</a:t>
            </a:r>
            <a:br>
              <a:rPr sz="1400"/>
            </a:br>
            <a:r>
              <a:rPr b="0" lang="en-US" sz="1400" spc="-1" strike="noStrike">
                <a:solidFill>
                  <a:srgbClr val="000000"/>
                </a:solidFill>
                <a:latin typeface="Arial"/>
                <a:ea typeface="DejaVu Sans"/>
              </a:rPr>
              <a:t>This ensures:</a:t>
            </a:r>
            <a:br>
              <a:rPr sz="1400"/>
            </a:br>
            <a:r>
              <a:rPr b="0" lang="en-US" sz="1400" spc="-1" strike="noStrike">
                <a:solidFill>
                  <a:srgbClr val="000000"/>
                </a:solidFill>
                <a:latin typeface="Arial"/>
                <a:ea typeface="DejaVu Sans"/>
              </a:rPr>
              <a:t>Packets from the same flow go to the same queue (ordering preserved)</a:t>
            </a:r>
            <a:br>
              <a:rPr sz="1400"/>
            </a:br>
            <a:r>
              <a:rPr b="0" lang="en-US" sz="1400" spc="-1" strike="noStrike">
                <a:solidFill>
                  <a:srgbClr val="000000"/>
                </a:solidFill>
                <a:latin typeface="Arial"/>
                <a:ea typeface="DejaVu Sans"/>
              </a:rPr>
              <a:t>Different flows are balanced across CPUs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264" name="" descr=""/>
          <p:cNvPicPr/>
          <p:nvPr/>
        </p:nvPicPr>
        <p:blipFill>
          <a:blip r:embed="rId1"/>
          <a:stretch/>
        </p:blipFill>
        <p:spPr>
          <a:xfrm>
            <a:off x="2057400" y="4439160"/>
            <a:ext cx="6723000" cy="31986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
          <p:cNvSpPr/>
          <p:nvPr/>
        </p:nvSpPr>
        <p:spPr>
          <a:xfrm>
            <a:off x="52560" y="1143000"/>
            <a:ext cx="10004400" cy="4532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Arial"/>
                <a:ea typeface="DejaVu Sans"/>
              </a:rPr>
              <a:t>In networking, flow steering refers to the mechanisms used to direct specific packet flows to particular CPU cores for processing. While </a:t>
            </a:r>
            <a:r>
              <a:rPr b="0" lang="en-US" sz="1600" spc="-1" strike="noStrike" u="sng">
                <a:solidFill>
                  <a:srgbClr val="0000ff"/>
                </a:solidFill>
                <a:uFillTx/>
                <a:latin typeface="Arial"/>
                <a:ea typeface="DejaVu Sans"/>
                <a:hlinkClick r:id="rId1"/>
              </a:rPr>
              <a:t>RSS (Receive Side Scaling)</a:t>
            </a:r>
            <a:r>
              <a:rPr b="0" lang="en-US" sz="1600" spc="-1" strike="noStrike">
                <a:solidFill>
                  <a:srgbClr val="000000"/>
                </a:solidFill>
                <a:latin typeface="Arial"/>
                <a:ea typeface="DejaVu Sans"/>
              </a:rPr>
              <a:t> uses a hash-based approach to distribute traffic broadly across cores, flow steering techniques provide more surgical control to improve application locality and reduce cache misses</a:t>
            </a:r>
            <a:br>
              <a:rPr sz="1600"/>
            </a:br>
            <a:br>
              <a:rPr sz="1600"/>
            </a:br>
            <a:r>
              <a:rPr b="0" lang="en-US" sz="1600" spc="-1" strike="noStrike">
                <a:solidFill>
                  <a:srgbClr val="000000"/>
                </a:solidFill>
                <a:latin typeface="Arial"/>
                <a:ea typeface="DejaVu Sans"/>
              </a:rPr>
              <a:t>Traffic is classified based on specific fields : src/dst MAC, src/dst IP, src/dst Port, VLAN, etc</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TCAM in flow steering refers to using Ternary Content-Addressable Memory (TCAM) to match packets against flow rules and steer them to the correct processing path (queue, core, VF, tunnel, or action).</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Arial"/>
                <a:ea typeface="DejaVu Sans"/>
              </a:rPr>
              <a:t>What is flow steering? </a:t>
            </a:r>
            <a:br>
              <a:rPr sz="1600"/>
            </a:br>
            <a:r>
              <a:rPr b="0" lang="en-US" sz="1600" spc="-1" strike="noStrike">
                <a:solidFill>
                  <a:srgbClr val="000000"/>
                </a:solidFill>
                <a:latin typeface="Arial"/>
                <a:ea typeface="DejaVu Sans"/>
              </a:rPr>
              <a:t>Flow steering means directing packets of a specific flow (e.g., TCP 5-tuple) to:</a:t>
            </a:r>
            <a:br>
              <a:rPr sz="1600"/>
            </a:br>
            <a:r>
              <a:rPr b="0" lang="en-US" sz="1600" spc="-1" strike="noStrike">
                <a:solidFill>
                  <a:srgbClr val="000000"/>
                </a:solidFill>
                <a:latin typeface="Arial"/>
                <a:ea typeface="DejaVu Sans"/>
              </a:rPr>
              <a:t>A specific RX queue</a:t>
            </a:r>
            <a:br>
              <a:rPr sz="1600"/>
            </a:br>
            <a:r>
              <a:rPr b="0" lang="en-US" sz="1600" spc="-1" strike="noStrike">
                <a:solidFill>
                  <a:srgbClr val="000000"/>
                </a:solidFill>
                <a:latin typeface="Arial"/>
                <a:ea typeface="DejaVu Sans"/>
              </a:rPr>
              <a:t>A specific CPU core</a:t>
            </a:r>
            <a:br>
              <a:rPr sz="1600"/>
            </a:br>
            <a:r>
              <a:rPr b="0" lang="en-US" sz="1600" spc="-1" strike="noStrike">
                <a:solidFill>
                  <a:srgbClr val="000000"/>
                </a:solidFill>
                <a:latin typeface="Arial"/>
                <a:ea typeface="DejaVu Sans"/>
              </a:rPr>
              <a:t>A Virtual Function (SR-IOV)</a:t>
            </a:r>
            <a:br>
              <a:rPr sz="1600"/>
            </a:br>
            <a:r>
              <a:rPr b="0" lang="en-US" sz="1600" spc="-1" strike="noStrike">
                <a:solidFill>
                  <a:srgbClr val="000000"/>
                </a:solidFill>
                <a:latin typeface="Arial"/>
                <a:ea typeface="DejaVu Sans"/>
              </a:rPr>
              <a:t>A network function (firewall, load balancer, etc.) </a:t>
            </a:r>
            <a:br>
              <a:rPr sz="1600"/>
            </a:br>
            <a:r>
              <a:rPr b="0" lang="en-US" sz="1600" spc="-1" strike="noStrike">
                <a:solidFill>
                  <a:srgbClr val="000000"/>
                </a:solidFill>
                <a:latin typeface="Arial"/>
                <a:ea typeface="DejaVu Sans"/>
              </a:rPr>
              <a:t>This improves performance, cache locality, and scalability.</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CustomShape 1"/>
          <p:cNvSpPr/>
          <p:nvPr/>
        </p:nvSpPr>
        <p:spPr>
          <a:xfrm>
            <a:off x="504000" y="30132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IRQ’s</a:t>
            </a:r>
            <a:endParaRPr b="0" lang="en-US" sz="4400" spc="-1" strike="noStrike">
              <a:solidFill>
                <a:srgbClr val="000000"/>
              </a:solidFill>
              <a:latin typeface="Arial"/>
            </a:endParaRPr>
          </a:p>
        </p:txBody>
      </p:sp>
      <p:sp>
        <p:nvSpPr>
          <p:cNvPr id="267" name="CustomShape 2"/>
          <p:cNvSpPr/>
          <p:nvPr/>
        </p:nvSpPr>
        <p:spPr>
          <a:xfrm>
            <a:off x="-7920" y="953280"/>
            <a:ext cx="10155240" cy="1555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When a data frame is written to RAM via </a:t>
            </a:r>
            <a:r>
              <a:rPr b="0" lang="en-IN" sz="1200" spc="-1" strike="noStrike" u="sng">
                <a:solidFill>
                  <a:srgbClr val="0000ff"/>
                </a:solidFill>
                <a:uFillTx/>
                <a:latin typeface="Arial"/>
                <a:ea typeface="DejaVu Sans"/>
                <a:hlinkClick r:id="rId1"/>
              </a:rPr>
              <a:t>DMA</a:t>
            </a:r>
            <a:r>
              <a:rPr b="0" lang="en-IN" sz="1200" spc="-1" strike="noStrike">
                <a:solidFill>
                  <a:srgbClr val="0000ff"/>
                </a:solidFill>
                <a:latin typeface="Arial"/>
                <a:ea typeface="DejaVu Sans"/>
              </a:rPr>
              <a:t>, how does the NIC tell the rest of the system that data is ready to be processed? </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Traditionally, a NIC would generate an  </a:t>
            </a:r>
            <a:r>
              <a:rPr b="0" lang="en-IN" sz="1200" spc="-1" strike="noStrike" u="sng">
                <a:solidFill>
                  <a:srgbClr val="0000ff"/>
                </a:solidFill>
                <a:uFillTx/>
                <a:latin typeface="Arial"/>
                <a:ea typeface="DejaVu Sans"/>
                <a:hlinkClick r:id="rId2"/>
              </a:rPr>
              <a:t>interrupt request (IRQ)</a:t>
            </a:r>
            <a:r>
              <a:rPr b="0" lang="en-IN" sz="1200" spc="-1" strike="noStrike">
                <a:solidFill>
                  <a:srgbClr val="0000ff"/>
                </a:solidFill>
                <a:latin typeface="Arial"/>
                <a:ea typeface="DejaVu Sans"/>
              </a:rPr>
              <a:t> indicating data had arrived. There are three common types of IRQs: MSI-X, MSI, and legacy IRQs. These will be touched upon shortly. A device generating an IRQ when data has been written to RAM via DMA is simple enough, but if large numbers of data frames arrive this can lead to a large number of IRQs being generated. The more IRQs that are generated, the less CPU time is available for higher level tasks like user processes. The </a:t>
            </a:r>
            <a:r>
              <a:rPr b="0" lang="en-IN" sz="1200" spc="-1" strike="noStrike" u="sng">
                <a:solidFill>
                  <a:srgbClr val="0000ff"/>
                </a:solidFill>
                <a:uFillTx/>
                <a:latin typeface="Arial"/>
                <a:ea typeface="DejaVu Sans"/>
                <a:hlinkClick r:id="rId3"/>
              </a:rPr>
              <a:t>New Api (NAPI)</a:t>
            </a:r>
            <a:r>
              <a:rPr b="0" lang="en-IN" sz="1200" spc="-1" strike="noStrike">
                <a:solidFill>
                  <a:srgbClr val="0000ff"/>
                </a:solidFill>
                <a:latin typeface="Arial"/>
                <a:ea typeface="DejaVu Sans"/>
              </a:rPr>
              <a:t> was created as a mechanism for reducing the number of IRQs generated by network devices on packet arrival. While NAPI reduces the number of IRQs, it cannot eliminate them completely.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68" name="CustomShape 3"/>
          <p:cNvSpPr/>
          <p:nvPr/>
        </p:nvSpPr>
        <p:spPr>
          <a:xfrm>
            <a:off x="79200" y="2379240"/>
            <a:ext cx="10170360" cy="30837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200" spc="-1" strike="noStrike">
                <a:solidFill>
                  <a:srgbClr val="000000"/>
                </a:solidFill>
                <a:latin typeface="Arial"/>
                <a:ea typeface="DejaVu Sans"/>
              </a:rPr>
              <a:t>NAPI allows a device driver to register a poll function that the NAPI subsystem will call to harvest data frames.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1. The intended use of NAPI in network device drivers is as follows: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2. NAPI is enabled by the driver, but is in the off position initially.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3. A packet arrives and is DMA to memory by the NIC.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4. An IRQ is generated by the NIC which triggers the IRQ handler in the driver.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5. The driver wakes up the NAPI subsystem using a softirq. This will begin harvesting packets by calling the drivers registered poll function in a separate thread of execution.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6. The driver should disable further IRQs from the NIC. This is done to allow the NAPI subsystem to process packets without interruption from the device.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Once there is no more work to do, the NAPI subsystem is disabled and IRQs from the device are re-enabled.The process starts back at step 2.</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69" name="CustomShape 4"/>
          <p:cNvSpPr/>
          <p:nvPr/>
        </p:nvSpPr>
        <p:spPr>
          <a:xfrm>
            <a:off x="0" y="4343400"/>
            <a:ext cx="10109520" cy="957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The device driver implements a </a:t>
            </a:r>
            <a:r>
              <a:rPr b="1" lang="en-IN" sz="1200" spc="-1" strike="noStrike">
                <a:solidFill>
                  <a:srgbClr val="000000"/>
                </a:solidFill>
                <a:latin typeface="Arial"/>
                <a:ea typeface="DejaVu Sans"/>
              </a:rPr>
              <a:t>poll</a:t>
            </a:r>
            <a:r>
              <a:rPr b="0" lang="en-IN" sz="1200" spc="-1" strike="noStrike">
                <a:solidFill>
                  <a:srgbClr val="000000"/>
                </a:solidFill>
                <a:latin typeface="Arial"/>
                <a:ea typeface="DejaVu Sans"/>
              </a:rPr>
              <a:t> function and registers it with NAPI by calling </a:t>
            </a:r>
            <a:r>
              <a:rPr b="1" lang="en-IN" sz="1200" spc="-1" strike="noStrike">
                <a:solidFill>
                  <a:srgbClr val="000000"/>
                </a:solidFill>
                <a:latin typeface="Arial"/>
                <a:ea typeface="DejaVu Sans"/>
              </a:rPr>
              <a:t>netif_napi_add</a:t>
            </a:r>
            <a:r>
              <a:rPr b="0" lang="en-IN" sz="1200" spc="-1" strike="noStrike">
                <a:solidFill>
                  <a:srgbClr val="000000"/>
                </a:solidFill>
                <a:latin typeface="Arial"/>
                <a:ea typeface="DejaVu Sans"/>
              </a:rPr>
              <a:t>. When registering a NAPI poll function with netif_napi_add, the driver will also specify the weight. Most of the drivers hardcode a value of 64.  Typically, drivers register their NAPI poll functions during driver initialization.</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70" name="CustomShape 5"/>
          <p:cNvSpPr/>
          <p:nvPr/>
        </p:nvSpPr>
        <p:spPr>
          <a:xfrm>
            <a:off x="278280" y="5110560"/>
            <a:ext cx="8863920" cy="374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ourier New"/>
                <a:ea typeface="Courier New"/>
              </a:rPr>
              <a:t>        </a:t>
            </a:r>
            <a:r>
              <a:rPr b="0" lang="en-IN" sz="1800" spc="-1" strike="noStrike" u="sng">
                <a:solidFill>
                  <a:srgbClr val="0000ff"/>
                </a:solidFill>
                <a:uFillTx/>
                <a:latin typeface="Courier New"/>
                <a:ea typeface="Courier New"/>
                <a:hlinkClick r:id="rId4"/>
              </a:rPr>
              <a:t>netif_napi_add</a:t>
            </a:r>
            <a:r>
              <a:rPr b="0" lang="en-IN" sz="1800" spc="-1" strike="noStrike">
                <a:solidFill>
                  <a:srgbClr val="0000ff"/>
                </a:solidFill>
                <a:latin typeface="Courier New"/>
                <a:ea typeface="Courier New"/>
              </a:rPr>
              <a:t>(</a:t>
            </a:r>
            <a:r>
              <a:rPr b="0" lang="en-IN" sz="1800" spc="-1" strike="noStrike" u="sng">
                <a:solidFill>
                  <a:srgbClr val="0000ff"/>
                </a:solidFill>
                <a:uFillTx/>
                <a:latin typeface="Courier New"/>
                <a:ea typeface="Courier New"/>
                <a:hlinkClick r:id="rId5"/>
              </a:rPr>
              <a:t>ndev</a:t>
            </a:r>
            <a:r>
              <a:rPr b="0" lang="en-IN" sz="1800" spc="-1" strike="noStrike">
                <a:solidFill>
                  <a:srgbClr val="0000ff"/>
                </a:solidFill>
                <a:latin typeface="Courier New"/>
                <a:ea typeface="Courier New"/>
              </a:rPr>
              <a:t>, &amp;</a:t>
            </a:r>
            <a:r>
              <a:rPr b="0" lang="en-IN" sz="1800" spc="-1" strike="noStrike" u="sng">
                <a:solidFill>
                  <a:srgbClr val="0000ff"/>
                </a:solidFill>
                <a:uFillTx/>
                <a:latin typeface="Courier New"/>
                <a:ea typeface="Courier New"/>
                <a:hlinkClick r:id="rId6"/>
              </a:rPr>
              <a:t>lp</a:t>
            </a:r>
            <a:r>
              <a:rPr b="0" lang="en-IN" sz="1800" spc="-1" strike="noStrike">
                <a:solidFill>
                  <a:srgbClr val="0000ff"/>
                </a:solidFill>
                <a:latin typeface="Courier New"/>
                <a:ea typeface="Courier New"/>
              </a:rPr>
              <a:t>-&gt;</a:t>
            </a:r>
            <a:r>
              <a:rPr b="0" lang="en-IN" sz="1800" spc="-1" strike="noStrike" u="sng">
                <a:solidFill>
                  <a:srgbClr val="0000ff"/>
                </a:solidFill>
                <a:uFillTx/>
                <a:latin typeface="Courier New"/>
                <a:ea typeface="Courier New"/>
                <a:hlinkClick r:id="rId7"/>
              </a:rPr>
              <a:t>napi_rx</a:t>
            </a:r>
            <a:r>
              <a:rPr b="0" lang="en-IN" sz="1800" spc="-1" strike="noStrike">
                <a:solidFill>
                  <a:srgbClr val="0000ff"/>
                </a:solidFill>
                <a:latin typeface="Courier New"/>
                <a:ea typeface="Courier New"/>
              </a:rPr>
              <a:t>, </a:t>
            </a:r>
            <a:r>
              <a:rPr b="0" lang="en-IN" sz="1800" spc="-1" strike="noStrike" u="sng">
                <a:solidFill>
                  <a:srgbClr val="0000ff"/>
                </a:solidFill>
                <a:uFillTx/>
                <a:latin typeface="Courier New"/>
                <a:ea typeface="Courier New"/>
                <a:hlinkClick r:id="rId8"/>
              </a:rPr>
              <a:t>axienet_rx_poll</a:t>
            </a:r>
            <a:r>
              <a:rPr b="0" lang="en-IN" sz="1800" spc="-1" strike="noStrike">
                <a:solidFill>
                  <a:srgbClr val="0000ff"/>
                </a:solidFill>
                <a:latin typeface="Courier New"/>
                <a:ea typeface="Courier New"/>
              </a:rPr>
              <a:t>);</a:t>
            </a:r>
            <a:endParaRPr b="0" lang="en-US" sz="1800" spc="-1" strike="noStrike">
              <a:solidFill>
                <a:srgbClr val="000000"/>
              </a:solidFill>
              <a:latin typeface="Arial"/>
            </a:endParaRPr>
          </a:p>
          <a:p>
            <a:pPr>
              <a:lnSpc>
                <a:spcPct val="100000"/>
              </a:lnSpc>
            </a:pPr>
            <a:r>
              <a:rPr b="0" lang="en-IN" sz="1800" spc="-1" strike="noStrike">
                <a:solidFill>
                  <a:srgbClr val="0000ff"/>
                </a:solidFill>
                <a:latin typeface="Courier New"/>
                <a:ea typeface="Courier New"/>
              </a:rPr>
              <a:t>        </a:t>
            </a:r>
            <a:r>
              <a:rPr b="0" lang="en-IN" sz="1800" spc="-1" strike="noStrike" u="sng">
                <a:solidFill>
                  <a:srgbClr val="0000ff"/>
                </a:solidFill>
                <a:uFillTx/>
                <a:latin typeface="Courier New"/>
                <a:ea typeface="Courier New"/>
                <a:hlinkClick r:id="rId9"/>
              </a:rPr>
              <a:t>netif_napi_add</a:t>
            </a:r>
            <a:r>
              <a:rPr b="0" lang="en-IN" sz="1800" spc="-1" strike="noStrike">
                <a:solidFill>
                  <a:srgbClr val="0000ff"/>
                </a:solidFill>
                <a:latin typeface="Courier New"/>
                <a:ea typeface="Courier New"/>
              </a:rPr>
              <a:t>(</a:t>
            </a:r>
            <a:r>
              <a:rPr b="0" lang="en-IN" sz="1800" spc="-1" strike="noStrike" u="sng">
                <a:solidFill>
                  <a:srgbClr val="0000ff"/>
                </a:solidFill>
                <a:uFillTx/>
                <a:latin typeface="Courier New"/>
                <a:ea typeface="Courier New"/>
                <a:hlinkClick r:id="rId10"/>
              </a:rPr>
              <a:t>ndev</a:t>
            </a:r>
            <a:r>
              <a:rPr b="0" lang="en-IN" sz="1800" spc="-1" strike="noStrike">
                <a:solidFill>
                  <a:srgbClr val="0000ff"/>
                </a:solidFill>
                <a:latin typeface="Courier New"/>
                <a:ea typeface="Courier New"/>
              </a:rPr>
              <a:t>, &amp;</a:t>
            </a:r>
            <a:r>
              <a:rPr b="0" lang="en-IN" sz="1800" spc="-1" strike="noStrike" u="sng">
                <a:solidFill>
                  <a:srgbClr val="0000ff"/>
                </a:solidFill>
                <a:uFillTx/>
                <a:latin typeface="Courier New"/>
                <a:ea typeface="Courier New"/>
                <a:hlinkClick r:id="rId11"/>
              </a:rPr>
              <a:t>lp</a:t>
            </a:r>
            <a:r>
              <a:rPr b="0" lang="en-IN" sz="1800" spc="-1" strike="noStrike">
                <a:solidFill>
                  <a:srgbClr val="0000ff"/>
                </a:solidFill>
                <a:latin typeface="Courier New"/>
                <a:ea typeface="Courier New"/>
              </a:rPr>
              <a:t>-&gt;</a:t>
            </a:r>
            <a:r>
              <a:rPr b="0" lang="en-IN" sz="1800" spc="-1" strike="noStrike" u="sng">
                <a:solidFill>
                  <a:srgbClr val="0000ff"/>
                </a:solidFill>
                <a:uFillTx/>
                <a:latin typeface="Courier New"/>
                <a:ea typeface="Courier New"/>
                <a:hlinkClick r:id="rId12"/>
              </a:rPr>
              <a:t>napi_tx</a:t>
            </a:r>
            <a:r>
              <a:rPr b="0" lang="en-IN" sz="1800" spc="-1" strike="noStrike">
                <a:solidFill>
                  <a:srgbClr val="0000ff"/>
                </a:solidFill>
                <a:latin typeface="Courier New"/>
                <a:ea typeface="Courier New"/>
              </a:rPr>
              <a:t>, </a:t>
            </a:r>
            <a:r>
              <a:rPr b="0" lang="en-IN" sz="1800" spc="-1" strike="noStrike" u="sng">
                <a:solidFill>
                  <a:srgbClr val="0000ff"/>
                </a:solidFill>
                <a:uFillTx/>
                <a:latin typeface="Courier New"/>
                <a:ea typeface="Courier New"/>
                <a:hlinkClick r:id="rId13"/>
              </a:rPr>
              <a:t>axienet_tx_poll</a:t>
            </a:r>
            <a:r>
              <a:rPr b="0" lang="en-IN" sz="1800" spc="-1" strike="noStrike">
                <a:solidFill>
                  <a:srgbClr val="0000ff"/>
                </a:solidFill>
                <a:latin typeface="Courier New"/>
                <a:ea typeface="Courier New"/>
              </a:rPr>
              <a:t>);</a:t>
            </a:r>
            <a:endParaRPr b="0" lang="en-US" sz="1800" spc="-1" strike="noStrike">
              <a:solidFill>
                <a:srgbClr val="000000"/>
              </a:solidFill>
              <a:latin typeface="Arial"/>
            </a:endParaRPr>
          </a:p>
        </p:txBody>
      </p:sp>
      <p:sp>
        <p:nvSpPr>
          <p:cNvPr id="271" name="CustomShape 6"/>
          <p:cNvSpPr/>
          <p:nvPr/>
        </p:nvSpPr>
        <p:spPr>
          <a:xfrm>
            <a:off x="685800" y="5939640"/>
            <a:ext cx="9277920" cy="230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000" spc="-1" strike="noStrike" u="sng">
                <a:solidFill>
                  <a:srgbClr val="0000ff"/>
                </a:solidFill>
                <a:uFillTx/>
                <a:latin typeface="Courier New"/>
                <a:ea typeface="Courier New"/>
                <a:hlinkClick r:id="rId14"/>
              </a:rPr>
              <a:t>netif_napi_add_weight</a:t>
            </a:r>
            <a:r>
              <a:rPr b="0" lang="en-IN" sz="2000" spc="-1" strike="noStrike">
                <a:solidFill>
                  <a:srgbClr val="0000ff"/>
                </a:solidFill>
                <a:latin typeface="Courier New"/>
                <a:ea typeface="Courier New"/>
              </a:rPr>
              <a:t>(dev, &amp;</a:t>
            </a:r>
            <a:r>
              <a:rPr b="0" lang="en-IN" sz="2000" spc="-1" strike="noStrike" u="sng">
                <a:solidFill>
                  <a:srgbClr val="0000ff"/>
                </a:solidFill>
                <a:uFillTx/>
                <a:latin typeface="Courier New"/>
                <a:ea typeface="Courier New"/>
                <a:hlinkClick r:id="rId15"/>
              </a:rPr>
              <a:t>cp</a:t>
            </a:r>
            <a:r>
              <a:rPr b="0" lang="en-IN" sz="2000" spc="-1" strike="noStrike">
                <a:solidFill>
                  <a:srgbClr val="0000ff"/>
                </a:solidFill>
                <a:latin typeface="Courier New"/>
                <a:ea typeface="Courier New"/>
              </a:rPr>
              <a:t>-&gt;</a:t>
            </a:r>
            <a:r>
              <a:rPr b="0" lang="en-IN" sz="2000" spc="-1" strike="noStrike" u="sng">
                <a:solidFill>
                  <a:srgbClr val="0000ff"/>
                </a:solidFill>
                <a:uFillTx/>
                <a:latin typeface="Courier New"/>
                <a:ea typeface="Courier New"/>
                <a:hlinkClick r:id="rId16"/>
              </a:rPr>
              <a:t>napi</a:t>
            </a:r>
            <a:r>
              <a:rPr b="0" lang="en-IN" sz="2000" spc="-1" strike="noStrike">
                <a:solidFill>
                  <a:srgbClr val="0000ff"/>
                </a:solidFill>
                <a:latin typeface="Courier New"/>
                <a:ea typeface="Courier New"/>
              </a:rPr>
              <a:t>, </a:t>
            </a:r>
            <a:r>
              <a:rPr b="0" lang="en-IN" sz="2000" spc="-1" strike="noStrike" u="sng">
                <a:solidFill>
                  <a:srgbClr val="0000ff"/>
                </a:solidFill>
                <a:uFillTx/>
                <a:latin typeface="Courier New"/>
                <a:ea typeface="Courier New"/>
                <a:hlinkClick r:id="rId17"/>
              </a:rPr>
              <a:t>cp_rx_poll</a:t>
            </a:r>
            <a:r>
              <a:rPr b="0" lang="en-IN" sz="2000" spc="-1" strike="noStrike">
                <a:solidFill>
                  <a:srgbClr val="0000ff"/>
                </a:solidFill>
                <a:latin typeface="Courier New"/>
                <a:ea typeface="Courier New"/>
              </a:rPr>
              <a:t>, 16);</a:t>
            </a:r>
            <a:endParaRPr b="0" lang="en-US" sz="2000" spc="-1" strike="noStrike">
              <a:solidFill>
                <a:srgbClr val="000000"/>
              </a:solidFill>
              <a:latin typeface="Arial"/>
            </a:endParaRPr>
          </a:p>
        </p:txBody>
      </p:sp>
      <p:sp>
        <p:nvSpPr>
          <p:cNvPr id="272" name="CustomShape 7"/>
          <p:cNvSpPr/>
          <p:nvPr/>
        </p:nvSpPr>
        <p:spPr>
          <a:xfrm>
            <a:off x="-914400" y="6172200"/>
            <a:ext cx="11199600" cy="45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000" spc="-1" strike="noStrike">
                <a:solidFill>
                  <a:srgbClr val="000000"/>
                </a:solidFill>
                <a:latin typeface="Courier New"/>
                <a:ea typeface="Courier New"/>
              </a:rPr>
              <a:t> </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Courier New"/>
                <a:ea typeface="Courier New"/>
              </a:rPr>
              <a:t>        </a:t>
            </a:r>
            <a:r>
              <a:rPr b="0" lang="en-IN" sz="2000" spc="-1" strike="noStrike" u="sng">
                <a:solidFill>
                  <a:srgbClr val="0000ff"/>
                </a:solidFill>
                <a:uFillTx/>
                <a:latin typeface="Courier New"/>
                <a:ea typeface="Courier New"/>
                <a:hlinkClick r:id="rId18"/>
              </a:rPr>
              <a:t>netif_napi_add</a:t>
            </a:r>
            <a:r>
              <a:rPr b="0" lang="en-IN" sz="2000" spc="-1" strike="noStrike">
                <a:solidFill>
                  <a:srgbClr val="0000ff"/>
                </a:solidFill>
                <a:latin typeface="Courier New"/>
                <a:ea typeface="Courier New"/>
              </a:rPr>
              <a:t>(adapter-&gt;</a:t>
            </a:r>
            <a:r>
              <a:rPr b="0" lang="en-IN" sz="2000" spc="-1" strike="noStrike" u="sng">
                <a:solidFill>
                  <a:srgbClr val="0000ff"/>
                </a:solidFill>
                <a:uFillTx/>
                <a:latin typeface="Courier New"/>
                <a:ea typeface="Courier New"/>
                <a:hlinkClick r:id="rId19"/>
              </a:rPr>
              <a:t>netdev</a:t>
            </a:r>
            <a:r>
              <a:rPr b="0" lang="en-IN" sz="2000" spc="-1" strike="noStrike">
                <a:solidFill>
                  <a:srgbClr val="0000ff"/>
                </a:solidFill>
                <a:latin typeface="Courier New"/>
                <a:ea typeface="Courier New"/>
              </a:rPr>
              <a:t>, &amp;</a:t>
            </a:r>
            <a:r>
              <a:rPr b="0" lang="en-IN" sz="2000" spc="-1" strike="noStrike" u="sng">
                <a:solidFill>
                  <a:srgbClr val="0000ff"/>
                </a:solidFill>
                <a:uFillTx/>
                <a:latin typeface="Courier New"/>
                <a:ea typeface="Courier New"/>
                <a:hlinkClick r:id="rId20"/>
              </a:rPr>
              <a:t>q_vector</a:t>
            </a:r>
            <a:r>
              <a:rPr b="0" lang="en-IN" sz="2000" spc="-1" strike="noStrike">
                <a:solidFill>
                  <a:srgbClr val="0000ff"/>
                </a:solidFill>
                <a:latin typeface="Courier New"/>
                <a:ea typeface="Courier New"/>
              </a:rPr>
              <a:t>-&gt;</a:t>
            </a:r>
            <a:r>
              <a:rPr b="0" lang="en-IN" sz="2000" spc="-1" strike="noStrike" u="sng">
                <a:solidFill>
                  <a:srgbClr val="0000ff"/>
                </a:solidFill>
                <a:uFillTx/>
                <a:latin typeface="Courier New"/>
                <a:ea typeface="Courier New"/>
                <a:hlinkClick r:id="rId21"/>
              </a:rPr>
              <a:t>napi</a:t>
            </a:r>
            <a:r>
              <a:rPr b="0" lang="en-IN" sz="2000" spc="-1" strike="noStrike">
                <a:solidFill>
                  <a:srgbClr val="0000ff"/>
                </a:solidFill>
                <a:latin typeface="Courier New"/>
                <a:ea typeface="Courier New"/>
              </a:rPr>
              <a:t>, </a:t>
            </a:r>
            <a:r>
              <a:rPr b="0" lang="en-IN" sz="2000" spc="-1" strike="noStrike" u="sng">
                <a:solidFill>
                  <a:srgbClr val="0000ff"/>
                </a:solidFill>
                <a:uFillTx/>
                <a:latin typeface="Courier New"/>
                <a:ea typeface="Courier New"/>
                <a:hlinkClick r:id="rId22"/>
              </a:rPr>
              <a:t>igb_poll</a:t>
            </a:r>
            <a:r>
              <a:rPr b="0" lang="en-IN" sz="2000" spc="-1" strike="noStrike">
                <a:solidFill>
                  <a:srgbClr val="0000ff"/>
                </a:solidFill>
                <a:latin typeface="Courier New"/>
                <a:ea typeface="Courier New"/>
              </a:rPr>
              <a: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504000" y="301320"/>
            <a:ext cx="9068400" cy="63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4" name="CustomShape 2"/>
          <p:cNvSpPr/>
          <p:nvPr/>
        </p:nvSpPr>
        <p:spPr>
          <a:xfrm>
            <a:off x="648000" y="4680000"/>
            <a:ext cx="4825800" cy="517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        </a:t>
            </a:r>
            <a:endParaRPr b="0" lang="en-US" sz="1000" spc="-1" strike="noStrike">
              <a:solidFill>
                <a:srgbClr val="000000"/>
              </a:solidFill>
              <a:latin typeface="Arial"/>
            </a:endParaRPr>
          </a:p>
        </p:txBody>
      </p:sp>
      <p:graphicFrame>
        <p:nvGraphicFramePr>
          <p:cNvPr id="275" name="Table 3"/>
          <p:cNvGraphicFramePr/>
          <p:nvPr/>
        </p:nvGraphicFramePr>
        <p:xfrm>
          <a:off x="213120" y="1175040"/>
          <a:ext cx="9531360" cy="2491560"/>
        </p:xfrm>
        <a:graphic>
          <a:graphicData uri="http://schemas.openxmlformats.org/drawingml/2006/table">
            <a:tbl>
              <a:tblPr/>
              <a:tblGrid>
                <a:gridCol w="4932720"/>
                <a:gridCol w="4599000"/>
              </a:tblGrid>
              <a:tr h="2491560">
                <a:tc>
                  <a:txBody>
                    <a:bodyPr lIns="90000" rIns="90000" anchor="t">
                      <a:noAutofit/>
                    </a:bodyPr>
                    <a:p>
                      <a:pPr>
                        <a:lnSpc>
                          <a:spcPct val="100000"/>
                        </a:lnSpc>
                      </a:pPr>
                      <a:r>
                        <a:rPr b="0" lang="en-IN" sz="1400" spc="-1" strike="noStrike">
                          <a:solidFill>
                            <a:srgbClr val="000000"/>
                          </a:solidFill>
                          <a:latin typeface="Arial"/>
                          <a:ea typeface="DejaVu Sans"/>
                        </a:rPr>
                        <a:t>static </a:t>
                      </a:r>
                      <a:r>
                        <a:rPr b="0" lang="en-IN" sz="1400" spc="-1" strike="noStrike" u="sng">
                          <a:solidFill>
                            <a:srgbClr val="0000ff"/>
                          </a:solidFill>
                          <a:uFillTx/>
                          <a:latin typeface="Arial"/>
                          <a:ea typeface="DejaVu Sans"/>
                          <a:hlinkClick r:id="rId1"/>
                        </a:rPr>
                        <a:t>irqreturn_t</a:t>
                      </a:r>
                      <a:r>
                        <a:rPr b="0" lang="en-IN" sz="1400" spc="-1" strike="noStrike">
                          <a:solidFill>
                            <a:srgbClr val="0000ff"/>
                          </a:solidFill>
                          <a:latin typeface="Arial"/>
                          <a:ea typeface="DejaVu Sans"/>
                        </a:rPr>
                        <a:t> </a:t>
                      </a:r>
                      <a:r>
                        <a:rPr b="0" lang="en-IN" sz="1400" spc="-1" strike="noStrike" u="sng">
                          <a:solidFill>
                            <a:srgbClr val="0000ff"/>
                          </a:solidFill>
                          <a:uFillTx/>
                          <a:latin typeface="Arial"/>
                          <a:ea typeface="DejaVu Sans"/>
                          <a:hlinkClick r:id="rId2"/>
                        </a:rPr>
                        <a:t>cp_interrupt</a:t>
                      </a:r>
                      <a:r>
                        <a:rPr b="0" lang="en-IN" sz="1400" spc="-1" strike="noStrike">
                          <a:solidFill>
                            <a:srgbClr val="0000ff"/>
                          </a:solidFill>
                          <a:latin typeface="Arial"/>
                          <a:ea typeface="DejaVu Sans"/>
                        </a:rPr>
                        <a:t> (int irq, void *</a:t>
                      </a:r>
                      <a:r>
                        <a:rPr b="0" lang="en-IN" sz="1400" spc="-1" strike="noStrike" u="sng">
                          <a:solidFill>
                            <a:srgbClr val="0000ff"/>
                          </a:solidFill>
                          <a:uFillTx/>
                          <a:latin typeface="Arial"/>
                          <a:ea typeface="DejaVu Sans"/>
                          <a:hlinkClick r:id="rId3"/>
                        </a:rPr>
                        <a:t>dev_instance</a:t>
                      </a: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if (napi_schedule_prep(&amp;cp-&gt;napi)) {</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cpw16_f(IntrMask, cp_norx_intr_mask);</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__napi_schedule(&amp;cp-&gt;napi);</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a:t>
                      </a:r>
                      <a:endParaRPr b="0" lang="en-US" sz="14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0" lang="en-IN" sz="1400" spc="-1" strike="noStrike">
                          <a:solidFill>
                            <a:srgbClr val="000000"/>
                          </a:solidFill>
                          <a:latin typeface="Arial"/>
                        </a:rPr>
                        <a:t>static irqreturn_t igb_msix_ring(int irq, void *data)</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struct igb_q_vector *q_vector = data;</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 Write the ITR value calculated from the previous interrupt.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igb_write_itr(q_vector);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napi_schedule(&amp;q_vector-&gt;napi);</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return IRQ_HANDLED;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a:t>
                      </a:r>
                      <a:endParaRPr b="0" lang="en-US" sz="14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bl>
          </a:graphicData>
        </a:graphic>
      </p:graphicFrame>
      <p:sp>
        <p:nvSpPr>
          <p:cNvPr id="276" name="CustomShape 4"/>
          <p:cNvSpPr/>
          <p:nvPr/>
        </p:nvSpPr>
        <p:spPr>
          <a:xfrm>
            <a:off x="0" y="3854160"/>
            <a:ext cx="10242000" cy="5718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root@rama-Inspiron-3501:/home/rama# cat /proc/net/dev</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Inter-|   Receive                                                |  Transmit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face |bytes    packets errs drop fifo frame compressed multicast|bytes    packets errs drop fifo colls carrier compressed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lo:   78648     861    0    0    0     0          0         0    78648     861    0    0    0     0       0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enp1s0:       0       0    0    0    0     0          0         0        0       0    0    0    0     0       0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wlp2s0: 19579109   17479    0    0    0     0          0         0  1601701    6250    0    0    0     0       0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docker0:       0       0    0    0    0     0          0         0        0       0    0    0    0     0       0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root@rama-Inspiron-3501:/home/rama# cat /proc/softirqs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CPU0       CPU1       CPU2       CPU3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HI:       4034       9380      39306       7424</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TIMER:      28734      35230      57754      32040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NET_TX:          1          0          6          3</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NET_RX:        283      21893      26053        347</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BLOCK:       1805       2099       2856       2292</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IRQ_POLL:          0          0          0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TASKLET:         39         78         62        314</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SCHED:      77103      89026     104056      74772</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HRTIMER:          0          0          0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RCU:      63961      68038      69233      63023</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root@rama-Inspiron-3501:/home/rama#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CustomShape 1"/>
          <p:cNvSpPr/>
          <p:nvPr/>
        </p:nvSpPr>
        <p:spPr>
          <a:xfrm>
            <a:off x="504000" y="30132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net_device_ops structure</a:t>
            </a:r>
            <a:endParaRPr b="0" lang="en-US" sz="4400" spc="-1" strike="noStrike">
              <a:solidFill>
                <a:srgbClr val="000000"/>
              </a:solidFill>
              <a:latin typeface="Arial"/>
            </a:endParaRPr>
          </a:p>
        </p:txBody>
      </p:sp>
      <p:graphicFrame>
        <p:nvGraphicFramePr>
          <p:cNvPr id="278" name="Table 2"/>
          <p:cNvGraphicFramePr/>
          <p:nvPr/>
        </p:nvGraphicFramePr>
        <p:xfrm>
          <a:off x="-4320" y="967680"/>
          <a:ext cx="10116000" cy="7884000"/>
        </p:xfrm>
        <a:graphic>
          <a:graphicData uri="http://schemas.openxmlformats.org/drawingml/2006/table">
            <a:tbl>
              <a:tblPr/>
              <a:tblGrid>
                <a:gridCol w="4946400"/>
                <a:gridCol w="5169960"/>
              </a:tblGrid>
              <a:tr h="7234920">
                <a:tc>
                  <a:txBody>
                    <a:bodyPr lIns="90000" rIns="90000" anchor="t">
                      <a:noAutofit/>
                    </a:bodyPr>
                    <a:p>
                      <a:pPr>
                        <a:lnSpc>
                          <a:spcPct val="100000"/>
                        </a:lnSpc>
                      </a:pPr>
                      <a:r>
                        <a:rPr b="0" lang="en-IN" sz="1400" spc="-1" strike="noStrike">
                          <a:solidFill>
                            <a:srgbClr val="000000"/>
                          </a:solidFill>
                          <a:latin typeface="Arial"/>
                        </a:rPr>
                        <a:t>static const struct net_device_ops axienet_netdev_ops =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.ndo_open = axienet_open,</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.ndo_stop = axienet_stop,</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.ndo_start_xmit = axienet_start_xmit,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.ndo_get_stats64 = axienet_get_stats64,</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.ndo_change_mtu</a:t>
                      </a:r>
                      <a:r>
                        <a:rPr b="0" lang="en-IN" sz="1400" spc="-1" strike="noStrike">
                          <a:solidFill>
                            <a:srgbClr val="000000"/>
                          </a:solidFill>
                          <a:latin typeface="Arial"/>
                        </a:rPr>
                        <a:t>	</a:t>
                      </a:r>
                      <a:r>
                        <a:rPr b="0" lang="en-IN" sz="1400" spc="-1" strike="noStrike">
                          <a:solidFill>
                            <a:srgbClr val="000000"/>
                          </a:solidFill>
                          <a:latin typeface="Arial"/>
                        </a:rPr>
                        <a:t>= axienet_change_mtu,</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.ndo_set_mac_address = netdev_set_mac_address,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.ndo_validate_addr = eth_validate_addr,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.ndo_eth_ioctl = axienet_ioctl,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.ndo_set_rx_mode = axienet_set_multicast_list,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#ifdef CONFIG_NET_POLL_CONTROLLER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.ndo_poll_controller = axienet_poll_controller,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#endif</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static const struct net_device_ops cp_netdev_ops =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.ndo_open</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cp_open,</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.ndo_stop</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cp_close,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.ndo_validate_addr</a:t>
                      </a:r>
                      <a:r>
                        <a:rPr b="0" lang="en-IN" sz="1400" spc="-1" strike="noStrike">
                          <a:solidFill>
                            <a:srgbClr val="000000"/>
                          </a:solidFill>
                          <a:latin typeface="Arial"/>
                        </a:rPr>
                        <a:t>	</a:t>
                      </a:r>
                      <a:r>
                        <a:rPr b="0" lang="en-IN" sz="1400" spc="-1" strike="noStrike">
                          <a:solidFill>
                            <a:srgbClr val="000000"/>
                          </a:solidFill>
                          <a:latin typeface="Arial"/>
                        </a:rPr>
                        <a:t>= eth_validate_addr,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.ndo_set_mac_address </a:t>
                      </a:r>
                      <a:r>
                        <a:rPr b="0" lang="en-IN" sz="1400" spc="-1" strike="noStrike">
                          <a:solidFill>
                            <a:srgbClr val="000000"/>
                          </a:solidFill>
                          <a:latin typeface="Arial"/>
                        </a:rPr>
                        <a:t>	</a:t>
                      </a:r>
                      <a:r>
                        <a:rPr b="0" lang="en-IN" sz="1400" spc="-1" strike="noStrike">
                          <a:solidFill>
                            <a:srgbClr val="000000"/>
                          </a:solidFill>
                          <a:latin typeface="Arial"/>
                        </a:rPr>
                        <a:t>= cp_set_mac_address,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.ndo_set_rx_mode</a:t>
                      </a:r>
                      <a:r>
                        <a:rPr b="0" lang="en-IN" sz="1400" spc="-1" strike="noStrike">
                          <a:solidFill>
                            <a:srgbClr val="000000"/>
                          </a:solidFill>
                          <a:latin typeface="Arial"/>
                        </a:rPr>
                        <a:t>	</a:t>
                      </a:r>
                      <a:r>
                        <a:rPr b="0" lang="en-IN" sz="1400" spc="-1" strike="noStrike">
                          <a:solidFill>
                            <a:srgbClr val="000000"/>
                          </a:solidFill>
                          <a:latin typeface="Arial"/>
                        </a:rPr>
                        <a:t>= cp_set_rx_mode,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.ndo_get_stats</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cp_get_stats,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.ndo_eth_ioctl</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cp_ioctl,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.ndo_start_xmit</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cp_start_xmit,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.ndo_tx_timeout</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cp_tx_timeout,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.ndo_set_features</a:t>
                      </a:r>
                      <a:r>
                        <a:rPr b="0" lang="en-IN" sz="1400" spc="-1" strike="noStrike">
                          <a:solidFill>
                            <a:srgbClr val="000000"/>
                          </a:solidFill>
                          <a:latin typeface="Arial"/>
                        </a:rPr>
                        <a:t>	</a:t>
                      </a:r>
                      <a:r>
                        <a:rPr b="0" lang="en-IN" sz="1400" spc="-1" strike="noStrike">
                          <a:solidFill>
                            <a:srgbClr val="000000"/>
                          </a:solidFill>
                          <a:latin typeface="Arial"/>
                        </a:rPr>
                        <a:t>= cp_set_features,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.ndo_change_mtu</a:t>
                      </a:r>
                      <a:r>
                        <a:rPr b="0" lang="en-IN" sz="1400" spc="-1" strike="noStrike">
                          <a:solidFill>
                            <a:srgbClr val="000000"/>
                          </a:solidFill>
                          <a:latin typeface="Arial"/>
                        </a:rPr>
                        <a:t>	</a:t>
                      </a:r>
                      <a:r>
                        <a:rPr b="0" lang="en-IN" sz="1400" spc="-1" strike="noStrike">
                          <a:solidFill>
                            <a:srgbClr val="000000"/>
                          </a:solidFill>
                          <a:latin typeface="Arial"/>
                        </a:rPr>
                        <a:t>	</a:t>
                      </a:r>
                      <a:r>
                        <a:rPr b="0" lang="en-IN" sz="1400" spc="-1" strike="noStrike">
                          <a:solidFill>
                            <a:srgbClr val="000000"/>
                          </a:solidFill>
                          <a:latin typeface="Arial"/>
                        </a:rPr>
                        <a:t>= cp_change_mtu,</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.ndo_features_check</a:t>
                      </a:r>
                      <a:r>
                        <a:rPr b="0" lang="en-IN" sz="1400" spc="-1" strike="noStrike">
                          <a:solidFill>
                            <a:srgbClr val="000000"/>
                          </a:solidFill>
                          <a:latin typeface="Arial"/>
                        </a:rPr>
                        <a:t>	</a:t>
                      </a:r>
                      <a:r>
                        <a:rPr b="0" lang="en-IN" sz="1400" spc="-1" strike="noStrike">
                          <a:solidFill>
                            <a:srgbClr val="000000"/>
                          </a:solidFill>
                          <a:latin typeface="Arial"/>
                        </a:rPr>
                        <a:t>= cp_features_check,</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#ifdef CONFIG_NET_POLL_CONTROLLER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	</a:t>
                      </a:r>
                      <a:r>
                        <a:rPr b="0" lang="en-IN" sz="1400" spc="-1" strike="noStrike">
                          <a:solidFill>
                            <a:srgbClr val="000000"/>
                          </a:solidFill>
                          <a:latin typeface="Arial"/>
                        </a:rPr>
                        <a:t>.ndo_poll_controller</a:t>
                      </a:r>
                      <a:r>
                        <a:rPr b="0" lang="en-IN" sz="1400" spc="-1" strike="noStrike">
                          <a:solidFill>
                            <a:srgbClr val="000000"/>
                          </a:solidFill>
                          <a:latin typeface="Arial"/>
                        </a:rPr>
                        <a:t>	</a:t>
                      </a:r>
                      <a:r>
                        <a:rPr b="0" lang="en-IN" sz="1400" spc="-1" strike="noStrike">
                          <a:solidFill>
                            <a:srgbClr val="000000"/>
                          </a:solidFill>
                          <a:latin typeface="Arial"/>
                        </a:rPr>
                        <a:t>= cp_poll_controller,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#endif</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rPr>
                        <a:t>};</a:t>
                      </a:r>
                      <a:endParaRPr b="0" lang="en-US" sz="14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0" lang="en-IN" sz="1200" spc="-1" strike="noStrike">
                          <a:solidFill>
                            <a:srgbClr val="000000"/>
                          </a:solidFill>
                          <a:latin typeface="Arial"/>
                        </a:rPr>
                        <a:t>static const struct net_device_ops igb_netdev_ops =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.ndo_open</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igb_open,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.ndo_stop</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igb_close,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.ndo_start_xmit</a:t>
                      </a:r>
                      <a:r>
                        <a:rPr b="0" lang="en-IN" sz="1200" spc="-1" strike="noStrike">
                          <a:solidFill>
                            <a:srgbClr val="000000"/>
                          </a:solidFill>
                          <a:latin typeface="Arial"/>
                        </a:rPr>
                        <a:t>	</a:t>
                      </a:r>
                      <a:r>
                        <a:rPr b="0" lang="en-IN" sz="1200" spc="-1" strike="noStrike">
                          <a:solidFill>
                            <a:srgbClr val="000000"/>
                          </a:solidFill>
                          <a:latin typeface="Arial"/>
                        </a:rPr>
                        <a:t>= igb_xmit_frame,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.ndo_get_stats64</a:t>
                      </a:r>
                      <a:r>
                        <a:rPr b="0" lang="en-IN" sz="1200" spc="-1" strike="noStrike">
                          <a:solidFill>
                            <a:srgbClr val="000000"/>
                          </a:solidFill>
                          <a:latin typeface="Arial"/>
                        </a:rPr>
                        <a:t>	</a:t>
                      </a:r>
                      <a:r>
                        <a:rPr b="0" lang="en-IN" sz="1200" spc="-1" strike="noStrike">
                          <a:solidFill>
                            <a:srgbClr val="000000"/>
                          </a:solidFill>
                          <a:latin typeface="Arial"/>
                        </a:rPr>
                        <a:t>= igb_get_stats64,</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.ndo_set_rx_mode</a:t>
                      </a:r>
                      <a:r>
                        <a:rPr b="0" lang="en-IN" sz="1200" spc="-1" strike="noStrike">
                          <a:solidFill>
                            <a:srgbClr val="000000"/>
                          </a:solidFill>
                          <a:latin typeface="Arial"/>
                        </a:rPr>
                        <a:t>	</a:t>
                      </a:r>
                      <a:r>
                        <a:rPr b="0" lang="en-IN" sz="1200" spc="-1" strike="noStrike">
                          <a:solidFill>
                            <a:srgbClr val="000000"/>
                          </a:solidFill>
                          <a:latin typeface="Arial"/>
                        </a:rPr>
                        <a:t>= igb_set_rx_mode,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.ndo_set_mac_address</a:t>
                      </a:r>
                      <a:r>
                        <a:rPr b="0" lang="en-IN" sz="1200" spc="-1" strike="noStrike">
                          <a:solidFill>
                            <a:srgbClr val="000000"/>
                          </a:solidFill>
                          <a:latin typeface="Arial"/>
                        </a:rPr>
                        <a:t>	</a:t>
                      </a:r>
                      <a:r>
                        <a:rPr b="0" lang="en-IN" sz="1200" spc="-1" strike="noStrike">
                          <a:solidFill>
                            <a:srgbClr val="000000"/>
                          </a:solidFill>
                          <a:latin typeface="Arial"/>
                        </a:rPr>
                        <a:t>= igb_set_mac,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.ndo_change_mtu</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igb_change_mtu,</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.ndo_eth_ioctl</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igb_ioctl,</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.ndo_tx_timeout</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igb_tx_timeout,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.ndo_validate_addr</a:t>
                      </a:r>
                      <a:r>
                        <a:rPr b="0" lang="en-IN" sz="1200" spc="-1" strike="noStrike">
                          <a:solidFill>
                            <a:srgbClr val="000000"/>
                          </a:solidFill>
                          <a:latin typeface="Arial"/>
                        </a:rPr>
                        <a:t>	</a:t>
                      </a:r>
                      <a:r>
                        <a:rPr b="0" lang="en-IN" sz="1200" spc="-1" strike="noStrike">
                          <a:solidFill>
                            <a:srgbClr val="000000"/>
                          </a:solidFill>
                          <a:latin typeface="Arial"/>
                        </a:rPr>
                        <a:t>= eth_validate_addr,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.ndo_vlan_rx_add_vid</a:t>
                      </a:r>
                      <a:r>
                        <a:rPr b="0" lang="en-IN" sz="1200" spc="-1" strike="noStrike">
                          <a:solidFill>
                            <a:srgbClr val="000000"/>
                          </a:solidFill>
                          <a:latin typeface="Arial"/>
                        </a:rPr>
                        <a:t>	</a:t>
                      </a:r>
                      <a:r>
                        <a:rPr b="0" lang="en-IN" sz="1200" spc="-1" strike="noStrike">
                          <a:solidFill>
                            <a:srgbClr val="000000"/>
                          </a:solidFill>
                          <a:latin typeface="Arial"/>
                        </a:rPr>
                        <a:t>= igb_vlan_rx_add_vid,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.ndo_vlan_rx_kill_vid</a:t>
                      </a:r>
                      <a:r>
                        <a:rPr b="0" lang="en-IN" sz="1200" spc="-1" strike="noStrike">
                          <a:solidFill>
                            <a:srgbClr val="000000"/>
                          </a:solidFill>
                          <a:latin typeface="Arial"/>
                        </a:rPr>
                        <a:t>	</a:t>
                      </a:r>
                      <a:r>
                        <a:rPr b="0" lang="en-IN" sz="1200" spc="-1" strike="noStrike">
                          <a:solidFill>
                            <a:srgbClr val="000000"/>
                          </a:solidFill>
                          <a:latin typeface="Arial"/>
                        </a:rPr>
                        <a:t>= igb_vlan_rx_kill_vid,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.ndo_set_vf_mac</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igb_ndo_set_vf_mac,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.ndo_set_vf_vlan</a:t>
                      </a:r>
                      <a:r>
                        <a:rPr b="0" lang="en-IN" sz="1200" spc="-1" strike="noStrike">
                          <a:solidFill>
                            <a:srgbClr val="000000"/>
                          </a:solidFill>
                          <a:latin typeface="Arial"/>
                        </a:rPr>
                        <a:t>	</a:t>
                      </a:r>
                      <a:r>
                        <a:rPr b="0" lang="en-IN" sz="1200" spc="-1" strike="noStrike">
                          <a:solidFill>
                            <a:srgbClr val="000000"/>
                          </a:solidFill>
                          <a:latin typeface="Arial"/>
                        </a:rPr>
                        <a:t>= igb_ndo_set_vf_vlan,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.ndo_set_vf_rate</a:t>
                      </a:r>
                      <a:r>
                        <a:rPr b="0" lang="en-IN" sz="1200" spc="-1" strike="noStrike">
                          <a:solidFill>
                            <a:srgbClr val="000000"/>
                          </a:solidFill>
                          <a:latin typeface="Arial"/>
                        </a:rPr>
                        <a:t>	</a:t>
                      </a:r>
                      <a:r>
                        <a:rPr b="0" lang="en-IN" sz="1200" spc="-1" strike="noStrike">
                          <a:solidFill>
                            <a:srgbClr val="000000"/>
                          </a:solidFill>
                          <a:latin typeface="Arial"/>
                        </a:rPr>
                        <a:t>= igb_ndo_set_vf_bw,</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.ndo_set_vf_spoofchk</a:t>
                      </a:r>
                      <a:r>
                        <a:rPr b="0" lang="en-IN" sz="1200" spc="-1" strike="noStrike">
                          <a:solidFill>
                            <a:srgbClr val="000000"/>
                          </a:solidFill>
                          <a:latin typeface="Arial"/>
                        </a:rPr>
                        <a:t>	</a:t>
                      </a:r>
                      <a:r>
                        <a:rPr b="0" lang="en-IN" sz="1200" spc="-1" strike="noStrike">
                          <a:solidFill>
                            <a:srgbClr val="000000"/>
                          </a:solidFill>
                          <a:latin typeface="Arial"/>
                        </a:rPr>
                        <a:t>= igb_ndo_set_vf_spoofchk,</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.ndo_set_vf_trust</a:t>
                      </a:r>
                      <a:r>
                        <a:rPr b="0" lang="en-IN" sz="1200" spc="-1" strike="noStrike">
                          <a:solidFill>
                            <a:srgbClr val="000000"/>
                          </a:solidFill>
                          <a:latin typeface="Arial"/>
                        </a:rPr>
                        <a:t>	</a:t>
                      </a:r>
                      <a:r>
                        <a:rPr b="0" lang="en-IN" sz="1200" spc="-1" strike="noStrike">
                          <a:solidFill>
                            <a:srgbClr val="000000"/>
                          </a:solidFill>
                          <a:latin typeface="Arial"/>
                        </a:rPr>
                        <a:t>= igb_ndo_set_vf_trust,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.ndo_get_vf_config</a:t>
                      </a:r>
                      <a:r>
                        <a:rPr b="0" lang="en-IN" sz="1200" spc="-1" strike="noStrike">
                          <a:solidFill>
                            <a:srgbClr val="000000"/>
                          </a:solidFill>
                          <a:latin typeface="Arial"/>
                        </a:rPr>
                        <a:t>	</a:t>
                      </a:r>
                      <a:r>
                        <a:rPr b="0" lang="en-IN" sz="1200" spc="-1" strike="noStrike">
                          <a:solidFill>
                            <a:srgbClr val="000000"/>
                          </a:solidFill>
                          <a:latin typeface="Arial"/>
                        </a:rPr>
                        <a:t>= igb_ndo_get_vf_config,</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.ndo_fix_features</a:t>
                      </a:r>
                      <a:r>
                        <a:rPr b="0" lang="en-IN" sz="1200" spc="-1" strike="noStrike">
                          <a:solidFill>
                            <a:srgbClr val="000000"/>
                          </a:solidFill>
                          <a:latin typeface="Arial"/>
                        </a:rPr>
                        <a:t>	</a:t>
                      </a:r>
                      <a:r>
                        <a:rPr b="0" lang="en-IN" sz="1200" spc="-1" strike="noStrike">
                          <a:solidFill>
                            <a:srgbClr val="000000"/>
                          </a:solidFill>
                          <a:latin typeface="Arial"/>
                        </a:rPr>
                        <a:t>= igb_fix_features,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.ndo_set_features</a:t>
                      </a:r>
                      <a:r>
                        <a:rPr b="0" lang="en-IN" sz="1200" spc="-1" strike="noStrike">
                          <a:solidFill>
                            <a:srgbClr val="000000"/>
                          </a:solidFill>
                          <a:latin typeface="Arial"/>
                        </a:rPr>
                        <a:t>	</a:t>
                      </a:r>
                      <a:r>
                        <a:rPr b="0" lang="en-IN" sz="1200" spc="-1" strike="noStrike">
                          <a:solidFill>
                            <a:srgbClr val="000000"/>
                          </a:solidFill>
                          <a:latin typeface="Arial"/>
                        </a:rPr>
                        <a:t>= igb_set_features,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.ndo_fdb_add</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igb_ndo_fdb_add,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.ndo_features_check</a:t>
                      </a:r>
                      <a:r>
                        <a:rPr b="0" lang="en-IN" sz="1200" spc="-1" strike="noStrike">
                          <a:solidFill>
                            <a:srgbClr val="000000"/>
                          </a:solidFill>
                          <a:latin typeface="Arial"/>
                        </a:rPr>
                        <a:t>	</a:t>
                      </a:r>
                      <a:r>
                        <a:rPr b="0" lang="en-IN" sz="1200" spc="-1" strike="noStrike">
                          <a:solidFill>
                            <a:srgbClr val="000000"/>
                          </a:solidFill>
                          <a:latin typeface="Arial"/>
                        </a:rPr>
                        <a:t>= igb_features_check,</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.ndo_setup_tc</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igb_setup_tc,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.ndo_bpf</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igb_xdp,</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	</a:t>
                      </a:r>
                      <a:r>
                        <a:rPr b="0" lang="en-IN" sz="1200" spc="-1" strike="noStrike">
                          <a:solidFill>
                            <a:srgbClr val="000000"/>
                          </a:solidFill>
                          <a:latin typeface="Arial"/>
                        </a:rPr>
                        <a:t>.ndo_xdp_xmit</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igb_xdp_xmit,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rPr>
                        <a: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CustomShape 1"/>
          <p:cNvSpPr/>
          <p:nvPr/>
        </p:nvSpPr>
        <p:spPr>
          <a:xfrm>
            <a:off x="504000" y="30132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ethtool_ops</a:t>
            </a:r>
            <a:endParaRPr b="0" lang="en-US" sz="4400" spc="-1" strike="noStrike">
              <a:solidFill>
                <a:srgbClr val="000000"/>
              </a:solidFill>
              <a:latin typeface="Arial"/>
            </a:endParaRPr>
          </a:p>
        </p:txBody>
      </p:sp>
      <p:sp>
        <p:nvSpPr>
          <p:cNvPr id="280" name="CustomShape 2"/>
          <p:cNvSpPr/>
          <p:nvPr/>
        </p:nvSpPr>
        <p:spPr>
          <a:xfrm>
            <a:off x="5711760" y="1998000"/>
            <a:ext cx="3861000" cy="373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Courier New"/>
              </a:rPr>
              <a:t> </a:t>
            </a:r>
            <a:endParaRPr b="0" lang="en-US" sz="1000" spc="-1" strike="noStrike">
              <a:solidFill>
                <a:srgbClr val="000000"/>
              </a:solidFill>
              <a:latin typeface="Arial"/>
            </a:endParaRPr>
          </a:p>
        </p:txBody>
      </p:sp>
      <p:graphicFrame>
        <p:nvGraphicFramePr>
          <p:cNvPr id="281" name="Table 3"/>
          <p:cNvGraphicFramePr/>
          <p:nvPr/>
        </p:nvGraphicFramePr>
        <p:xfrm>
          <a:off x="-77760" y="959400"/>
          <a:ext cx="14554800" cy="12844080"/>
        </p:xfrm>
        <a:graphic>
          <a:graphicData uri="http://schemas.openxmlformats.org/drawingml/2006/table">
            <a:tbl>
              <a:tblPr/>
              <a:tblGrid>
                <a:gridCol w="4253040"/>
                <a:gridCol w="4031640"/>
                <a:gridCol w="6270480"/>
              </a:tblGrid>
              <a:tr h="12124080">
                <a:tc>
                  <a:txBody>
                    <a:bodyPr lIns="90000" rIns="90000" anchor="t">
                      <a:noAutofit/>
                    </a:bodyPr>
                    <a:p>
                      <a:pPr>
                        <a:lnSpc>
                          <a:spcPct val="100000"/>
                        </a:lnSpc>
                      </a:pPr>
                      <a:r>
                        <a:rPr b="1" lang="en-IN" sz="1200" spc="-1" strike="noStrike">
                          <a:solidFill>
                            <a:srgbClr val="000000"/>
                          </a:solidFill>
                          <a:latin typeface="Arial"/>
                          <a:ea typeface="DejaVu Sans"/>
                        </a:rPr>
                        <a:t>netdev-&gt;ethtool_ops = &amp;igb_ethtool_ops;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static const struct ethtool_ops igb_ethtool_ops =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.supported_coalesce_params = ETHTOOL_COALESCE_USECS,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.get_drvinfo</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igb_get_drvinfo,</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.get_regs_len</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igb_get_regs_len,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.get_regs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igb_get_regs,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.get_wol</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igb_get_wol,</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.set_wol</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igb_set_wol,</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.get_msglevel</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igb_get_msglevel,</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.set_msglevel</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igb_set_msglevel,</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.nway_reset</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igb_nway_reset,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.get_link</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igb_get_link,</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.get_eeprom_len</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igb_get_eeprom_len,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.get_eeprom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igb_get_eeprom,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.set_eeprom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igb_set_eeprom,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.get_ringparam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igb_get_ringparam,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.set_ringparam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igb_set_ringparam,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.get_pauseparam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igb_get_pauseparam,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.set_pauseparam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igb_set_pauseparam,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.self_test</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igb_diag_test,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.get_strings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igb_get_strings,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.set_phys_id</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igb_set_phys_id,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.get_sset_count</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igb_get_sset_count,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.get_ethtool_stats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igb_get_ethtool_stats,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.get_coalesce</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igb_get_coalesce,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.set_coalesce</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igb_set_coalesce,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.get_ts_info</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igb_get_ts_info,</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.get_rxnfc</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igb_get_rxnfc,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.set_rxnfc</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igb_set_rxnfc,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.get_eee</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igb_get_eee,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.set_eee</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igb_set_eee,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.get_module_info</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igb_get_module_info,</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.get_module_eeprom</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igb_get_module_eeprom,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.get_rxfh_indir_size</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igb_get_rxfh_indir_size,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.get_rxfh</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igb_get_rxfh,</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.set_rxfh</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igb_set_rxfh,</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.get_channels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igb_get_channels,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.set_channels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igb_set_channels,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.get_priv_flags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igb_get_priv_flags,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.set_priv_flags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igb_set_priv_flags,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.begin</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igb_ethtool_begin,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.complete</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igb_ethtool_complete,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.get_link_ksettings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igb_get_link_ksettings,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.set_link_ksettings</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igb_set_link_ksettings,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200" spc="-1" strike="noStrike">
                          <a:solidFill>
                            <a:srgbClr val="000000"/>
                          </a:solidFill>
                          <a:latin typeface="Arial"/>
                          <a:ea typeface="DejaVu Sans"/>
                        </a:rPr>
                        <a:t>dev-&gt;</a:t>
                      </a:r>
                      <a:r>
                        <a:rPr b="1" lang="en-IN" sz="1200" spc="-1" strike="noStrike" u="sng">
                          <a:solidFill>
                            <a:srgbClr val="0000ff"/>
                          </a:solidFill>
                          <a:uFillTx/>
                          <a:latin typeface="Arial"/>
                          <a:ea typeface="DejaVu Sans"/>
                          <a:hlinkClick r:id="rId1"/>
                        </a:rPr>
                        <a:t>ethtool_ops</a:t>
                      </a:r>
                      <a:r>
                        <a:rPr b="1" lang="en-IN" sz="1200" spc="-1" strike="noStrike">
                          <a:solidFill>
                            <a:srgbClr val="0000ff"/>
                          </a:solidFill>
                          <a:latin typeface="Arial"/>
                          <a:ea typeface="DejaVu Sans"/>
                        </a:rPr>
                        <a:t> = &amp;</a:t>
                      </a:r>
                      <a:r>
                        <a:rPr b="1" lang="en-IN" sz="1200" spc="-1" strike="noStrike" u="sng">
                          <a:solidFill>
                            <a:srgbClr val="0000ff"/>
                          </a:solidFill>
                          <a:uFillTx/>
                          <a:latin typeface="Arial"/>
                          <a:ea typeface="DejaVu Sans"/>
                          <a:hlinkClick r:id="rId2"/>
                        </a:rPr>
                        <a:t>cp_ethtool_ops</a:t>
                      </a:r>
                      <a:r>
                        <a:rPr b="1" lang="en-IN" sz="1200" spc="-1" strike="noStrike">
                          <a:solidFill>
                            <a:srgbClr val="0000ff"/>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static const struct ethtool_ops cp_ethtool_ops = {</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.get_drvinfo</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cp_get_drvinfo,</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.get_regs_len</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cp_get_regs_len,</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.get_sset_count</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cp_get_sset_count,</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.nway_reset</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cp_nway_reset,</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.get_link</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ethtool_op_get_link,</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.get_msglevel</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cp_get_msglevel,</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.set_msglevel</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cp_set_msglevel,</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.get_regs</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cp_get_regs,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.get_wol</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cp_get_wol,</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.set_wol</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cp_set_wol,</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.get_strings</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cp_get_strings,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.get_ethtool_stats</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cp_get_ethtool_stats,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.get_eeprom_len</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cp_get_eeprom_len,</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.get_eeprom</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cp_get_eeprom,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.set_eeprom</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cp_set_eeprom,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.get_ringparam</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cp_get_ringparam,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.get_link_ksettings</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cp_get_link_ksettings,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.set_link_ksettings</a:t>
                      </a:r>
                      <a:r>
                        <a:rPr b="0" lang="en-IN" sz="1200" spc="-1" strike="noStrike">
                          <a:solidFill>
                            <a:srgbClr val="0000ff"/>
                          </a:solidFill>
                          <a:latin typeface="Arial"/>
                          <a:ea typeface="DejaVu Sans"/>
                        </a:rPr>
                        <a:t>	</a:t>
                      </a:r>
                      <a:r>
                        <a:rPr b="0" lang="en-IN" sz="1200" spc="-1" strike="noStrike">
                          <a:solidFill>
                            <a:srgbClr val="0000ff"/>
                          </a:solidFill>
                          <a:latin typeface="Arial"/>
                          <a:ea typeface="DejaVu Sans"/>
                        </a:rPr>
                        <a:t>= cp_set_link_ksettings,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Arial"/>
                          <a:ea typeface="DejaVu Sans"/>
                        </a:rPr>
                        <a: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200" spc="-1" strike="noStrike" u="sng">
                          <a:solidFill>
                            <a:srgbClr val="0000ff"/>
                          </a:solidFill>
                          <a:uFillTx/>
                          <a:latin typeface="Courier New"/>
                          <a:ea typeface="Courier New"/>
                          <a:hlinkClick r:id="rId3"/>
                        </a:rPr>
                        <a:t>ndev</a:t>
                      </a:r>
                      <a:r>
                        <a:rPr b="1" lang="en-IN" sz="1200" spc="-1" strike="noStrike">
                          <a:solidFill>
                            <a:srgbClr val="0000ff"/>
                          </a:solidFill>
                          <a:latin typeface="Courier New"/>
                          <a:ea typeface="Courier New"/>
                        </a:rPr>
                        <a:t>-&gt;</a:t>
                      </a:r>
                      <a:r>
                        <a:rPr b="1" lang="en-IN" sz="1200" spc="-1" strike="noStrike" u="sng">
                          <a:solidFill>
                            <a:srgbClr val="0000ff"/>
                          </a:solidFill>
                          <a:uFillTx/>
                          <a:latin typeface="Courier New"/>
                          <a:ea typeface="Courier New"/>
                          <a:hlinkClick r:id="rId4"/>
                        </a:rPr>
                        <a:t>ethtool_ops</a:t>
                      </a:r>
                      <a:r>
                        <a:rPr b="1" lang="en-IN" sz="1200" spc="-1" strike="noStrike">
                          <a:solidFill>
                            <a:srgbClr val="0000ff"/>
                          </a:solidFill>
                          <a:latin typeface="Courier New"/>
                          <a:ea typeface="Courier New"/>
                        </a:rPr>
                        <a:t> = &amp;</a:t>
                      </a:r>
                      <a:r>
                        <a:rPr b="1" lang="en-IN" sz="1200" spc="-1" strike="noStrike" u="sng">
                          <a:solidFill>
                            <a:srgbClr val="0000ff"/>
                          </a:solidFill>
                          <a:uFillTx/>
                          <a:latin typeface="Courier New"/>
                          <a:ea typeface="Courier New"/>
                          <a:hlinkClick r:id="rId5"/>
                        </a:rPr>
                        <a:t>axienet_ethtool_ops</a:t>
                      </a:r>
                      <a:r>
                        <a:rPr b="1" lang="en-IN" sz="1200" spc="-1" strike="noStrike">
                          <a:solidFill>
                            <a:srgbClr val="0000ff"/>
                          </a:solidFill>
                          <a:latin typeface="Courier New"/>
                          <a:ea typeface="Courier New"/>
                        </a:rPr>
                        <a:t>;</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static const struct ethtool_ops axienet_ethtool_ops = {</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.supported_coalesce_params = ETHTOOL_COALESCE_MAX_FRAMES |</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ETHTOOL_COALESCE_USECS,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.get_drvinfo    = axienet_ethtools_get_drvinfo,</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.get_regs_len   = axienet_ethtools_get_regs_len,</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.get_regs       = axienet_ethtools_get_regs,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.get_link       = ethtool_op_get_link,</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.get_ringparam</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axienet_ethtools_get_ringparam,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.set_ringparam</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axienet_ethtools_set_ringparam,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.get_pauseparam = axienet_ethtools_get_pauseparam,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.set_pauseparam = axienet_ethtools_set_pauseparam,</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.get_coalesce   = axienet_ethtools_get_coalesce,</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.set_coalesce   = axienet_ethtools_set_coalesce,</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.get_link_ksettings = axienet_ethtools_get_link_ksettings,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.set_link_ksettings = axienet_ethtools_set_link_ksettings,</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.nway_reset</a:t>
                      </a:r>
                      <a:r>
                        <a:rPr b="0" lang="en-IN" sz="1200" spc="-1" strike="noStrike">
                          <a:solidFill>
                            <a:srgbClr val="0000ff"/>
                          </a:solidFill>
                          <a:latin typeface="Courier New"/>
                          <a:ea typeface="Courier New"/>
                        </a:rPr>
                        <a:t>	</a:t>
                      </a:r>
                      <a:r>
                        <a:rPr b="0" lang="en-IN" sz="1200" spc="-1" strike="noStrike">
                          <a:solidFill>
                            <a:srgbClr val="0000ff"/>
                          </a:solidFill>
                          <a:latin typeface="Courier New"/>
                          <a:ea typeface="Courier New"/>
                        </a:rPr>
                        <a:t>= axienet_ethtools_nway_reset,</a:t>
                      </a:r>
                      <a:endParaRPr b="0" lang="en-US" sz="1200" spc="-1" strike="noStrike">
                        <a:solidFill>
                          <a:srgbClr val="000000"/>
                        </a:solidFill>
                        <a:latin typeface="Arial"/>
                      </a:endParaRPr>
                    </a:p>
                    <a:p>
                      <a:pPr>
                        <a:lnSpc>
                          <a:spcPct val="100000"/>
                        </a:lnSpc>
                      </a:pPr>
                      <a:r>
                        <a:rPr b="0" lang="en-IN" sz="1200" spc="-1" strike="noStrike">
                          <a:solidFill>
                            <a:srgbClr val="0000ff"/>
                          </a:solidFill>
                          <a:latin typeface="Courier New"/>
                          <a:ea typeface="Courier New"/>
                        </a:rPr>
                        <a: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720000">
                <a:tc>
                  <a:txBody>
                    <a:bodyPr lIns="90000" rIns="90000" anchor="t">
                      <a:noAutofit/>
                    </a:bodyPr>
                    <a:p>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CustomShape 13"/>
          <p:cNvSpPr/>
          <p:nvPr/>
        </p:nvSpPr>
        <p:spPr>
          <a:xfrm>
            <a:off x="72000" y="1008000"/>
            <a:ext cx="9860760" cy="6437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500" spc="-1" strike="noStrike">
                <a:solidFill>
                  <a:srgbClr val="000000"/>
                </a:solidFill>
                <a:latin typeface="Arial"/>
                <a:ea typeface="DejaVu Sans"/>
              </a:rPr>
              <a:t>The below network driver concepts are explained with respect to </a:t>
            </a:r>
            <a:r>
              <a:rPr b="1" lang="en-IN" sz="1500" spc="-1" strike="noStrike">
                <a:solidFill>
                  <a:srgbClr val="000000"/>
                </a:solidFill>
                <a:latin typeface="Arial"/>
                <a:ea typeface="DejaVu Sans"/>
              </a:rPr>
              <a:t>RealTek 8139C+ PCI, Intel IGB driver, and Xilinx AXI platform</a:t>
            </a:r>
            <a:r>
              <a:rPr b="0" lang="en-IN" sz="1500" spc="-1" strike="noStrike">
                <a:solidFill>
                  <a:srgbClr val="000000"/>
                </a:solidFill>
                <a:latin typeface="Arial"/>
                <a:ea typeface="DejaVu Sans"/>
              </a:rPr>
              <a:t> ethernet driver(Linux Kernel version 6.0) </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The high level path a packet takes from arrival to socket receive buffer is as follows: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1. Driver is loaded and initialized.</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2. Packet arrives at the NIC from the network.</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3. Packet is copied (via DMA) to a ring buffer in kernel memory.</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4. Hardware interrupt is generated to let the system know a packet is in memory.</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5. Driver calls into NAPI to start a poll loop if one was not running already.</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6. ksoftirqd processes run on each CPU on the system. They are registered at boot time. The ksoftirqd processes pull packets off the ring buffer by calling the NAPI poll function that the device driver registered during initialization.</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7. Memory regions in the ring buffer that have had network data written to them are unmapped.</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8. Data that was DMA  into memory is passed up the networking layer as an skb for more processing.</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9. Incoming network data frames are distributed among multiple CPUs if packet steering is enabled or if the NIC has multiple receive queues.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10. Network data frames are handed to the protocol layers from the queues.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11. Protocol layers process data.</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12. Data is added to receive buffers attached to sockets by protocol layers.</a:t>
            </a:r>
            <a:endParaRPr b="0" lang="en-US" sz="1500" spc="-1" strike="noStrike">
              <a:solidFill>
                <a:srgbClr val="000000"/>
              </a:solidFill>
              <a:latin typeface="Arial"/>
            </a:endParaRPr>
          </a:p>
          <a:p>
            <a:pPr>
              <a:lnSpc>
                <a:spcPct val="100000"/>
              </a:lnSpc>
            </a:pPr>
            <a:endParaRPr b="0" lang="en-US" sz="1500" spc="-1" strike="noStrike">
              <a:solidFill>
                <a:srgbClr val="000000"/>
              </a:solidFill>
              <a:latin typeface="Arial"/>
            </a:endParaRPr>
          </a:p>
        </p:txBody>
      </p:sp>
      <p:sp>
        <p:nvSpPr>
          <p:cNvPr id="283" name="CustomShape 14"/>
          <p:cNvSpPr/>
          <p:nvPr/>
        </p:nvSpPr>
        <p:spPr>
          <a:xfrm>
            <a:off x="504360" y="301680"/>
            <a:ext cx="9068400" cy="6343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Overview of network driver flow path</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
          <p:cNvSpPr/>
          <p:nvPr/>
        </p:nvSpPr>
        <p:spPr>
          <a:xfrm>
            <a:off x="259560" y="457200"/>
            <a:ext cx="3625560" cy="102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a933"/>
                </a:solidFill>
                <a:latin typeface="Arial"/>
                <a:ea typeface="DejaVu Sans"/>
              </a:rPr>
              <a:t>Network Device Driver</a:t>
            </a:r>
            <a:endParaRPr b="0" lang="en-US" sz="18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285" name=""/>
          <p:cNvSpPr/>
          <p:nvPr/>
        </p:nvSpPr>
        <p:spPr>
          <a:xfrm>
            <a:off x="259560" y="1110240"/>
            <a:ext cx="9340560" cy="48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The igb initialization function (igb_init_module) and its registration with module_init</a:t>
            </a:r>
            <a:endParaRPr b="0" lang="en-US" sz="1400" spc="-1" strike="noStrike">
              <a:solidFill>
                <a:srgbClr val="000000"/>
              </a:solidFill>
              <a:latin typeface="Arial"/>
            </a:endParaRPr>
          </a:p>
        </p:txBody>
      </p:sp>
      <p:sp>
        <p:nvSpPr>
          <p:cNvPr id="286" name=""/>
          <p:cNvSpPr/>
          <p:nvPr/>
        </p:nvSpPr>
        <p:spPr>
          <a:xfrm>
            <a:off x="685800" y="110520"/>
            <a:ext cx="8947080" cy="345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https://github.com/torvalds/linux/blob/v6.19-rc3/drivers/net/ethernet/intel/igb/igb_main.c</a:t>
            </a:r>
            <a:endParaRPr b="0" lang="en-US" sz="1800" spc="-1" strike="noStrike">
              <a:solidFill>
                <a:srgbClr val="000000"/>
              </a:solidFill>
              <a:latin typeface="Arial"/>
            </a:endParaRPr>
          </a:p>
        </p:txBody>
      </p:sp>
      <p:sp>
        <p:nvSpPr>
          <p:cNvPr id="287" name=""/>
          <p:cNvSpPr/>
          <p:nvPr/>
        </p:nvSpPr>
        <p:spPr>
          <a:xfrm>
            <a:off x="1371600" y="1478520"/>
            <a:ext cx="6628320" cy="2970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800080"/>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igb_init_module - Driver Registration Routine</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igb_init_module is the first routine called when the driver is</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loaded. All it does is register with the PCI subsystem.</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static int __init igb_init_module(void)</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int ret;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pr_info("%s - version %s\n", igb_driver_string, igb_driver_version);</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pr_info("%s\n", igb_copyright);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ret = pci_register_driver(&amp;igb_driver);</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return ret;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module_init(igb_init_module);</a:t>
            </a:r>
            <a:endParaRPr b="0" lang="en-US" sz="1200" spc="-1" strike="noStrike">
              <a:solidFill>
                <a:srgbClr val="000000"/>
              </a:solidFill>
              <a:latin typeface="Arial"/>
            </a:endParaRPr>
          </a:p>
        </p:txBody>
      </p:sp>
      <p:sp>
        <p:nvSpPr>
          <p:cNvPr id="288" name=""/>
          <p:cNvSpPr/>
          <p:nvPr/>
        </p:nvSpPr>
        <p:spPr>
          <a:xfrm>
            <a:off x="316080" y="4450320"/>
            <a:ext cx="8369640" cy="2332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000" spc="-1" strike="noStrike">
                <a:solidFill>
                  <a:srgbClr val="000000"/>
                </a:solidFill>
                <a:latin typeface="Courier New"/>
                <a:ea typeface="DejaVu Sans"/>
              </a:rPr>
              <a:t>PCI initialization:</a:t>
            </a:r>
            <a:br>
              <a:rPr sz="1000"/>
            </a:br>
            <a:r>
              <a:rPr b="0" lang="en-US" sz="1000" spc="-1" strike="noStrike">
                <a:solidFill>
                  <a:srgbClr val="000000"/>
                </a:solidFill>
                <a:latin typeface="Courier New"/>
                <a:ea typeface="DejaVu Sans"/>
              </a:rPr>
              <a:t>The Intel I350 network card is a </a:t>
            </a:r>
            <a:r>
              <a:rPr b="0" lang="en-US" sz="1000" spc="-1" strike="noStrike" u="sng">
                <a:solidFill>
                  <a:srgbClr val="0000ff"/>
                </a:solidFill>
                <a:uFillTx/>
                <a:latin typeface="Courier New"/>
                <a:ea typeface="DejaVu Sans"/>
                <a:hlinkClick r:id="rId1"/>
              </a:rPr>
              <a:t>PCI express</a:t>
            </a:r>
            <a:r>
              <a:rPr b="0" lang="en-US" sz="1000" spc="-1" strike="noStrike">
                <a:solidFill>
                  <a:srgbClr val="000000"/>
                </a:solidFill>
                <a:latin typeface="Courier New"/>
                <a:ea typeface="DejaVu Sans"/>
              </a:rPr>
              <a:t> device.</a:t>
            </a:r>
            <a:br>
              <a:rPr sz="1000"/>
            </a:br>
            <a:r>
              <a:rPr b="0" lang="en-US" sz="1000" spc="-1" strike="noStrike">
                <a:solidFill>
                  <a:srgbClr val="000000"/>
                </a:solidFill>
                <a:latin typeface="Courier New"/>
                <a:ea typeface="DejaVu Sans"/>
              </a:rPr>
              <a:t>PCI devices identify themselves with a series of registers in the </a:t>
            </a:r>
            <a:r>
              <a:rPr b="0" lang="en-US" sz="1000" spc="-1" strike="noStrike" u="sng">
                <a:solidFill>
                  <a:srgbClr val="0000ff"/>
                </a:solidFill>
                <a:uFillTx/>
                <a:latin typeface="Courier New"/>
                <a:ea typeface="DejaVu Sans"/>
                <a:hlinkClick r:id="rId2"/>
              </a:rPr>
              <a:t>PCI Configuration Space</a:t>
            </a:r>
            <a:r>
              <a:rPr b="0" lang="en-US" sz="1000" spc="-1" strike="noStrike">
                <a:solidFill>
                  <a:srgbClr val="000000"/>
                </a:solidFill>
                <a:latin typeface="Courier New"/>
                <a:ea typeface="DejaVu Sans"/>
              </a:rPr>
              <a:t>.</a:t>
            </a:r>
            <a:br>
              <a:rPr sz="1000"/>
            </a:br>
            <a:br>
              <a:rPr sz="1000"/>
            </a:br>
            <a:r>
              <a:rPr b="0" lang="en-US" sz="1200" spc="-1" strike="noStrike">
                <a:solidFill>
                  <a:srgbClr val="800080"/>
                </a:solidFill>
                <a:latin typeface="Courier New"/>
                <a:ea typeface="DejaVu Sans"/>
              </a:rPr>
              <a:t>static DEFINE_PCI_DEVICE_TABLE(igb_pci_tbl) = {</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PCI_VDEVICE(INTEL, E1000_DEV_ID_I354_BACKPLANE_1GBPS) },</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PCI_VDEVICE(INTEL, E1000_DEV_ID_I354_SGMII) },</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DejaVu Sans"/>
              </a:rPr>
              <a:t>  </a:t>
            </a:r>
            <a:r>
              <a:rPr b="0" lang="en-US" sz="1200" spc="-1" strike="noStrike">
                <a:solidFill>
                  <a:srgbClr val="800080"/>
                </a:solidFill>
                <a:latin typeface="Courier New"/>
                <a:ea typeface="DejaVu Sans"/>
              </a:rPr>
              <a:t>{ PCI_VDEVICE(INTEL, E1000_DEV_ID_I354_BACKPLANE_2_5GBPS) },</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Courier New"/>
              </a:rPr>
              <a:t>  </a:t>
            </a:r>
            <a:r>
              <a:rPr b="0" lang="en-US" sz="1200" spc="-1" strike="noStrike">
                <a:solidFill>
                  <a:srgbClr val="800080"/>
                </a:solidFill>
                <a:latin typeface="Courier New"/>
                <a:ea typeface="Courier New"/>
              </a:rPr>
              <a:t>/* ... */</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Courier New"/>
              </a:rPr>
              <a:t>};</a:t>
            </a:r>
            <a:endParaRPr b="0" lang="en-US" sz="1200" spc="-1" strike="noStrike">
              <a:solidFill>
                <a:srgbClr val="000000"/>
              </a:solidFill>
              <a:latin typeface="Arial"/>
            </a:endParaRPr>
          </a:p>
          <a:p>
            <a:pPr>
              <a:lnSpc>
                <a:spcPct val="100000"/>
              </a:lnSpc>
            </a:pPr>
            <a:r>
              <a:rPr b="0" lang="en-US" sz="1200" spc="-1" strike="noStrike">
                <a:solidFill>
                  <a:srgbClr val="800080"/>
                </a:solidFill>
                <a:latin typeface="Courier New"/>
                <a:ea typeface="Courier New"/>
              </a:rPr>
              <a:t>MODULE_DEVICE_TABLE(pci, igb_pci_tbl);</a:t>
            </a:r>
            <a:endParaRPr b="0" lang="en-US" sz="1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289" name=""/>
          <p:cNvSpPr/>
          <p:nvPr/>
        </p:nvSpPr>
        <p:spPr>
          <a:xfrm>
            <a:off x="6232320" y="5029200"/>
            <a:ext cx="3596400" cy="1900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2a6099"/>
                </a:solidFill>
                <a:latin typeface="Courier New"/>
                <a:ea typeface="DejaVu Sans"/>
              </a:rPr>
              <a:t>static struct pci_driver igb_driver = {</a:t>
            </a:r>
            <a:endParaRPr b="0" lang="en-US" sz="1400" spc="-1" strike="noStrike">
              <a:solidFill>
                <a:srgbClr val="000000"/>
              </a:solidFill>
              <a:latin typeface="Arial"/>
            </a:endParaRPr>
          </a:p>
          <a:p>
            <a:pPr>
              <a:lnSpc>
                <a:spcPct val="100000"/>
              </a:lnSpc>
            </a:pPr>
            <a:r>
              <a:rPr b="0" lang="en-US" sz="1400" spc="-1" strike="noStrike">
                <a:solidFill>
                  <a:srgbClr val="2a6099"/>
                </a:solidFill>
                <a:latin typeface="Courier New"/>
                <a:ea typeface="DejaVu Sans"/>
              </a:rPr>
              <a:t>  </a:t>
            </a:r>
            <a:r>
              <a:rPr b="0" lang="en-US" sz="1400" spc="-1" strike="noStrike">
                <a:solidFill>
                  <a:srgbClr val="2a6099"/>
                </a:solidFill>
                <a:latin typeface="Courier New"/>
                <a:ea typeface="DejaVu Sans"/>
              </a:rPr>
              <a:t>.name     = igb_driver_name,</a:t>
            </a:r>
            <a:endParaRPr b="0" lang="en-US" sz="1400" spc="-1" strike="noStrike">
              <a:solidFill>
                <a:srgbClr val="000000"/>
              </a:solidFill>
              <a:latin typeface="Arial"/>
            </a:endParaRPr>
          </a:p>
          <a:p>
            <a:pPr>
              <a:lnSpc>
                <a:spcPct val="100000"/>
              </a:lnSpc>
            </a:pPr>
            <a:r>
              <a:rPr b="0" lang="en-US" sz="1400" spc="-1" strike="noStrike">
                <a:solidFill>
                  <a:srgbClr val="2a6099"/>
                </a:solidFill>
                <a:latin typeface="Courier New"/>
                <a:ea typeface="DejaVu Sans"/>
              </a:rPr>
              <a:t>  </a:t>
            </a:r>
            <a:r>
              <a:rPr b="0" lang="en-US" sz="1400" spc="-1" strike="noStrike">
                <a:solidFill>
                  <a:srgbClr val="2a6099"/>
                </a:solidFill>
                <a:latin typeface="Courier New"/>
                <a:ea typeface="DejaVu Sans"/>
              </a:rPr>
              <a:t>.id_table = igb_pci_tbl,</a:t>
            </a:r>
            <a:endParaRPr b="0" lang="en-US" sz="1400" spc="-1" strike="noStrike">
              <a:solidFill>
                <a:srgbClr val="000000"/>
              </a:solidFill>
              <a:latin typeface="Arial"/>
            </a:endParaRPr>
          </a:p>
          <a:p>
            <a:pPr>
              <a:lnSpc>
                <a:spcPct val="100000"/>
              </a:lnSpc>
            </a:pPr>
            <a:r>
              <a:rPr b="0" lang="en-US" sz="1400" spc="-1" strike="noStrike">
                <a:solidFill>
                  <a:srgbClr val="2a6099"/>
                </a:solidFill>
                <a:latin typeface="Courier New"/>
                <a:ea typeface="DejaVu Sans"/>
              </a:rPr>
              <a:t>  </a:t>
            </a:r>
            <a:r>
              <a:rPr b="0" lang="en-US" sz="1400" spc="-1" strike="noStrike">
                <a:solidFill>
                  <a:srgbClr val="2a6099"/>
                </a:solidFill>
                <a:latin typeface="Courier New"/>
                <a:ea typeface="DejaVu Sans"/>
              </a:rPr>
              <a:t>.probe    = igb_probe,</a:t>
            </a:r>
            <a:endParaRPr b="0" lang="en-US" sz="1400" spc="-1" strike="noStrike">
              <a:solidFill>
                <a:srgbClr val="000000"/>
              </a:solidFill>
              <a:latin typeface="Arial"/>
            </a:endParaRPr>
          </a:p>
          <a:p>
            <a:pPr>
              <a:lnSpc>
                <a:spcPct val="100000"/>
              </a:lnSpc>
            </a:pPr>
            <a:r>
              <a:rPr b="0" lang="en-US" sz="1400" spc="-1" strike="noStrike">
                <a:solidFill>
                  <a:srgbClr val="2a6099"/>
                </a:solidFill>
                <a:latin typeface="Courier New"/>
                <a:ea typeface="DejaVu Sans"/>
              </a:rPr>
              <a:t>  </a:t>
            </a:r>
            <a:r>
              <a:rPr b="0" lang="en-US" sz="1400" spc="-1" strike="noStrike">
                <a:solidFill>
                  <a:srgbClr val="2a6099"/>
                </a:solidFill>
                <a:latin typeface="Courier New"/>
                <a:ea typeface="DejaVu Sans"/>
              </a:rPr>
              <a:t>.remove   = igb_remove,</a:t>
            </a:r>
            <a:endParaRPr b="0" lang="en-US" sz="1400" spc="-1" strike="noStrike">
              <a:solidFill>
                <a:srgbClr val="000000"/>
              </a:solidFill>
              <a:latin typeface="Arial"/>
            </a:endParaRPr>
          </a:p>
          <a:p>
            <a:pPr>
              <a:lnSpc>
                <a:spcPct val="100000"/>
              </a:lnSpc>
            </a:pPr>
            <a:r>
              <a:rPr b="0" lang="en-US" sz="1400" spc="-1" strike="noStrike">
                <a:solidFill>
                  <a:srgbClr val="2a6099"/>
                </a:solidFill>
                <a:latin typeface="Courier New"/>
                <a:ea typeface="DejaVu Sans"/>
              </a:rPr>
              <a:t>  </a:t>
            </a:r>
            <a:r>
              <a:rPr b="0" lang="en-US" sz="1400" spc="-1" strike="noStrike">
                <a:solidFill>
                  <a:srgbClr val="2a6099"/>
                </a:solidFill>
                <a:latin typeface="Courier New"/>
                <a:ea typeface="DejaVu Sans"/>
              </a:rPr>
              <a:t>/* ... */</a:t>
            </a:r>
            <a:endParaRPr b="0" lang="en-US" sz="1400" spc="-1" strike="noStrike">
              <a:solidFill>
                <a:srgbClr val="000000"/>
              </a:solidFill>
              <a:latin typeface="Arial"/>
            </a:endParaRPr>
          </a:p>
          <a:p>
            <a:pPr>
              <a:lnSpc>
                <a:spcPct val="100000"/>
              </a:lnSpc>
            </a:pPr>
            <a:r>
              <a:rPr b="0" lang="en-US" sz="1400" spc="-1" strike="noStrike">
                <a:solidFill>
                  <a:srgbClr val="2a6099"/>
                </a:solidFill>
                <a:latin typeface="Courier New"/>
                <a:ea typeface="DejaVu Sans"/>
              </a:rPr>
              <a: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
          <p:cNvSpPr/>
          <p:nvPr/>
        </p:nvSpPr>
        <p:spPr>
          <a:xfrm>
            <a:off x="70920" y="962280"/>
            <a:ext cx="10042920" cy="1211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br>
              <a:rPr sz="1400"/>
            </a:br>
            <a:r>
              <a:rPr b="0" lang="en-US" sz="1400" spc="-1" strike="noStrike">
                <a:solidFill>
                  <a:srgbClr val="000000"/>
                </a:solidFill>
                <a:latin typeface="Arial"/>
                <a:ea typeface="DejaVu Sans"/>
              </a:rPr>
              <a:t>Once a device has been identified by its PCI IDs, the kernel can then select the proper driver to use to control the device. Each PCI driver registers a probe function with the PCI system in the kernel.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291" name=""/>
          <p:cNvSpPr/>
          <p:nvPr/>
        </p:nvSpPr>
        <p:spPr>
          <a:xfrm>
            <a:off x="93240" y="1727640"/>
            <a:ext cx="9998640" cy="46918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00" spc="-1" strike="noStrike">
                <a:solidFill>
                  <a:srgbClr val="000000"/>
                </a:solidFill>
                <a:latin typeface="Arial"/>
                <a:ea typeface="DejaVu Sans"/>
              </a:rPr>
              <a:t>Some typical operations to perform include: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1. Enabling the PCI device.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2. Requesting memory ranges and </a:t>
            </a:r>
            <a:r>
              <a:rPr b="0" lang="en-US" sz="1400" spc="-1" strike="noStrike" u="sng">
                <a:solidFill>
                  <a:srgbClr val="0000ff"/>
                </a:solidFill>
                <a:uFillTx/>
                <a:latin typeface="Arial"/>
                <a:ea typeface="DejaVu Sans"/>
                <a:hlinkClick r:id="rId1"/>
              </a:rPr>
              <a:t>IO ports</a:t>
            </a:r>
            <a:r>
              <a:rPr b="0" lang="en-US"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3. Setting the </a:t>
            </a:r>
            <a:r>
              <a:rPr b="0" lang="en-US" sz="1400" spc="-1" strike="noStrike" u="sng">
                <a:solidFill>
                  <a:srgbClr val="0000ff"/>
                </a:solidFill>
                <a:uFillTx/>
                <a:latin typeface="Arial"/>
                <a:ea typeface="DejaVu Sans"/>
                <a:hlinkClick r:id="rId2"/>
              </a:rPr>
              <a:t>DMA</a:t>
            </a:r>
            <a:r>
              <a:rPr b="0" lang="en-US" sz="1400" spc="-1" strike="noStrike">
                <a:solidFill>
                  <a:srgbClr val="000000"/>
                </a:solidFill>
                <a:latin typeface="Arial"/>
                <a:ea typeface="DejaVu Sans"/>
              </a:rPr>
              <a:t> mask.</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4. The ethtool (described more below) functions the driver supports are registered.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5. Any watchdog tasks needed (for example, e1000e has a watchdog task to check if the hardware is hung).</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6. Other device specific stuff like workarounds or dealing with hardware specific quirks or similar.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7. The creation, initialization, and registration of a struct net_device_ops structure. This structure contains function pointers to the various functions needed for opening the device, sending data to the network, setting the MAC address, and more.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8. The creation, initialization, and registration of a high level struct net_device which represents a network device.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292" name=""/>
          <p:cNvSpPr/>
          <p:nvPr/>
        </p:nvSpPr>
        <p:spPr>
          <a:xfrm>
            <a:off x="578160" y="395280"/>
            <a:ext cx="2163960" cy="60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2a6099"/>
                </a:solidFill>
                <a:latin typeface="Arial"/>
                <a:ea typeface="DejaVu Sans"/>
              </a:rPr>
              <a:t>PCI probe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
          <p:cNvSpPr/>
          <p:nvPr/>
        </p:nvSpPr>
        <p:spPr>
          <a:xfrm>
            <a:off x="142200" y="1050840"/>
            <a:ext cx="5114520" cy="284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2a6099"/>
                </a:solidFill>
                <a:latin typeface="Courier New"/>
                <a:ea typeface="DejaVu Sans"/>
              </a:rPr>
              <a:t>err = pci_enable_device_mem(pdev);</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 ... */</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err = dma_set_mask_and_coherent(&amp;pdev-&gt;dev, DMA_BIT_MASK(64));</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 ... */</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err = pci_request_selected_regions(pdev, pci_select_bars(pdev,</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           </a:t>
            </a:r>
            <a:r>
              <a:rPr b="0" lang="en-US" sz="1600" spc="-1" strike="noStrike">
                <a:solidFill>
                  <a:srgbClr val="2a6099"/>
                </a:solidFill>
                <a:latin typeface="Courier New"/>
                <a:ea typeface="DejaVu Sans"/>
              </a:rPr>
              <a:t>IORESOURCE_MEM),</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           </a:t>
            </a:r>
            <a:r>
              <a:rPr b="0" lang="en-US" sz="1600" spc="-1" strike="noStrike">
                <a:solidFill>
                  <a:srgbClr val="2a6099"/>
                </a:solidFill>
                <a:latin typeface="Courier New"/>
                <a:ea typeface="DejaVu Sans"/>
              </a:rPr>
              <a:t>igb_driver_name);</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pci_enable_pcie_error_reporting(pdev);</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pci_set_master(pdev);</a:t>
            </a:r>
            <a:endParaRPr b="0" lang="en-US" sz="1600" spc="-1" strike="noStrike">
              <a:solidFill>
                <a:srgbClr val="000000"/>
              </a:solidFill>
              <a:latin typeface="Arial"/>
            </a:endParaRPr>
          </a:p>
          <a:p>
            <a:pPr>
              <a:lnSpc>
                <a:spcPct val="100000"/>
              </a:lnSpc>
            </a:pPr>
            <a:r>
              <a:rPr b="0" lang="en-US" sz="1600" spc="-1" strike="noStrike">
                <a:solidFill>
                  <a:srgbClr val="2a6099"/>
                </a:solidFill>
                <a:latin typeface="Courier New"/>
                <a:ea typeface="DejaVu Sans"/>
              </a:rPr>
              <a:t>pci_save_state(pdev);</a:t>
            </a:r>
            <a:endParaRPr b="0" lang="en-US" sz="1600" spc="-1" strike="noStrike">
              <a:solidFill>
                <a:srgbClr val="000000"/>
              </a:solidFill>
              <a:latin typeface="Arial"/>
            </a:endParaRPr>
          </a:p>
        </p:txBody>
      </p:sp>
      <p:sp>
        <p:nvSpPr>
          <p:cNvPr id="294" name=""/>
          <p:cNvSpPr/>
          <p:nvPr/>
        </p:nvSpPr>
        <p:spPr>
          <a:xfrm>
            <a:off x="5257800" y="939600"/>
            <a:ext cx="4570920" cy="3440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First, the device is initialized with pci_enable_device_mem. This will wake up the device if it is suspended, enable memory resources, and more.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Next, the </a:t>
            </a:r>
            <a:r>
              <a:rPr b="0" lang="en-US" sz="1400" spc="-1" strike="noStrike" u="sng">
                <a:solidFill>
                  <a:srgbClr val="0000ff"/>
                </a:solidFill>
                <a:uFillTx/>
                <a:latin typeface="Arial"/>
                <a:ea typeface="DejaVu Sans"/>
                <a:hlinkClick r:id="rId1"/>
              </a:rPr>
              <a:t>DMA</a:t>
            </a:r>
            <a:r>
              <a:rPr b="0" lang="en-US" sz="1400" spc="-1" strike="noStrike">
                <a:solidFill>
                  <a:srgbClr val="000000"/>
                </a:solidFill>
                <a:latin typeface="Arial"/>
                <a:ea typeface="DejaVu Sans"/>
              </a:rPr>
              <a:t> mask will be set. This device can read and write to 64bit memory addresses, so dma_set_mask_and_coherent is called with DMA_BIT_MASK(64).</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Memory regions will be reserved with a call to pci_request_selected_regions, </a:t>
            </a:r>
            <a:r>
              <a:rPr b="0" lang="en-US" sz="1400" spc="-1" strike="noStrike" u="sng">
                <a:solidFill>
                  <a:srgbClr val="0000ff"/>
                </a:solidFill>
                <a:uFillTx/>
                <a:latin typeface="Arial"/>
                <a:ea typeface="DejaVu Sans"/>
                <a:hlinkClick r:id="rId2"/>
              </a:rPr>
              <a:t>PCI Express Advanced Error Reporting</a:t>
            </a:r>
            <a:r>
              <a:rPr b="0" lang="en-US" sz="1400" spc="-1" strike="noStrike">
                <a:solidFill>
                  <a:srgbClr val="000000"/>
                </a:solidFill>
                <a:latin typeface="Arial"/>
                <a:ea typeface="DejaVu Sans"/>
              </a:rPr>
              <a:t> is enabled (if the PCI AER driver is loaded), DMA is enabled with a call to pci_set_master, and the PCI configuration space is saved with a call to pci_save_state.</a:t>
            </a:r>
            <a:endParaRPr b="0" lang="en-US" sz="1400" spc="-1" strike="noStrike">
              <a:solidFill>
                <a:srgbClr val="000000"/>
              </a:solidFill>
              <a:latin typeface="Arial"/>
            </a:endParaRPr>
          </a:p>
        </p:txBody>
      </p:sp>
      <p:sp>
        <p:nvSpPr>
          <p:cNvPr id="295" name=""/>
          <p:cNvSpPr/>
          <p:nvPr/>
        </p:nvSpPr>
        <p:spPr>
          <a:xfrm>
            <a:off x="-22680" y="4502520"/>
            <a:ext cx="9851400" cy="1211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300" spc="-1" strike="noStrike">
                <a:solidFill>
                  <a:srgbClr val="000000"/>
                </a:solidFill>
                <a:latin typeface="Arial"/>
                <a:ea typeface="DejaVu Sans"/>
              </a:rPr>
              <a:t>The </a:t>
            </a:r>
            <a:r>
              <a:rPr b="1" lang="en-US" sz="1300" spc="-1" strike="noStrike">
                <a:solidFill>
                  <a:srgbClr val="000000"/>
                </a:solidFill>
                <a:latin typeface="Arial"/>
                <a:ea typeface="DejaVu Sans"/>
              </a:rPr>
              <a:t>struct net_device_ops </a:t>
            </a:r>
            <a:r>
              <a:rPr b="0" lang="en-US" sz="1300" spc="-1" strike="noStrike">
                <a:solidFill>
                  <a:srgbClr val="000000"/>
                </a:solidFill>
                <a:latin typeface="Arial"/>
                <a:ea typeface="DejaVu Sans"/>
              </a:rPr>
              <a:t>contains function pointers to lots of important operations that the network subsystem needs to control the device. We’ll be mentioning this structure many times throughout the rest of this post. This net_device_ops structure is attached to a struct net_device in igb_probe.</a:t>
            </a:r>
            <a:endParaRPr b="0" lang="en-US" sz="13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296" name=""/>
          <p:cNvSpPr/>
          <p:nvPr/>
        </p:nvSpPr>
        <p:spPr>
          <a:xfrm>
            <a:off x="70560" y="5257800"/>
            <a:ext cx="5186160" cy="949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158466"/>
                </a:solidFill>
                <a:latin typeface="Courier New"/>
                <a:ea typeface="DejaVu Sans"/>
              </a:rPr>
              <a:t>static int igb_probe(struct pci_dev *pdev, const struct pci_device_id *ent)</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netdev-&gt;netdev_ops = &amp;igb_netdev_ops;</a:t>
            </a:r>
            <a:endParaRPr b="0" lang="en-US" sz="1200" spc="-1" strike="noStrike">
              <a:solidFill>
                <a:srgbClr val="000000"/>
              </a:solidFill>
              <a:latin typeface="Arial"/>
            </a:endParaRPr>
          </a:p>
        </p:txBody>
      </p:sp>
      <p:sp>
        <p:nvSpPr>
          <p:cNvPr id="297" name=""/>
          <p:cNvSpPr/>
          <p:nvPr/>
        </p:nvSpPr>
        <p:spPr>
          <a:xfrm>
            <a:off x="4941360" y="5029200"/>
            <a:ext cx="4201560" cy="2326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158466"/>
                </a:solidFill>
                <a:latin typeface="Courier New"/>
                <a:ea typeface="DejaVu Sans"/>
              </a:rPr>
              <a:t>static const struct net_device_ops igb_netdev_ops = {</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.ndo_open               = igb_open,</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.ndo_stop               = igb_close,</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.ndo_start_xmit         = igb_xmit_frame,</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.ndo_get_stats64        = igb_get_stats64,</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.ndo_set_rx_mode        = igb_set_rx_mode,</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.ndo_set_mac_address    = igb_set_mac,</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.ndo_change_mtu         = igb_change_mtu,</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.ndo_do_ioctl           = igb_ioctl,</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 ...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
          <p:cNvSpPr/>
          <p:nvPr/>
        </p:nvSpPr>
        <p:spPr>
          <a:xfrm>
            <a:off x="5400" y="584640"/>
            <a:ext cx="10172520" cy="2049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200" spc="-1" strike="noStrike">
                <a:solidFill>
                  <a:srgbClr val="158466"/>
                </a:solidFill>
                <a:latin typeface="Arial"/>
                <a:ea typeface="DejaVu Sans"/>
              </a:rPr>
              <a:t>ethtool registration</a:t>
            </a:r>
            <a:endParaRPr b="0" lang="en-US" sz="1200" spc="-1" strike="noStrike">
              <a:solidFill>
                <a:srgbClr val="000000"/>
              </a:solidFill>
              <a:latin typeface="Arial"/>
            </a:endParaRPr>
          </a:p>
          <a:p>
            <a:pPr>
              <a:lnSpc>
                <a:spcPct val="100000"/>
              </a:lnSpc>
            </a:pPr>
            <a:r>
              <a:rPr b="0" lang="en-US" sz="1200" spc="-1" strike="noStrike" u="sng">
                <a:solidFill>
                  <a:srgbClr val="0000ff"/>
                </a:solidFill>
                <a:uFillTx/>
                <a:latin typeface="Arial"/>
                <a:ea typeface="DejaVu Sans"/>
                <a:hlinkClick r:id="rId1"/>
              </a:rPr>
              <a:t>ethtool</a:t>
            </a:r>
            <a:r>
              <a:rPr b="0" lang="en-US" sz="1200" spc="-1" strike="noStrike">
                <a:solidFill>
                  <a:srgbClr val="729fcf"/>
                </a:solidFill>
                <a:latin typeface="Arial"/>
                <a:ea typeface="DejaVu Sans"/>
              </a:rPr>
              <a:t> is a command line program you can use to get and set various driver and hardware options. You can install it on Ubuntu by running apt-get install ethtool. A common use of ethtool is to gather detailed statistics from network devices. Other ethtool settings of interest will be described later. The ethtool program talks to device drivers by using the </a:t>
            </a:r>
            <a:r>
              <a:rPr b="0" lang="en-US" sz="1200" spc="-1" strike="noStrike" u="sng">
                <a:solidFill>
                  <a:srgbClr val="0000ff"/>
                </a:solidFill>
                <a:uFillTx/>
                <a:latin typeface="Arial"/>
                <a:ea typeface="DejaVu Sans"/>
                <a:hlinkClick r:id="rId2"/>
              </a:rPr>
              <a:t>ioctl</a:t>
            </a:r>
            <a:r>
              <a:rPr b="0" lang="en-US" sz="1200" spc="-1" strike="noStrike">
                <a:solidFill>
                  <a:srgbClr val="729fcf"/>
                </a:solidFill>
                <a:latin typeface="Arial"/>
                <a:ea typeface="DejaVu Sans"/>
              </a:rPr>
              <a:t> system call. The device drivers register a series of functions that run for the ethtool operations and the kernel provides the glue.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299" name=""/>
          <p:cNvSpPr/>
          <p:nvPr/>
        </p:nvSpPr>
        <p:spPr>
          <a:xfrm>
            <a:off x="63000" y="2057400"/>
            <a:ext cx="5028120" cy="949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069a2e"/>
                </a:solidFill>
                <a:latin typeface="Courier New"/>
                <a:ea typeface="DejaVu Sans"/>
              </a:rPr>
              <a:t>static int igb_probe(struct pci_dev *pdev, const struct pci_device_id *ent)</a:t>
            </a:r>
            <a:endParaRPr b="0" lang="en-US" sz="1200" spc="-1" strike="noStrike">
              <a:solidFill>
                <a:srgbClr val="000000"/>
              </a:solidFill>
              <a:latin typeface="Arial"/>
            </a:endParaRPr>
          </a:p>
          <a:p>
            <a:pPr>
              <a:lnSpc>
                <a:spcPct val="100000"/>
              </a:lnSpc>
            </a:pPr>
            <a:r>
              <a:rPr b="0" lang="en-US" sz="1200" spc="-1" strike="noStrike">
                <a:solidFill>
                  <a:srgbClr val="069a2e"/>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69a2e"/>
                </a:solidFill>
                <a:latin typeface="Courier New"/>
                <a:ea typeface="DejaVu Sans"/>
              </a:rPr>
              <a:t>  </a:t>
            </a:r>
            <a:r>
              <a:rPr b="0" lang="en-US" sz="1200" spc="-1" strike="noStrike">
                <a:solidFill>
                  <a:srgbClr val="069a2e"/>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069a2e"/>
                </a:solidFill>
                <a:latin typeface="Courier New"/>
                <a:ea typeface="DejaVu Sans"/>
              </a:rPr>
              <a:t>  </a:t>
            </a:r>
            <a:r>
              <a:rPr b="0" lang="en-US" sz="1200" spc="-1" strike="noStrike">
                <a:solidFill>
                  <a:srgbClr val="069a2e"/>
                </a:solidFill>
                <a:latin typeface="Courier New"/>
                <a:ea typeface="DejaVu Sans"/>
              </a:rPr>
              <a:t>igb_set_ethtool_ops(netdev);</a:t>
            </a:r>
            <a:endParaRPr b="0" lang="en-US" sz="1200" spc="-1" strike="noStrike">
              <a:solidFill>
                <a:srgbClr val="000000"/>
              </a:solidFill>
              <a:latin typeface="Arial"/>
            </a:endParaRPr>
          </a:p>
        </p:txBody>
      </p:sp>
      <p:sp>
        <p:nvSpPr>
          <p:cNvPr id="300" name=""/>
          <p:cNvSpPr/>
          <p:nvPr/>
        </p:nvSpPr>
        <p:spPr>
          <a:xfrm>
            <a:off x="5092200" y="2077560"/>
            <a:ext cx="4050720" cy="1121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168253"/>
                </a:solidFill>
                <a:latin typeface="Courier New"/>
                <a:ea typeface="DejaVu Sans"/>
              </a:rPr>
              <a:t>void igb_set_ethtool_ops(struct net_device *netdev)</a:t>
            </a:r>
            <a:endParaRPr b="0" lang="en-US" sz="1200" spc="-1" strike="noStrike">
              <a:solidFill>
                <a:srgbClr val="000000"/>
              </a:solidFill>
              <a:latin typeface="Arial"/>
            </a:endParaRPr>
          </a:p>
          <a:p>
            <a:pPr>
              <a:lnSpc>
                <a:spcPct val="100000"/>
              </a:lnSpc>
            </a:pPr>
            <a:r>
              <a:rPr b="0" lang="en-US" sz="1200" spc="-1" strike="noStrike">
                <a:solidFill>
                  <a:srgbClr val="168253"/>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168253"/>
                </a:solidFill>
                <a:latin typeface="Courier New"/>
                <a:ea typeface="DejaVu Sans"/>
              </a:rPr>
              <a:t>  </a:t>
            </a:r>
            <a:r>
              <a:rPr b="0" lang="en-US" sz="1200" spc="-1" strike="noStrike">
                <a:solidFill>
                  <a:srgbClr val="168253"/>
                </a:solidFill>
                <a:latin typeface="Courier New"/>
                <a:ea typeface="DejaVu Sans"/>
              </a:rPr>
              <a:t>SET_ETHTOOL_OPS(netdev, &amp;igb_ethtool_ops);</a:t>
            </a:r>
            <a:endParaRPr b="0" lang="en-US" sz="1200" spc="-1" strike="noStrike">
              <a:solidFill>
                <a:srgbClr val="000000"/>
              </a:solidFill>
              <a:latin typeface="Arial"/>
            </a:endParaRPr>
          </a:p>
          <a:p>
            <a:pPr>
              <a:lnSpc>
                <a:spcPct val="100000"/>
              </a:lnSpc>
            </a:pPr>
            <a:r>
              <a:rPr b="0" lang="en-US" sz="1200" spc="-1" strike="noStrike">
                <a:solidFill>
                  <a:srgbClr val="168253"/>
                </a:solidFill>
                <a:latin typeface="Courier New"/>
                <a:ea typeface="DejaVu Sans"/>
              </a:rPr>
              <a:t>}</a:t>
            </a:r>
            <a:endParaRPr b="0" lang="en-US" sz="1200" spc="-1" strike="noStrike">
              <a:solidFill>
                <a:srgbClr val="000000"/>
              </a:solidFill>
              <a:latin typeface="Arial"/>
            </a:endParaRPr>
          </a:p>
        </p:txBody>
      </p:sp>
      <p:sp>
        <p:nvSpPr>
          <p:cNvPr id="301" name=""/>
          <p:cNvSpPr/>
          <p:nvPr/>
        </p:nvSpPr>
        <p:spPr>
          <a:xfrm>
            <a:off x="228600" y="3249720"/>
            <a:ext cx="4965120" cy="1549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3465a4"/>
                </a:solidFill>
                <a:latin typeface="Courier New"/>
                <a:ea typeface="DejaVu Sans"/>
              </a:rPr>
              <a:t>static const struct ethtool_ops igb_ethtool_ops = {</a:t>
            </a:r>
            <a:endParaRPr b="0" lang="en-US" sz="1200" spc="-1" strike="noStrike">
              <a:solidFill>
                <a:srgbClr val="000000"/>
              </a:solidFill>
              <a:latin typeface="Arial"/>
            </a:endParaRPr>
          </a:p>
          <a:p>
            <a:pPr>
              <a:lnSpc>
                <a:spcPct val="100000"/>
              </a:lnSpc>
            </a:pPr>
            <a:r>
              <a:rPr b="0" lang="en-US" sz="1200" spc="-1" strike="noStrike">
                <a:solidFill>
                  <a:srgbClr val="3465a4"/>
                </a:solidFill>
                <a:latin typeface="Courier New"/>
                <a:ea typeface="DejaVu Sans"/>
              </a:rPr>
              <a:t>  </a:t>
            </a:r>
            <a:r>
              <a:rPr b="0" lang="en-US" sz="1200" spc="-1" strike="noStrike">
                <a:solidFill>
                  <a:srgbClr val="3465a4"/>
                </a:solidFill>
                <a:latin typeface="Courier New"/>
                <a:ea typeface="DejaVu Sans"/>
              </a:rPr>
              <a:t>.get_settings           = igb_get_settings,</a:t>
            </a:r>
            <a:endParaRPr b="0" lang="en-US" sz="1200" spc="-1" strike="noStrike">
              <a:solidFill>
                <a:srgbClr val="000000"/>
              </a:solidFill>
              <a:latin typeface="Arial"/>
            </a:endParaRPr>
          </a:p>
          <a:p>
            <a:pPr>
              <a:lnSpc>
                <a:spcPct val="100000"/>
              </a:lnSpc>
            </a:pPr>
            <a:r>
              <a:rPr b="0" lang="en-US" sz="1200" spc="-1" strike="noStrike">
                <a:solidFill>
                  <a:srgbClr val="3465a4"/>
                </a:solidFill>
                <a:latin typeface="Courier New"/>
                <a:ea typeface="DejaVu Sans"/>
              </a:rPr>
              <a:t>  </a:t>
            </a:r>
            <a:r>
              <a:rPr b="0" lang="en-US" sz="1200" spc="-1" strike="noStrike">
                <a:solidFill>
                  <a:srgbClr val="3465a4"/>
                </a:solidFill>
                <a:latin typeface="Courier New"/>
                <a:ea typeface="DejaVu Sans"/>
              </a:rPr>
              <a:t>.set_settings           = igb_set_settings,</a:t>
            </a:r>
            <a:endParaRPr b="0" lang="en-US" sz="1200" spc="-1" strike="noStrike">
              <a:solidFill>
                <a:srgbClr val="000000"/>
              </a:solidFill>
              <a:latin typeface="Arial"/>
            </a:endParaRPr>
          </a:p>
          <a:p>
            <a:pPr>
              <a:lnSpc>
                <a:spcPct val="100000"/>
              </a:lnSpc>
            </a:pPr>
            <a:r>
              <a:rPr b="0" lang="en-US" sz="1200" spc="-1" strike="noStrike">
                <a:solidFill>
                  <a:srgbClr val="3465a4"/>
                </a:solidFill>
                <a:latin typeface="Courier New"/>
                <a:ea typeface="DejaVu Sans"/>
              </a:rPr>
              <a:t>  </a:t>
            </a:r>
            <a:r>
              <a:rPr b="0" lang="en-US" sz="1200" spc="-1" strike="noStrike">
                <a:solidFill>
                  <a:srgbClr val="3465a4"/>
                </a:solidFill>
                <a:latin typeface="Courier New"/>
                <a:ea typeface="DejaVu Sans"/>
              </a:rPr>
              <a:t>.get_drvinfo            = igb_get_drvinfo,</a:t>
            </a:r>
            <a:endParaRPr b="0" lang="en-US" sz="1200" spc="-1" strike="noStrike">
              <a:solidFill>
                <a:srgbClr val="000000"/>
              </a:solidFill>
              <a:latin typeface="Arial"/>
            </a:endParaRPr>
          </a:p>
          <a:p>
            <a:pPr>
              <a:lnSpc>
                <a:spcPct val="100000"/>
              </a:lnSpc>
            </a:pPr>
            <a:r>
              <a:rPr b="0" lang="en-US" sz="1200" spc="-1" strike="noStrike">
                <a:solidFill>
                  <a:srgbClr val="3465a4"/>
                </a:solidFill>
                <a:latin typeface="Courier New"/>
                <a:ea typeface="DejaVu Sans"/>
              </a:rPr>
              <a:t>  </a:t>
            </a:r>
            <a:r>
              <a:rPr b="0" lang="en-US" sz="1200" spc="-1" strike="noStrike">
                <a:solidFill>
                  <a:srgbClr val="3465a4"/>
                </a:solidFill>
                <a:latin typeface="Courier New"/>
                <a:ea typeface="DejaVu Sans"/>
              </a:rPr>
              <a:t>.get_regs_len           = igb_get_regs_len,</a:t>
            </a:r>
            <a:endParaRPr b="0" lang="en-US" sz="1200" spc="-1" strike="noStrike">
              <a:solidFill>
                <a:srgbClr val="000000"/>
              </a:solidFill>
              <a:latin typeface="Arial"/>
            </a:endParaRPr>
          </a:p>
          <a:p>
            <a:pPr>
              <a:lnSpc>
                <a:spcPct val="100000"/>
              </a:lnSpc>
            </a:pPr>
            <a:r>
              <a:rPr b="0" lang="en-US" sz="1200" spc="-1" strike="noStrike">
                <a:solidFill>
                  <a:srgbClr val="3465a4"/>
                </a:solidFill>
                <a:latin typeface="Courier New"/>
                <a:ea typeface="DejaVu Sans"/>
              </a:rPr>
              <a:t>  </a:t>
            </a:r>
            <a:r>
              <a:rPr b="0" lang="en-US" sz="1200" spc="-1" strike="noStrike">
                <a:solidFill>
                  <a:srgbClr val="3465a4"/>
                </a:solidFill>
                <a:latin typeface="Courier New"/>
                <a:ea typeface="DejaVu Sans"/>
              </a:rPr>
              <a:t>.get_regs               = igb_get_regs,</a:t>
            </a:r>
            <a:endParaRPr b="0" lang="en-US" sz="1200" spc="-1" strike="noStrike">
              <a:solidFill>
                <a:srgbClr val="000000"/>
              </a:solidFill>
              <a:latin typeface="Arial"/>
            </a:endParaRPr>
          </a:p>
          <a:p>
            <a:pPr>
              <a:lnSpc>
                <a:spcPct val="100000"/>
              </a:lnSpc>
            </a:pPr>
            <a:r>
              <a:rPr b="0" lang="en-US" sz="1200" spc="-1" strike="noStrike">
                <a:solidFill>
                  <a:srgbClr val="3465a4"/>
                </a:solidFill>
                <a:latin typeface="Courier New"/>
                <a:ea typeface="DejaVu Sans"/>
              </a:rPr>
              <a:t>  </a:t>
            </a:r>
            <a:r>
              <a:rPr b="0" lang="en-US" sz="1200" spc="-1" strike="noStrike">
                <a:solidFill>
                  <a:srgbClr val="3465a4"/>
                </a:solidFill>
                <a:latin typeface="Courier New"/>
                <a:ea typeface="DejaVu Sans"/>
              </a:rPr>
              <a:t>/* ... */</a:t>
            </a:r>
            <a:endParaRPr b="0" lang="en-US" sz="1200" spc="-1" strike="noStrike">
              <a:solidFill>
                <a:srgbClr val="000000"/>
              </a:solidFill>
              <a:latin typeface="Arial"/>
            </a:endParaRPr>
          </a:p>
        </p:txBody>
      </p:sp>
      <p:sp>
        <p:nvSpPr>
          <p:cNvPr id="302" name=""/>
          <p:cNvSpPr/>
          <p:nvPr/>
        </p:nvSpPr>
        <p:spPr>
          <a:xfrm>
            <a:off x="0" y="4572000"/>
            <a:ext cx="8914320" cy="2326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158466"/>
                </a:solidFill>
                <a:latin typeface="Courier New"/>
                <a:ea typeface="DejaVu Sans"/>
              </a:rPr>
              <a:t>static int igb_alloc_q_vector(struct igb_adapter *adapter,</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int v_count, int v_idx,</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int txr_count, int txr_idx,</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int rxr_count, int rxr_idx)</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 allocate q_vector and rings */</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q_vector = kzalloc(size, GFP_KERNEL);</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if (!q_vector)</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return -ENOMEM;</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 initialize NAPI */</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netif_napi_add(adapter-&gt;netdev, &amp;q_vector-&gt;napi, igb_poll, 64);</a:t>
            </a:r>
            <a:endParaRPr b="0" lang="en-US" sz="1200" spc="-1" strike="noStrike">
              <a:solidFill>
                <a:srgbClr val="000000"/>
              </a:solidFill>
              <a:latin typeface="Arial"/>
            </a:endParaRPr>
          </a:p>
          <a:p>
            <a:pPr>
              <a:lnSpc>
                <a:spcPct val="100000"/>
              </a:lnSpc>
            </a:pPr>
            <a:r>
              <a:rPr b="0" lang="en-US" sz="1200" spc="-1" strike="noStrike">
                <a:solidFill>
                  <a:srgbClr val="158466"/>
                </a:solidFill>
                <a:latin typeface="Courier New"/>
                <a:ea typeface="DejaVu Sans"/>
              </a:rPr>
              <a:t>  </a:t>
            </a:r>
            <a:r>
              <a:rPr b="0" lang="en-US" sz="1200" spc="-1" strike="noStrike">
                <a:solidFill>
                  <a:srgbClr val="158466"/>
                </a:solidFill>
                <a:latin typeface="Courier New"/>
                <a:ea typeface="DejaVu Sans"/>
              </a:rPr>
              <a:t>/* ...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
          <p:cNvSpPr/>
          <p:nvPr/>
        </p:nvSpPr>
        <p:spPr>
          <a:xfrm>
            <a:off x="25920" y="997200"/>
            <a:ext cx="9838800" cy="4184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Bringing a network device up</a:t>
            </a:r>
            <a:endParaRPr b="0" lang="en-US" sz="14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Recall the net_device_ops structure we saw earlier which registered a set of functions for bringing the network device up, transmitting packets, setting the MAC address, etc.</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When a network device is brought up (for example, with ifconfig eth0 up), the function attached to the ndo_open field of the net_device_ops structure is called.</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The ndo_open function will typically do things like:</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1. Allocate RX and TX queue memory</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2. Enable NAPI</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3. Register an interrupt handler</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Arial"/>
                <a:ea typeface="DejaVu Sans"/>
              </a:rPr>
              <a:t>4. Enable hardware interrupts</a:t>
            </a:r>
            <a:endParaRPr b="0" lang="en-US" sz="1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304" name=""/>
          <p:cNvSpPr/>
          <p:nvPr/>
        </p:nvSpPr>
        <p:spPr>
          <a:xfrm>
            <a:off x="4343400" y="1913040"/>
            <a:ext cx="5181840" cy="542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00a933"/>
                </a:solidFill>
                <a:latin typeface="Courier New"/>
                <a:ea typeface="DejaVu Sans"/>
              </a:rPr>
              <a:t>static int igb_request_irq(struct igb_adapter *adapter)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struct net_device *netdev = adapter-&gt;netdev;</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struct pci_dev *pdev = adapter-&gt;pdev;</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int err = 0;</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if (adapter-&gt;msix_entries)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err = igb_request_msix(adapter);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if (!err)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goto request_done;</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 fall back to MSI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if (adapter-&gt;flags &amp; IGB_FLAG_HAS_MSI)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err = request_irq(pdev-&gt;irq, igb_intr_msi, 0,</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netdev-&gt;name, adapter);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if (!err)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goto request_done;</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 fall back to legacy interrupts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err = request_irq(pdev-&gt;irq, igb_intr, IRQF_SHARED,</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netdev-&gt;name, adapter);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if (err)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dev_err(&amp;pdev-&gt;dev, "Error %d getting interrupt\n", err);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request_done:</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  </a:t>
            </a:r>
            <a:r>
              <a:rPr b="0" lang="en-US" sz="1200" spc="-1" strike="noStrike">
                <a:solidFill>
                  <a:srgbClr val="00a933"/>
                </a:solidFill>
                <a:latin typeface="Courier New"/>
                <a:ea typeface="DejaVu Sans"/>
              </a:rPr>
              <a:t>return err;</a:t>
            </a:r>
            <a:endParaRPr b="0" lang="en-US" sz="1200" spc="-1" strike="noStrike">
              <a:solidFill>
                <a:srgbClr val="000000"/>
              </a:solidFill>
              <a:latin typeface="Arial"/>
            </a:endParaRPr>
          </a:p>
          <a:p>
            <a:pPr>
              <a:lnSpc>
                <a:spcPct val="100000"/>
              </a:lnSpc>
            </a:pPr>
            <a:r>
              <a:rPr b="0" lang="en-US" sz="1200" spc="-1" strike="noStrike">
                <a:solidFill>
                  <a:srgbClr val="00a933"/>
                </a:solidFill>
                <a:latin typeface="Courier New"/>
                <a:ea typeface="DejaVu Sans"/>
              </a:rPr>
              <a:t>}</a:t>
            </a:r>
            <a:endParaRPr b="0" lang="en-US" sz="1200" spc="-1" strike="noStrike">
              <a:solidFill>
                <a:srgbClr val="000000"/>
              </a:solidFill>
              <a:latin typeface="Arial"/>
            </a:endParaRPr>
          </a:p>
        </p:txBody>
      </p:sp>
      <p:sp>
        <p:nvSpPr>
          <p:cNvPr id="305" name=""/>
          <p:cNvSpPr/>
          <p:nvPr/>
        </p:nvSpPr>
        <p:spPr>
          <a:xfrm>
            <a:off x="107640" y="4513680"/>
            <a:ext cx="4353840" cy="1810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ff3838"/>
                </a:solidFill>
                <a:latin typeface="Courier New"/>
                <a:ea typeface="DejaVu Sans"/>
              </a:rPr>
              <a:t>static void igb_irq_enable(struct igb_adapter *adapter)</a:t>
            </a:r>
            <a:endParaRPr b="0" lang="en-US" sz="1200" spc="-1" strike="noStrike">
              <a:solidFill>
                <a:srgbClr val="000000"/>
              </a:solidFill>
              <a:latin typeface="Arial"/>
            </a:endParaRPr>
          </a:p>
          <a:p>
            <a:pPr>
              <a:lnSpc>
                <a:spcPct val="100000"/>
              </a:lnSpc>
            </a:pPr>
            <a:r>
              <a:rPr b="0" lang="en-US" sz="1200" spc="-1" strike="noStrike">
                <a:solidFill>
                  <a:srgbClr val="ff3838"/>
                </a:solidFill>
                <a:latin typeface="Courier New"/>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ff3838"/>
                </a:solidFill>
                <a:latin typeface="Courier New"/>
                <a:ea typeface="DejaVu Sans"/>
              </a:rPr>
              <a:t>  </a:t>
            </a:r>
            <a:r>
              <a:rPr b="0" lang="en-US" sz="1200" spc="-1" strike="noStrike">
                <a:solidFill>
                  <a:srgbClr val="ff3838"/>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ff3838"/>
                </a:solidFill>
                <a:latin typeface="Courier New"/>
                <a:ea typeface="DejaVu Sans"/>
              </a:rPr>
              <a:t>    </a:t>
            </a:r>
            <a:r>
              <a:rPr b="0" lang="en-US" sz="1200" spc="-1" strike="noStrike">
                <a:solidFill>
                  <a:srgbClr val="ff3838"/>
                </a:solidFill>
                <a:latin typeface="Courier New"/>
                <a:ea typeface="DejaVu Sans"/>
              </a:rPr>
              <a:t>wr32(E1000_IBM, IMS_ENABLE_MASK | E1000_IMS_DRSTA);</a:t>
            </a:r>
            <a:endParaRPr b="0" lang="en-US" sz="1200" spc="-1" strike="noStrike">
              <a:solidFill>
                <a:srgbClr val="000000"/>
              </a:solidFill>
              <a:latin typeface="Arial"/>
            </a:endParaRPr>
          </a:p>
          <a:p>
            <a:pPr>
              <a:lnSpc>
                <a:spcPct val="100000"/>
              </a:lnSpc>
            </a:pPr>
            <a:r>
              <a:rPr b="0" lang="en-US" sz="1200" spc="-1" strike="noStrike">
                <a:solidFill>
                  <a:srgbClr val="ff3838"/>
                </a:solidFill>
                <a:latin typeface="Courier New"/>
                <a:ea typeface="DejaVu Sans"/>
              </a:rPr>
              <a:t>    </a:t>
            </a:r>
            <a:r>
              <a:rPr b="0" lang="en-US" sz="1200" spc="-1" strike="noStrike">
                <a:solidFill>
                  <a:srgbClr val="ff3838"/>
                </a:solidFill>
                <a:latin typeface="Courier New"/>
                <a:ea typeface="DejaVu Sans"/>
              </a:rPr>
              <a:t>wr32(E1000_IAM, IMS_ENABLE_MASK | E1000_IMS_DRSTA);</a:t>
            </a:r>
            <a:endParaRPr b="0" lang="en-US" sz="1200" spc="-1" strike="noStrike">
              <a:solidFill>
                <a:srgbClr val="000000"/>
              </a:solidFill>
              <a:latin typeface="Arial"/>
            </a:endParaRPr>
          </a:p>
          <a:p>
            <a:pPr>
              <a:lnSpc>
                <a:spcPct val="100000"/>
              </a:lnSpc>
            </a:pPr>
            <a:r>
              <a:rPr b="0" lang="en-US" sz="1200" spc="-1" strike="noStrike">
                <a:solidFill>
                  <a:srgbClr val="ff3838"/>
                </a:solidFill>
                <a:latin typeface="Courier New"/>
                <a:ea typeface="DejaVu Sans"/>
              </a:rPr>
              <a:t>  </a:t>
            </a:r>
            <a:r>
              <a:rPr b="0" lang="en-US" sz="1200" spc="-1" strike="noStrike">
                <a:solidFill>
                  <a:srgbClr val="ff3838"/>
                </a:solidFill>
                <a:latin typeface="Courier New"/>
                <a:ea typeface="DejaVu Sans"/>
              </a:rPr>
              <a:t>/* ... */</a:t>
            </a:r>
            <a:endParaRPr b="0" lang="en-US" sz="1200" spc="-1" strike="noStrike">
              <a:solidFill>
                <a:srgbClr val="000000"/>
              </a:solidFill>
              <a:latin typeface="Arial"/>
            </a:endParaRPr>
          </a:p>
          <a:p>
            <a:pPr>
              <a:lnSpc>
                <a:spcPct val="100000"/>
              </a:lnSpc>
            </a:pPr>
            <a:r>
              <a:rPr b="0" lang="en-US" sz="1200" spc="-1" strike="noStrike">
                <a:solidFill>
                  <a:srgbClr val="ff3838"/>
                </a:solidFill>
                <a:latin typeface="Courier New"/>
                <a:ea typeface="DejaVu Sans"/>
              </a:rPr>
              <a: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
          <p:cNvSpPr/>
          <p:nvPr/>
        </p:nvSpPr>
        <p:spPr>
          <a:xfrm>
            <a:off x="914400" y="228600"/>
            <a:ext cx="3655800" cy="37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Control Plane</a:t>
            </a:r>
            <a:endParaRPr b="0" lang="en-US" sz="2000" spc="-1" strike="noStrike">
              <a:solidFill>
                <a:srgbClr val="000000"/>
              </a:solidFill>
              <a:latin typeface="Arial"/>
            </a:endParaRPr>
          </a:p>
        </p:txBody>
      </p:sp>
      <p:sp>
        <p:nvSpPr>
          <p:cNvPr id="307" name=""/>
          <p:cNvSpPr/>
          <p:nvPr/>
        </p:nvSpPr>
        <p:spPr>
          <a:xfrm>
            <a:off x="194400" y="1056600"/>
            <a:ext cx="9405000" cy="2638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Ethernet controllers are highly configurable</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Status reporting at various levels (per queue, MAC, PHY, Internal engines)</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Offload configuration: Vlan filters, classification, check summing</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Noto Sans CJK SC"/>
              </a:rPr>
              <a:t>→ </a:t>
            </a:r>
            <a:r>
              <a:rPr b="0" lang="en-US" sz="2000" spc="-1" strike="noStrike">
                <a:solidFill>
                  <a:srgbClr val="000000"/>
                </a:solidFill>
                <a:latin typeface="Arial"/>
                <a:ea typeface="Noto Sans CJK SC"/>
              </a:rPr>
              <a:t>Ethernet configuration: MTU, Link, Speed, Flow control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Noto Sans CJK SC"/>
              </a:rPr>
              <a:t>▶ </a:t>
            </a:r>
            <a:r>
              <a:rPr b="0" lang="en-US" sz="2000" spc="-1" strike="noStrike">
                <a:solidFill>
                  <a:srgbClr val="000000"/>
                </a:solidFill>
                <a:latin typeface="Arial"/>
                <a:ea typeface="Noto Sans CJK SC"/>
              </a:rPr>
              <a:t>Controller and driver behaviour, through ethtool, e.g. set the link speed</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Noto Sans CJK SC"/>
              </a:rPr>
              <a:t>▶ </a:t>
            </a:r>
            <a:r>
              <a:rPr b="0" lang="en-US" sz="2000" spc="-1" strike="noStrike">
                <a:solidFill>
                  <a:srgbClr val="000000"/>
                </a:solidFill>
                <a:latin typeface="Arial"/>
                <a:ea typeface="Noto Sans CJK SC"/>
              </a:rPr>
              <a:t>Interface configuration, with iproute2, e.g. configure the IP address</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Noto Sans CJK SC"/>
              </a:rPr>
              <a:t>▶ </a:t>
            </a:r>
            <a:r>
              <a:rPr b="0" lang="en-US" sz="2000" spc="-1" strike="noStrike">
                <a:solidFill>
                  <a:srgbClr val="000000"/>
                </a:solidFill>
                <a:latin typeface="Arial"/>
                <a:ea typeface="Noto Sans CJK SC"/>
              </a:rPr>
              <a:t>System-wide configuration, e.g. enable IP forwarding</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Noto Sans CJK SC"/>
              </a:rPr>
              <a:t>▶ </a:t>
            </a:r>
            <a:r>
              <a:rPr b="0" lang="en-US" sz="2000" spc="-1" strike="noStrike">
                <a:solidFill>
                  <a:srgbClr val="000000"/>
                </a:solidFill>
                <a:latin typeface="Arial"/>
                <a:ea typeface="Noto Sans CJK SC"/>
              </a:rPr>
              <a:t>Per-connection configuration, e.g. select the TCP congestion-control algorithm</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Noto Sans CJK SC"/>
              </a:rPr>
              <a:t>• </a:t>
            </a:r>
            <a:r>
              <a:rPr b="0" lang="en-US" sz="2000" spc="-1" strike="noStrike">
                <a:solidFill>
                  <a:srgbClr val="000000"/>
                </a:solidFill>
                <a:latin typeface="Arial"/>
                <a:ea typeface="Noto Sans CJK SC"/>
              </a:rPr>
              <a:t>The setsockopts() syscall is covered later in this training.</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
          <p:cNvSpPr/>
          <p:nvPr/>
        </p:nvSpPr>
        <p:spPr>
          <a:xfrm>
            <a:off x="573480" y="339120"/>
            <a:ext cx="262548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PHY devices</a:t>
            </a:r>
            <a:endParaRPr b="0" lang="en-US" sz="1800" spc="-1" strike="noStrike">
              <a:solidFill>
                <a:srgbClr val="000000"/>
              </a:solidFill>
              <a:latin typeface="Arial"/>
            </a:endParaRPr>
          </a:p>
        </p:txBody>
      </p:sp>
      <p:sp>
        <p:nvSpPr>
          <p:cNvPr id="309" name=""/>
          <p:cNvSpPr/>
          <p:nvPr/>
        </p:nvSpPr>
        <p:spPr>
          <a:xfrm>
            <a:off x="228600" y="1143000"/>
            <a:ext cx="5392800" cy="367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Ethernet PHYs handle Layer 1 of the OSI model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Standardized by IEEE 802.3</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Media Independent 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Communication bus between MAC and PHY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Media Dependent 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Communication medium with the link partner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be Cat6 cable, Fiber, Coax, backplane,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Management Data Input Output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Control bus for PHY devices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be shared by multiple PHYs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Allows accessing PHY registers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Optionally, PHYs can raise interrupts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e.g. to report link status changes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Optionally, PHYs can have a reset line</a:t>
            </a:r>
            <a:endParaRPr b="0" lang="en-US" sz="1800" spc="-1" strike="noStrike">
              <a:solidFill>
                <a:srgbClr val="000000"/>
              </a:solidFill>
              <a:latin typeface="Arial"/>
            </a:endParaRPr>
          </a:p>
        </p:txBody>
      </p:sp>
      <p:pic>
        <p:nvPicPr>
          <p:cNvPr id="310" name="" descr=""/>
          <p:cNvPicPr/>
          <p:nvPr/>
        </p:nvPicPr>
        <p:blipFill>
          <a:blip r:embed="rId1"/>
          <a:stretch/>
        </p:blipFill>
        <p:spPr>
          <a:xfrm>
            <a:off x="5943600" y="1143000"/>
            <a:ext cx="3608280" cy="4732200"/>
          </a:xfrm>
          <a:prstGeom prst="rect">
            <a:avLst/>
          </a:prstGeom>
          <a:ln w="0">
            <a:noFill/>
          </a:ln>
        </p:spPr>
      </p:pic>
      <p:sp>
        <p:nvSpPr>
          <p:cNvPr id="311" name=""/>
          <p:cNvSpPr/>
          <p:nvPr/>
        </p:nvSpPr>
        <p:spPr>
          <a:xfrm>
            <a:off x="156600" y="5389200"/>
            <a:ext cx="5942160" cy="264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MDIO Most common bus to access Ethernet PHYs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Addressable, 32 addresses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Physically very similar to i2c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An adapter initiates all transfers to devices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2 physical signals : MDC for the clock, MDIO for data</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
          <p:cNvSpPr/>
          <p:nvPr/>
        </p:nvSpPr>
        <p:spPr>
          <a:xfrm>
            <a:off x="457200" y="339120"/>
            <a:ext cx="342756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phylib usage in MAC drivers</a:t>
            </a:r>
            <a:endParaRPr b="0" lang="en-US" sz="1800" spc="-1" strike="noStrike">
              <a:solidFill>
                <a:srgbClr val="000000"/>
              </a:solidFill>
              <a:latin typeface="Arial"/>
            </a:endParaRPr>
          </a:p>
        </p:txBody>
      </p:sp>
      <p:sp>
        <p:nvSpPr>
          <p:cNvPr id="313" name=""/>
          <p:cNvSpPr/>
          <p:nvPr/>
        </p:nvSpPr>
        <p:spPr>
          <a:xfrm>
            <a:off x="40320" y="1143000"/>
            <a:ext cx="9330840" cy="1113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MAC drivers that use phylib directly call phy_connect() to link with the PHY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Their .ndo_open() calls phy_start() to establish the link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Their .ndo_close() calls phy_stop() to quiesce it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They register an .adjust_link callback to the phydev for link change notification</a:t>
            </a:r>
            <a:endParaRPr b="0" lang="en-US" sz="1800" spc="-1" strike="noStrike">
              <a:solidFill>
                <a:srgbClr val="000000"/>
              </a:solidFill>
              <a:latin typeface="Arial"/>
            </a:endParaRPr>
          </a:p>
        </p:txBody>
      </p:sp>
      <p:pic>
        <p:nvPicPr>
          <p:cNvPr id="314" name="" descr=""/>
          <p:cNvPicPr/>
          <p:nvPr/>
        </p:nvPicPr>
        <p:blipFill>
          <a:blip r:embed="rId1"/>
          <a:stretch/>
        </p:blipFill>
        <p:spPr>
          <a:xfrm>
            <a:off x="509760" y="2743200"/>
            <a:ext cx="8632800" cy="272016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Title 1"/>
          <p:cNvSpPr/>
          <p:nvPr/>
        </p:nvSpPr>
        <p:spPr>
          <a:xfrm>
            <a:off x="457200" y="280440"/>
            <a:ext cx="8227800" cy="11412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endParaRPr b="0" lang="en-US" sz="4400" spc="-1" strike="noStrike">
              <a:solidFill>
                <a:schemeClr val="dk1"/>
              </a:solidFill>
              <a:latin typeface="Calibri"/>
              <a:ea typeface="DejaVu Sans"/>
            </a:endParaRPr>
          </a:p>
        </p:txBody>
      </p:sp>
      <p:sp>
        <p:nvSpPr>
          <p:cNvPr id="316" name="TextBox 2"/>
          <p:cNvSpPr/>
          <p:nvPr/>
        </p:nvSpPr>
        <p:spPr>
          <a:xfrm>
            <a:off x="456480" y="280080"/>
            <a:ext cx="8231040" cy="5166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800" spc="-1" strike="noStrike">
                <a:solidFill>
                  <a:srgbClr val="00468c"/>
                </a:solidFill>
                <a:latin typeface="Calibri"/>
                <a:ea typeface="DejaVu Sans"/>
              </a:rPr>
              <a:t>AXI Ethernet Driver – Control Plane Functions</a:t>
            </a:r>
            <a:endParaRPr b="0" lang="en-US" sz="2800" spc="-1" strike="noStrike">
              <a:solidFill>
                <a:srgbClr val="000000"/>
              </a:solidFill>
              <a:latin typeface="Arial"/>
            </a:endParaRPr>
          </a:p>
        </p:txBody>
      </p:sp>
      <p:graphicFrame>
        <p:nvGraphicFramePr>
          <p:cNvPr id="317" name="Table 1"/>
          <p:cNvGraphicFramePr/>
          <p:nvPr/>
        </p:nvGraphicFramePr>
        <p:xfrm>
          <a:off x="457200" y="1103040"/>
          <a:ext cx="8229240" cy="4846320"/>
        </p:xfrm>
        <a:graphic>
          <a:graphicData uri="http://schemas.openxmlformats.org/drawingml/2006/table">
            <a:tbl>
              <a:tblPr/>
              <a:tblGrid>
                <a:gridCol w="3200400"/>
                <a:gridCol w="5029200"/>
              </a:tblGrid>
              <a:tr h="380880">
                <a:tc>
                  <a:txBody>
                    <a:bodyPr anchor="t">
                      <a:noAutofit/>
                    </a:bodyPr>
                    <a:p>
                      <a:pPr defTabSz="457200">
                        <a:lnSpc>
                          <a:spcPct val="100000"/>
                        </a:lnSpc>
                      </a:pPr>
                      <a:r>
                        <a:rPr b="1" lang="en-US" sz="1400" spc="-1" strike="noStrike">
                          <a:solidFill>
                            <a:srgbClr val="ffffff"/>
                          </a:solidFill>
                          <a:latin typeface="Calibri"/>
                        </a:rPr>
                        <a:t>Function</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70c0"/>
                    </a:solidFill>
                  </a:tcPr>
                </a:tc>
                <a:tc>
                  <a:txBody>
                    <a:bodyPr anchor="t">
                      <a:noAutofit/>
                    </a:bodyPr>
                    <a:p>
                      <a:pPr defTabSz="457200">
                        <a:lnSpc>
                          <a:spcPct val="100000"/>
                        </a:lnSpc>
                      </a:pPr>
                      <a:r>
                        <a:rPr b="1" lang="en-US" sz="1400" spc="-1" strike="noStrike">
                          <a:solidFill>
                            <a:srgbClr val="ffffff"/>
                          </a:solidFill>
                          <a:latin typeface="Calibri"/>
                        </a:rPr>
                        <a:t>Reason</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70c0"/>
                    </a:solidFill>
                  </a:tcPr>
                </a:tc>
              </a:tr>
              <a:tr h="380880">
                <a:tc>
                  <a:txBody>
                    <a:bodyPr anchor="t">
                      <a:noAutofit/>
                    </a:bodyPr>
                    <a:p>
                      <a:pPr defTabSz="457200">
                        <a:lnSpc>
                          <a:spcPct val="100000"/>
                        </a:lnSpc>
                      </a:pPr>
                      <a:r>
                        <a:rPr b="0" lang="en-US" sz="1400" spc="-1" strike="noStrike">
                          <a:solidFill>
                            <a:srgbClr val="000000"/>
                          </a:solidFill>
                          <a:latin typeface="Calibri"/>
                        </a:rPr>
                        <a:t>axienet_probe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Hardware discovery and device setup</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380880">
                <a:tc>
                  <a:txBody>
                    <a:bodyPr anchor="t">
                      <a:noAutofit/>
                    </a:bodyPr>
                    <a:p>
                      <a:pPr defTabSz="457200">
                        <a:lnSpc>
                          <a:spcPct val="100000"/>
                        </a:lnSpc>
                      </a:pPr>
                      <a:r>
                        <a:rPr b="0" lang="en-US" sz="1400" spc="-1" strike="noStrike">
                          <a:solidFill>
                            <a:srgbClr val="000000"/>
                          </a:solidFill>
                          <a:latin typeface="Calibri"/>
                        </a:rPr>
                        <a:t>axienet_open / axienet_stop</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Bring network interface up/down</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380880">
                <a:tc>
                  <a:txBody>
                    <a:bodyPr anchor="t">
                      <a:noAutofit/>
                    </a:bodyPr>
                    <a:p>
                      <a:pPr defTabSz="457200">
                        <a:lnSpc>
                          <a:spcPct val="100000"/>
                        </a:lnSpc>
                      </a:pPr>
                      <a:r>
                        <a:rPr b="0" lang="en-US" sz="1400" spc="-1" strike="noStrike">
                          <a:solidFill>
                            <a:srgbClr val="000000"/>
                          </a:solidFill>
                          <a:latin typeface="Calibri"/>
                        </a:rPr>
                        <a:t>axienet_set_mac_address / netdev_set_mac_address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Configure MAC address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380880">
                <a:tc>
                  <a:txBody>
                    <a:bodyPr anchor="t">
                      <a:noAutofit/>
                    </a:bodyPr>
                    <a:p>
                      <a:pPr defTabSz="457200">
                        <a:lnSpc>
                          <a:spcPct val="100000"/>
                        </a:lnSpc>
                      </a:pPr>
                      <a:r>
                        <a:rPr b="0" lang="en-US" sz="1400" spc="-1" strike="noStrike">
                          <a:solidFill>
                            <a:srgbClr val="000000"/>
                          </a:solidFill>
                          <a:latin typeface="Calibri"/>
                        </a:rPr>
                        <a:t>axienet_set_multicast_list</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Configure multicast filters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380880">
                <a:tc>
                  <a:txBody>
                    <a:bodyPr anchor="t">
                      <a:noAutofit/>
                    </a:bodyPr>
                    <a:p>
                      <a:pPr defTabSz="457200">
                        <a:lnSpc>
                          <a:spcPct val="100000"/>
                        </a:lnSpc>
                      </a:pPr>
                      <a:r>
                        <a:rPr b="0" lang="en-US" sz="1400" spc="-1" strike="noStrike">
                          <a:solidFill>
                            <a:srgbClr val="000000"/>
                          </a:solidFill>
                          <a:latin typeface="Calibri"/>
                        </a:rPr>
                        <a:t>axienet_setoptions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Set VLAN, jumbo frames, flow control</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380880">
                <a:tc>
                  <a:txBody>
                    <a:bodyPr anchor="t">
                      <a:noAutofit/>
                    </a:bodyPr>
                    <a:p>
                      <a:pPr defTabSz="457200">
                        <a:lnSpc>
                          <a:spcPct val="100000"/>
                        </a:lnSpc>
                      </a:pPr>
                      <a:r>
                        <a:rPr b="0" lang="en-US" sz="1400" spc="-1" strike="noStrike">
                          <a:solidFill>
                            <a:srgbClr val="000000"/>
                          </a:solidFill>
                          <a:latin typeface="Calibri"/>
                        </a:rPr>
                        <a:t>axienet_change_mtu</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Change MTU settings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380880">
                <a:tc>
                  <a:txBody>
                    <a:bodyPr anchor="t">
                      <a:noAutofit/>
                    </a:bodyPr>
                    <a:p>
                      <a:pPr defTabSz="457200">
                        <a:lnSpc>
                          <a:spcPct val="100000"/>
                        </a:lnSpc>
                      </a:pPr>
                      <a:r>
                        <a:rPr b="0" lang="en-US" sz="1400" spc="-1" strike="noStrike">
                          <a:solidFill>
                            <a:srgbClr val="000000"/>
                          </a:solidFill>
                          <a:latin typeface="Calibri"/>
                        </a:rPr>
                        <a:t>axienet_ethtool_*</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ethtool configuration operations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380880">
                <a:tc>
                  <a:txBody>
                    <a:bodyPr anchor="t">
                      <a:noAutofit/>
                    </a:bodyPr>
                    <a:p>
                      <a:pPr defTabSz="457200">
                        <a:lnSpc>
                          <a:spcPct val="100000"/>
                        </a:lnSpc>
                      </a:pPr>
                      <a:r>
                        <a:rPr b="0" lang="en-US" sz="1400" spc="-1" strike="noStrike">
                          <a:solidFill>
                            <a:srgbClr val="000000"/>
                          </a:solidFill>
                          <a:latin typeface="Calibri"/>
                        </a:rPr>
                        <a:t>axienet_ethtool_get_settings / set_settings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PHY settings control</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380880">
                <a:tc>
                  <a:txBody>
                    <a:bodyPr anchor="t">
                      <a:noAutofit/>
                    </a:bodyPr>
                    <a:p>
                      <a:pPr defTabSz="457200">
                        <a:lnSpc>
                          <a:spcPct val="100000"/>
                        </a:lnSpc>
                      </a:pPr>
                      <a:r>
                        <a:rPr b="0" lang="en-US" sz="1400" spc="-1" strike="noStrike">
                          <a:solidFill>
                            <a:srgbClr val="000000"/>
                          </a:solidFill>
                          <a:latin typeface="Calibri"/>
                        </a:rPr>
                        <a:t>axienet_ethtool_get_drvinfo</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Report driver information</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380880">
                <a:tc>
                  <a:txBody>
                    <a:bodyPr anchor="t">
                      <a:noAutofit/>
                    </a:bodyPr>
                    <a:p>
                      <a:pPr defTabSz="457200">
                        <a:lnSpc>
                          <a:spcPct val="100000"/>
                        </a:lnSpc>
                      </a:pPr>
                      <a:r>
                        <a:rPr b="0" lang="en-US" sz="1400" spc="-1" strike="noStrike">
                          <a:solidFill>
                            <a:srgbClr val="000000"/>
                          </a:solidFill>
                          <a:latin typeface="Calibri"/>
                        </a:rPr>
                        <a:t>axienet_device_reset</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Reset hardware state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380880">
                <a:tc>
                  <a:txBody>
                    <a:bodyPr anchor="t">
                      <a:noAutofit/>
                    </a:bodyPr>
                    <a:p>
                      <a:pPr defTabSz="457200">
                        <a:lnSpc>
                          <a:spcPct val="100000"/>
                        </a:lnSpc>
                      </a:pPr>
                      <a:r>
                        <a:rPr b="0" lang="en-US" sz="1400" spc="-1" strike="noStrike">
                          <a:solidFill>
                            <a:srgbClr val="000000"/>
                          </a:solidFill>
                          <a:latin typeface="Calibri"/>
                        </a:rPr>
                        <a:t>PHY management (MDIO)</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PHY configuration and management</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bl>
          </a:graphicData>
        </a:graphic>
      </p:graphicFrame>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Title 2"/>
          <p:cNvSpPr/>
          <p:nvPr/>
        </p:nvSpPr>
        <p:spPr>
          <a:xfrm>
            <a:off x="457560" y="280080"/>
            <a:ext cx="8227800" cy="11412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endParaRPr b="0" lang="en-US" sz="4400" spc="-1" strike="noStrike">
              <a:solidFill>
                <a:schemeClr val="dk1"/>
              </a:solidFill>
              <a:latin typeface="Calibri"/>
              <a:ea typeface="DejaVu Sans"/>
            </a:endParaRPr>
          </a:p>
        </p:txBody>
      </p:sp>
      <p:sp>
        <p:nvSpPr>
          <p:cNvPr id="319" name="TextBox 1"/>
          <p:cNvSpPr/>
          <p:nvPr/>
        </p:nvSpPr>
        <p:spPr>
          <a:xfrm>
            <a:off x="690480" y="279720"/>
            <a:ext cx="7761600" cy="5166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800" spc="-1" strike="noStrike">
                <a:solidFill>
                  <a:srgbClr val="00468c"/>
                </a:solidFill>
                <a:latin typeface="Calibri"/>
                <a:ea typeface="DejaVu Sans"/>
              </a:rPr>
              <a:t>AXI Ethernet Driver – Data Plane Functions</a:t>
            </a:r>
            <a:endParaRPr b="0" lang="en-US" sz="2800" spc="-1" strike="noStrike">
              <a:solidFill>
                <a:srgbClr val="000000"/>
              </a:solidFill>
              <a:latin typeface="Arial"/>
            </a:endParaRPr>
          </a:p>
        </p:txBody>
      </p:sp>
      <p:graphicFrame>
        <p:nvGraphicFramePr>
          <p:cNvPr id="320" name="Table 4"/>
          <p:cNvGraphicFramePr/>
          <p:nvPr/>
        </p:nvGraphicFramePr>
        <p:xfrm>
          <a:off x="457560" y="1102680"/>
          <a:ext cx="8229240" cy="3079800"/>
        </p:xfrm>
        <a:graphic>
          <a:graphicData uri="http://schemas.openxmlformats.org/drawingml/2006/table">
            <a:tbl>
              <a:tblPr/>
              <a:tblGrid>
                <a:gridCol w="3657600"/>
                <a:gridCol w="4572000"/>
              </a:tblGrid>
              <a:tr h="457200">
                <a:tc>
                  <a:txBody>
                    <a:bodyPr anchor="t">
                      <a:noAutofit/>
                    </a:bodyPr>
                    <a:p>
                      <a:pPr defTabSz="457200">
                        <a:lnSpc>
                          <a:spcPct val="100000"/>
                        </a:lnSpc>
                      </a:pPr>
                      <a:r>
                        <a:rPr b="1" lang="en-US" sz="1400" spc="-1" strike="noStrike">
                          <a:solidFill>
                            <a:srgbClr val="ffffff"/>
                          </a:solidFill>
                          <a:latin typeface="Calibri"/>
                        </a:rPr>
                        <a:t>Function</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70c0"/>
                    </a:solidFill>
                  </a:tcPr>
                </a:tc>
                <a:tc>
                  <a:txBody>
                    <a:bodyPr anchor="t">
                      <a:noAutofit/>
                    </a:bodyPr>
                    <a:p>
                      <a:pPr defTabSz="457200">
                        <a:lnSpc>
                          <a:spcPct val="100000"/>
                        </a:lnSpc>
                      </a:pPr>
                      <a:r>
                        <a:rPr b="1" lang="en-US" sz="1400" spc="-1" strike="noStrike">
                          <a:solidFill>
                            <a:srgbClr val="ffffff"/>
                          </a:solidFill>
                          <a:latin typeface="Calibri"/>
                        </a:rPr>
                        <a:t>Reason</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70c0"/>
                    </a:solidFill>
                  </a:tcPr>
                </a:tc>
              </a:tr>
              <a:tr h="457200">
                <a:tc>
                  <a:txBody>
                    <a:bodyPr anchor="t">
                      <a:noAutofit/>
                    </a:bodyPr>
                    <a:p>
                      <a:pPr defTabSz="457200">
                        <a:lnSpc>
                          <a:spcPct val="100000"/>
                        </a:lnSpc>
                      </a:pPr>
                      <a:r>
                        <a:rPr b="0" lang="en-US" sz="1400" spc="-1" strike="noStrike">
                          <a:solidFill>
                            <a:srgbClr val="000000"/>
                          </a:solidFill>
                          <a:latin typeface="Calibri"/>
                        </a:rPr>
                        <a:t>axienet_start_xmit</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Transmit packets into hardware (data path)</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457200">
                <a:tc>
                  <a:txBody>
                    <a:bodyPr anchor="t">
                      <a:noAutofit/>
                    </a:bodyPr>
                    <a:p>
                      <a:pPr defTabSz="457200">
                        <a:lnSpc>
                          <a:spcPct val="100000"/>
                        </a:lnSpc>
                      </a:pPr>
                      <a:r>
                        <a:rPr b="0" lang="en-US" sz="1400" spc="-1" strike="noStrike">
                          <a:solidFill>
                            <a:srgbClr val="000000"/>
                          </a:solidFill>
                          <a:latin typeface="Calibri"/>
                        </a:rPr>
                        <a:t>axienet_rx_submit_desc</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Post receive buffer descriptors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457200">
                <a:tc>
                  <a:txBody>
                    <a:bodyPr anchor="t">
                      <a:noAutofit/>
                    </a:bodyPr>
                    <a:p>
                      <a:pPr defTabSz="457200">
                        <a:lnSpc>
                          <a:spcPct val="100000"/>
                        </a:lnSpc>
                      </a:pPr>
                      <a:r>
                        <a:rPr b="0" lang="en-US" sz="1400" spc="-1" strike="noStrike">
                          <a:solidFill>
                            <a:srgbClr val="000000"/>
                          </a:solidFill>
                          <a:latin typeface="Calibri"/>
                        </a:rPr>
                        <a:t>DMA buffer management (axienet_dma_bd_init, axienet_dma_bd_release)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Manage TX/RX descriptor rings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r h="457200">
                <a:tc>
                  <a:txBody>
                    <a:bodyPr anchor="t">
                      <a:noAutofit/>
                    </a:bodyPr>
                    <a:p>
                      <a:pPr defTabSz="457200">
                        <a:lnSpc>
                          <a:spcPct val="100000"/>
                        </a:lnSpc>
                      </a:pPr>
                      <a:r>
                        <a:rPr b="0" lang="en-US" sz="1400" spc="-1" strike="noStrike">
                          <a:solidFill>
                            <a:srgbClr val="000000"/>
                          </a:solidFill>
                          <a:latin typeface="Calibri"/>
                        </a:rPr>
                        <a:t>Interrupt handlers (TX/RX completion)</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c>
                  <a:txBody>
                    <a:bodyPr anchor="t">
                      <a:noAutofit/>
                    </a:bodyPr>
                    <a:p>
                      <a:pPr defTabSz="457200">
                        <a:lnSpc>
                          <a:spcPct val="100000"/>
                        </a:lnSpc>
                      </a:pPr>
                      <a:r>
                        <a:rPr b="0" lang="en-US" sz="1400" spc="-1" strike="noStrike">
                          <a:solidFill>
                            <a:srgbClr val="000000"/>
                          </a:solidFill>
                          <a:latin typeface="Calibri"/>
                        </a:rPr>
                        <a:t>Handle completed packet I/O (RX/TX)</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2f2"/>
                    </a:solidFill>
                  </a:tcPr>
                </a:tc>
              </a:tr>
              <a:tr h="457200">
                <a:tc>
                  <a:txBody>
                    <a:bodyPr anchor="t">
                      <a:noAutofit/>
                    </a:bodyPr>
                    <a:p>
                      <a:pPr defTabSz="457200">
                        <a:lnSpc>
                          <a:spcPct val="100000"/>
                        </a:lnSpc>
                      </a:pPr>
                      <a:r>
                        <a:rPr b="0" lang="en-US" sz="1400" spc="-1" strike="noStrike">
                          <a:solidFill>
                            <a:srgbClr val="000000"/>
                          </a:solidFill>
                          <a:latin typeface="Calibri"/>
                        </a:rPr>
                        <a:t>DMA I/O helpers (axienet_dma_in32, axienet_dma_out32)</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c>
                  <a:txBody>
                    <a:bodyPr anchor="t">
                      <a:noAutofit/>
                    </a:bodyPr>
                    <a:p>
                      <a:pPr defTabSz="457200">
                        <a:lnSpc>
                          <a:spcPct val="100000"/>
                        </a:lnSpc>
                      </a:pPr>
                      <a:r>
                        <a:rPr b="0" lang="en-US" sz="1400" spc="-1" strike="noStrike">
                          <a:solidFill>
                            <a:srgbClr val="000000"/>
                          </a:solidFill>
                          <a:latin typeface="Calibri"/>
                        </a:rPr>
                        <a:t>Direct data plane register access</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debf7"/>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3845</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2023-05-29T19:16:41Z</dcterms:created>
  <dc:creator/>
  <dc:description/>
  <dc:language>en-IN</dc:language>
  <cp:lastModifiedBy/>
  <dcterms:modified xsi:type="dcterms:W3CDTF">2026-01-20T17:37:05Z</dcterms:modified>
  <cp:revision>107</cp:revision>
  <dc:subject/>
  <dc:title>Blue Curve</dc:title>
</cp:coreProperties>
</file>

<file path=docProps/custom.xml><?xml version="1.0" encoding="utf-8"?>
<Properties xmlns="http://schemas.openxmlformats.org/officeDocument/2006/custom-properties" xmlns:vt="http://schemas.openxmlformats.org/officeDocument/2006/docPropsVTypes"/>
</file>